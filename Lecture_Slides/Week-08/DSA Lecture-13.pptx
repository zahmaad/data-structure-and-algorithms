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80" r:id="rId2"/>
    <p:sldId id="658" r:id="rId3"/>
    <p:sldId id="643" r:id="rId4"/>
    <p:sldId id="644" r:id="rId5"/>
    <p:sldId id="645" r:id="rId6"/>
    <p:sldId id="646" r:id="rId7"/>
    <p:sldId id="647" r:id="rId8"/>
    <p:sldId id="648" r:id="rId9"/>
    <p:sldId id="649" r:id="rId10"/>
    <p:sldId id="650" r:id="rId11"/>
    <p:sldId id="651" r:id="rId12"/>
    <p:sldId id="653" r:id="rId13"/>
    <p:sldId id="654" r:id="rId14"/>
    <p:sldId id="655" r:id="rId15"/>
    <p:sldId id="656" r:id="rId16"/>
    <p:sldId id="372" r:id="rId17"/>
  </p:sldIdLst>
  <p:sldSz cx="9906000" cy="6858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C4F4344-209C-4F70-85AC-9C0340846E2F}">
          <p14:sldIdLst>
            <p14:sldId id="280"/>
            <p14:sldId id="658"/>
            <p14:sldId id="643"/>
            <p14:sldId id="644"/>
            <p14:sldId id="645"/>
            <p14:sldId id="646"/>
            <p14:sldId id="647"/>
            <p14:sldId id="648"/>
            <p14:sldId id="649"/>
            <p14:sldId id="650"/>
            <p14:sldId id="651"/>
            <p14:sldId id="653"/>
            <p14:sldId id="654"/>
            <p14:sldId id="655"/>
            <p14:sldId id="656"/>
            <p14:sldId id="372"/>
          </p14:sldIdLst>
        </p14:section>
        <p14:section name="无标题节" id="{3A58C67D-E970-4AF9-96C5-84664AA55BD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306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0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 autoAdjust="0"/>
    <p:restoredTop sz="92615" autoAdjust="0"/>
  </p:normalViewPr>
  <p:slideViewPr>
    <p:cSldViewPr snapToGrid="0">
      <p:cViewPr varScale="1">
        <p:scale>
          <a:sx n="119" d="100"/>
          <a:sy n="119" d="100"/>
        </p:scale>
        <p:origin x="1720" y="176"/>
      </p:cViewPr>
      <p:guideLst>
        <p:guide orient="horz" pos="2306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6F613-6386-45E1-B87F-1E8A4FD761EB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6104B-F43C-4180-A305-CEC1284C5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89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1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0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601A8-A199-0B49-8636-D93779E2BD06}" type="datetime1">
              <a:rPr lang="en-US" altLang="zh-CN" smtClean="0"/>
              <a:t>11/10/25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650BE-4AF9-F34A-92BA-424CBF8689EC}" type="datetime1">
              <a:rPr lang="en-US" altLang="zh-CN" smtClean="0"/>
              <a:t>11/10/25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B9910-4E41-A146-816C-528E8E51E8F1}" type="datetime1">
              <a:rPr lang="en-US" altLang="zh-CN" smtClean="0"/>
              <a:t>11/10/25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023FE-E6C6-5C42-B56F-971D209BC04E}" type="datetime1">
              <a:rPr lang="en-US" altLang="zh-CN" smtClean="0"/>
              <a:t>11/10/25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E839E-CE8D-C64F-B252-ABEDCB729A83}" type="datetime1">
              <a:rPr lang="en-US" altLang="zh-CN" smtClean="0"/>
              <a:t>11/10/25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27D19-AB0A-0648-A3E2-B585874C43F6}" type="datetime1">
              <a:rPr lang="en-US" altLang="zh-CN" smtClean="0"/>
              <a:t>11/10/25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2598E-0AE4-4E4B-AE56-17FEC1E3D03A}" type="datetime1">
              <a:rPr lang="en-US" altLang="zh-CN" smtClean="0"/>
              <a:t>11/10/25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03CF3-61CA-5C42-9430-4E1E35C34B73}" type="datetime1">
              <a:rPr lang="en-US" altLang="zh-CN" smtClean="0"/>
              <a:t>11/10/25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1556-3649-0545-B441-197048319D47}" type="datetime1">
              <a:rPr lang="en-US" altLang="zh-CN" smtClean="0"/>
              <a:t>11/10/25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A2BF4-4B66-D84A-AB4A-65341BDBFC3E}" type="datetime1">
              <a:rPr lang="en-US" altLang="zh-CN" smtClean="0"/>
              <a:t>11/10/25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252D1-3828-9945-986A-DF2321D839E2}" type="datetime1">
              <a:rPr lang="en-US" altLang="zh-CN" smtClean="0"/>
              <a:t>11/10/25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9F80F-1556-E848-A646-6CDB7D129CB2}" type="datetime1">
              <a:rPr lang="en-US" altLang="zh-CN" smtClean="0"/>
              <a:t>11/10/25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Dr. Zubair Ahmad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fld id="{48758AAF-F958-4141-BDE8-5609689A4508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1D7D9E-FB29-9D4A-9A84-AC73C8AAA8E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1842" y="0"/>
            <a:ext cx="1367045" cy="104692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" y="1654175"/>
            <a:ext cx="9905999" cy="5016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endParaRPr lang="en-US" dirty="0"/>
          </a:p>
          <a:p>
            <a:pPr algn="ctr">
              <a:buNone/>
            </a:pPr>
            <a:endParaRPr lang="it-IT" b="1" dirty="0"/>
          </a:p>
          <a:p>
            <a:pPr algn="ctr">
              <a:buNone/>
            </a:pP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sz="4000" b="1" dirty="0">
                <a:solidFill>
                  <a:schemeClr val="bg2">
                    <a:lumMod val="50000"/>
                  </a:schemeClr>
                </a:solidFill>
              </a:rPr>
              <a:t>Merge Sort</a:t>
            </a:r>
            <a:endParaRPr lang="en-US" b="1" dirty="0">
              <a:solidFill>
                <a:schemeClr val="bg2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dirty="0"/>
              <a:t>	</a:t>
            </a:r>
          </a:p>
        </p:txBody>
      </p:sp>
      <p:sp>
        <p:nvSpPr>
          <p:cNvPr id="49155" name="AutoShape 3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6" name="AutoShape 4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7" name="AutoShape 5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99ADA-48C1-EC4B-A15E-7A2B09F5ECE8}"/>
              </a:ext>
            </a:extLst>
          </p:cNvPr>
          <p:cNvSpPr txBox="1"/>
          <p:nvPr/>
        </p:nvSpPr>
        <p:spPr>
          <a:xfrm>
            <a:off x="2833816" y="1284843"/>
            <a:ext cx="4518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Data Structures and Algorithms</a:t>
            </a:r>
          </a:p>
          <a:p>
            <a:pPr algn="ctr"/>
            <a:r>
              <a:rPr lang="en-US" b="1" dirty="0"/>
              <a:t>(CS221)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996432-98EE-3F44-924B-9377E56C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419C6F-9773-704A-B9C6-57033705A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2EA91C4-5D51-A543-9DBA-88E585A64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994BC4-C3E7-AA4A-9820-63F74992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A2A8BF-C0F4-E949-86A8-EC100B6C8E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32" y="1360703"/>
            <a:ext cx="7636136" cy="4692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855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8AF213-153D-2B46-B42E-317F67A24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E15E11-DAD4-9349-A194-69ED5D14B047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Merge 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023507-67D7-FE4D-AAB0-55FA13926EBD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7239000" cy="4846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200" dirty="0"/>
              <a:t>The fundamental operation in this algorithm is merging two sorted lists.</a:t>
            </a:r>
          </a:p>
          <a:p>
            <a:r>
              <a:rPr lang="en-US" altLang="en-US" sz="2200" dirty="0"/>
              <a:t>Because the lists are sorted, this can be done in one pass through the input, if the output is put in a third list. </a:t>
            </a:r>
          </a:p>
          <a:p>
            <a:r>
              <a:rPr lang="en-US" altLang="en-US" sz="2200" dirty="0"/>
              <a:t>The basic merging algorithm takes </a:t>
            </a:r>
          </a:p>
          <a:p>
            <a:pPr lvl="1"/>
            <a:r>
              <a:rPr lang="en-US" altLang="en-US" sz="1900" dirty="0"/>
              <a:t>two input arrays: </a:t>
            </a:r>
            <a:r>
              <a:rPr lang="en-US" altLang="en-US" sz="1900" i="1" dirty="0">
                <a:solidFill>
                  <a:srgbClr val="0000CC"/>
                </a:solidFill>
              </a:rPr>
              <a:t>a</a:t>
            </a:r>
            <a:r>
              <a:rPr lang="en-US" altLang="en-US" sz="1900" dirty="0"/>
              <a:t> and </a:t>
            </a:r>
            <a:r>
              <a:rPr lang="en-US" altLang="en-US" sz="1900" i="1" dirty="0">
                <a:solidFill>
                  <a:srgbClr val="0000CC"/>
                </a:solidFill>
              </a:rPr>
              <a:t>b</a:t>
            </a:r>
            <a:r>
              <a:rPr lang="en-US" altLang="en-US" sz="1900" dirty="0"/>
              <a:t>,</a:t>
            </a:r>
          </a:p>
          <a:p>
            <a:pPr lvl="1"/>
            <a:r>
              <a:rPr lang="en-US" altLang="en-US" sz="1900" dirty="0"/>
              <a:t>an output array: </a:t>
            </a:r>
            <a:r>
              <a:rPr lang="en-US" altLang="en-US" sz="1900" i="1" dirty="0">
                <a:solidFill>
                  <a:srgbClr val="0000CC"/>
                </a:solidFill>
              </a:rPr>
              <a:t>c</a:t>
            </a:r>
            <a:r>
              <a:rPr lang="en-US" altLang="en-US" sz="1900" dirty="0"/>
              <a:t> </a:t>
            </a:r>
          </a:p>
          <a:p>
            <a:pPr lvl="1"/>
            <a:r>
              <a:rPr lang="en-US" altLang="en-US" sz="1900" dirty="0"/>
              <a:t>three counters:  </a:t>
            </a:r>
            <a:r>
              <a:rPr lang="en-US" altLang="en-US" sz="1900" i="1" dirty="0" err="1">
                <a:solidFill>
                  <a:srgbClr val="0000CC"/>
                </a:solidFill>
              </a:rPr>
              <a:t>aptr</a:t>
            </a:r>
            <a:r>
              <a:rPr lang="en-US" altLang="en-US" sz="1900" dirty="0"/>
              <a:t>, </a:t>
            </a:r>
            <a:r>
              <a:rPr lang="en-US" altLang="en-US" sz="1900" i="1" dirty="0" err="1">
                <a:solidFill>
                  <a:srgbClr val="0000CC"/>
                </a:solidFill>
              </a:rPr>
              <a:t>bptr</a:t>
            </a:r>
            <a:r>
              <a:rPr lang="en-US" altLang="en-US" sz="1900" dirty="0"/>
              <a:t>, and </a:t>
            </a:r>
            <a:r>
              <a:rPr lang="en-US" altLang="en-US" sz="1900" i="1" dirty="0" err="1">
                <a:solidFill>
                  <a:srgbClr val="0000CC"/>
                </a:solidFill>
              </a:rPr>
              <a:t>cptr</a:t>
            </a:r>
            <a:r>
              <a:rPr lang="en-US" altLang="en-US" sz="1900" dirty="0"/>
              <a:t>, </a:t>
            </a:r>
          </a:p>
          <a:p>
            <a:pPr lvl="2"/>
            <a:r>
              <a:rPr lang="en-US" altLang="en-US" sz="1600" dirty="0"/>
              <a:t>which are initially set to the beginning of their respective arrays.</a:t>
            </a:r>
          </a:p>
          <a:p>
            <a:r>
              <a:rPr lang="en-US" altLang="en-US" sz="2200" dirty="0"/>
              <a:t>The smaller of </a:t>
            </a:r>
            <a:r>
              <a:rPr lang="en-US" altLang="en-US" sz="2200" i="1" dirty="0">
                <a:solidFill>
                  <a:srgbClr val="0000CC"/>
                </a:solidFill>
              </a:rPr>
              <a:t>a</a:t>
            </a:r>
            <a:r>
              <a:rPr lang="en-US" altLang="en-US" sz="2200" dirty="0">
                <a:solidFill>
                  <a:srgbClr val="0000CC"/>
                </a:solidFill>
              </a:rPr>
              <a:t>[</a:t>
            </a:r>
            <a:r>
              <a:rPr lang="en-US" altLang="en-US" sz="2200" i="1" dirty="0" err="1">
                <a:solidFill>
                  <a:srgbClr val="0000CC"/>
                </a:solidFill>
              </a:rPr>
              <a:t>aptr</a:t>
            </a:r>
            <a:r>
              <a:rPr lang="en-US" altLang="en-US" sz="2200" dirty="0">
                <a:solidFill>
                  <a:srgbClr val="0000CC"/>
                </a:solidFill>
              </a:rPr>
              <a:t>] </a:t>
            </a:r>
            <a:r>
              <a:rPr lang="en-US" altLang="en-US" sz="2200" dirty="0"/>
              <a:t>and </a:t>
            </a:r>
            <a:r>
              <a:rPr lang="en-US" altLang="en-US" sz="2200" i="1" dirty="0">
                <a:solidFill>
                  <a:srgbClr val="0000CC"/>
                </a:solidFill>
              </a:rPr>
              <a:t>b</a:t>
            </a:r>
            <a:r>
              <a:rPr lang="en-US" altLang="en-US" sz="2200" dirty="0">
                <a:solidFill>
                  <a:srgbClr val="0000CC"/>
                </a:solidFill>
              </a:rPr>
              <a:t>[</a:t>
            </a:r>
            <a:r>
              <a:rPr lang="en-US" altLang="en-US" sz="2200" i="1" dirty="0" err="1">
                <a:solidFill>
                  <a:srgbClr val="0000CC"/>
                </a:solidFill>
              </a:rPr>
              <a:t>bptr</a:t>
            </a:r>
            <a:r>
              <a:rPr lang="en-US" altLang="en-US" sz="2200" dirty="0">
                <a:solidFill>
                  <a:srgbClr val="0000CC"/>
                </a:solidFill>
              </a:rPr>
              <a:t>] </a:t>
            </a:r>
            <a:r>
              <a:rPr lang="en-US" altLang="en-US" sz="2200" dirty="0"/>
              <a:t>is copied to the next entry in </a:t>
            </a:r>
            <a:r>
              <a:rPr lang="en-US" altLang="en-US" sz="2200" i="1" dirty="0">
                <a:solidFill>
                  <a:srgbClr val="0000CC"/>
                </a:solidFill>
              </a:rPr>
              <a:t>c</a:t>
            </a:r>
            <a:r>
              <a:rPr lang="en-US" altLang="en-US" sz="2200" dirty="0"/>
              <a:t>, and the appropriate counters are advanced. </a:t>
            </a:r>
          </a:p>
          <a:p>
            <a:r>
              <a:rPr lang="en-US" altLang="en-US" sz="2200" dirty="0"/>
              <a:t>When either input list is exhausted, the remainder of the other list is copied to </a:t>
            </a:r>
            <a:r>
              <a:rPr lang="en-US" altLang="en-US" sz="2200" i="1" dirty="0">
                <a:solidFill>
                  <a:srgbClr val="0000CC"/>
                </a:solidFill>
              </a:rPr>
              <a:t>c</a:t>
            </a:r>
            <a:r>
              <a:rPr lang="en-US" altLang="en-US" sz="2200" dirty="0"/>
              <a:t>.</a:t>
            </a:r>
            <a:endParaRPr lang="en-US" altLang="en-US" sz="2200" dirty="0">
              <a:latin typeface="Trebuchet MS" panose="020B0703020202090204" pitchFamily="34" charset="0"/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D0CCC2BA-EB14-FD4D-8D9E-AB406D001B72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2C23E9F2-BE7F-C64E-8CB9-8A16FB1416BD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3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E1A59-ADFA-F042-8118-9D9151CE9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9120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2C50CF-3FA6-D44D-9778-BA11D295E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8FC8F9-40BC-AB4D-B949-45D5A7641970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Merge Sort : Example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07918B41-EE10-7E44-85F4-85BEB72022B9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5BE749F0-7B0E-A749-A2BE-39740F2DDC20}"/>
              </a:ext>
            </a:extLst>
          </p:cNvPr>
          <p:cNvGraphicFramePr>
            <a:graphicFrameLocks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BF9AD706-BCDB-2A4B-BA0C-2459243FD6B4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7">
            <a:extLst>
              <a:ext uri="{FF2B5EF4-FFF2-40B4-BE49-F238E27FC236}">
                <a16:creationId xmlns:a16="http://schemas.microsoft.com/office/drawing/2014/main" id="{13FB0974-2D8C-1848-8667-AD88CA449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05000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aptr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72455FC-E60E-D240-AAFD-3D3F3C4789F0}"/>
              </a:ext>
            </a:extLst>
          </p:cNvPr>
          <p:cNvCxnSpPr/>
          <p:nvPr/>
        </p:nvCxnSpPr>
        <p:spPr>
          <a:xfrm rot="5400000" flipH="1" flipV="1">
            <a:off x="991394" y="1829594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3">
            <a:extLst>
              <a:ext uri="{FF2B5EF4-FFF2-40B4-BE49-F238E27FC236}">
                <a16:creationId xmlns:a16="http://schemas.microsoft.com/office/drawing/2014/main" id="{A9DBBF41-F9C7-5842-B314-F1B18ACC1D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3188" y="18288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bptr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7CE3719-9A3A-0846-9C5F-2BC2A46478DA}"/>
              </a:ext>
            </a:extLst>
          </p:cNvPr>
          <p:cNvCxnSpPr/>
          <p:nvPr/>
        </p:nvCxnSpPr>
        <p:spPr>
          <a:xfrm rot="5400000" flipH="1" flipV="1">
            <a:off x="4039394" y="175815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8975AE0-48E7-E64A-8BB1-01CFC2E31D33}"/>
              </a:ext>
            </a:extLst>
          </p:cNvPr>
          <p:cNvCxnSpPr/>
          <p:nvPr/>
        </p:nvCxnSpPr>
        <p:spPr>
          <a:xfrm rot="5400000" flipH="1" flipV="1">
            <a:off x="989807" y="2971006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7">
            <a:extLst>
              <a:ext uri="{FF2B5EF4-FFF2-40B4-BE49-F238E27FC236}">
                <a16:creationId xmlns:a16="http://schemas.microsoft.com/office/drawing/2014/main" id="{306E1367-09FA-644C-899D-02A424CB9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971800"/>
            <a:ext cx="569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cptr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30D64F-BFF7-0148-B29D-AEFB965E1AB8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FA44A5AA-8D89-C442-A265-D0B6EF066249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B0F91C2-5FA7-FC40-9B79-44CBED2B7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115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E3F8BF-AA2D-684A-B8DC-B1C786F86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BEAD2E-EBA0-8049-967D-2D2CCDFB0002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Merge Sort : Example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4E52C1DD-D07D-E740-B0AF-CD5E0EB4C7D0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29A4DBE9-228A-5B42-9922-39DD5BC961CA}"/>
              </a:ext>
            </a:extLst>
          </p:cNvPr>
          <p:cNvGraphicFramePr>
            <a:graphicFrameLocks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D9A662CD-E57F-4749-B004-03C22F219017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7">
            <a:extLst>
              <a:ext uri="{FF2B5EF4-FFF2-40B4-BE49-F238E27FC236}">
                <a16:creationId xmlns:a16="http://schemas.microsoft.com/office/drawing/2014/main" id="{108F3454-A86E-4243-8B71-FFFBE4F2E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0988" y="19050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aptr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1883D66-CB26-4D4E-A3CB-494F24278F8D}"/>
              </a:ext>
            </a:extLst>
          </p:cNvPr>
          <p:cNvCxnSpPr/>
          <p:nvPr/>
        </p:nvCxnSpPr>
        <p:spPr>
          <a:xfrm rot="5400000" flipH="1" flipV="1">
            <a:off x="1704182" y="1829594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3">
            <a:extLst>
              <a:ext uri="{FF2B5EF4-FFF2-40B4-BE49-F238E27FC236}">
                <a16:creationId xmlns:a16="http://schemas.microsoft.com/office/drawing/2014/main" id="{0355CFC1-6DCC-D445-A6DF-797E63213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3188" y="18288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bptr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BD89A2B-2625-C849-84EE-F9E0444CB40E}"/>
              </a:ext>
            </a:extLst>
          </p:cNvPr>
          <p:cNvCxnSpPr/>
          <p:nvPr/>
        </p:nvCxnSpPr>
        <p:spPr>
          <a:xfrm rot="5400000" flipH="1" flipV="1">
            <a:off x="4039394" y="175815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1C812B1-B785-B94B-8061-88276C3A4365}"/>
              </a:ext>
            </a:extLst>
          </p:cNvPr>
          <p:cNvCxnSpPr/>
          <p:nvPr/>
        </p:nvCxnSpPr>
        <p:spPr>
          <a:xfrm rot="5400000" flipH="1" flipV="1">
            <a:off x="1791494" y="2971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7">
            <a:extLst>
              <a:ext uri="{FF2B5EF4-FFF2-40B4-BE49-F238E27FC236}">
                <a16:creationId xmlns:a16="http://schemas.microsoft.com/office/drawing/2014/main" id="{6EE4BEAB-FD1C-C64B-AAEF-58F4BE0580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6088" y="2971800"/>
            <a:ext cx="569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cptr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1B06FF9-A6D0-B24C-B49E-41246D2DE493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70D7EAD-8F03-6741-983D-6764C9E2FD80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5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D2410D1-830E-AA47-BD63-94F558549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61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838207-44C4-744D-9B05-2D5C1DE84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D81E46-0493-5649-877C-E5560C6CDC7E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Merge Sort : Example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D7B31FF7-CBDF-6A43-BD9E-1B39B864C387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380F12C6-4611-B944-B52F-AFC78A556382}"/>
              </a:ext>
            </a:extLst>
          </p:cNvPr>
          <p:cNvGraphicFramePr>
            <a:graphicFrameLocks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87BDBA57-C023-7747-A535-B8DFF3A730F2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7">
            <a:extLst>
              <a:ext uri="{FF2B5EF4-FFF2-40B4-BE49-F238E27FC236}">
                <a16:creationId xmlns:a16="http://schemas.microsoft.com/office/drawing/2014/main" id="{DF0396AF-2588-7F44-9EC6-7C9356AE52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905000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aptr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8AF5040-4E72-CC42-BB7E-C41EC36410FD}"/>
              </a:ext>
            </a:extLst>
          </p:cNvPr>
          <p:cNvCxnSpPr/>
          <p:nvPr/>
        </p:nvCxnSpPr>
        <p:spPr>
          <a:xfrm rot="5400000" flipH="1" flipV="1">
            <a:off x="1677194" y="1829594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3">
            <a:extLst>
              <a:ext uri="{FF2B5EF4-FFF2-40B4-BE49-F238E27FC236}">
                <a16:creationId xmlns:a16="http://schemas.microsoft.com/office/drawing/2014/main" id="{D0DAFD02-DBBD-614C-A83D-17C5E2D9C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1388" y="18288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bptr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06E1D4-77B9-9447-90CC-24DBC7E54799}"/>
              </a:ext>
            </a:extLst>
          </p:cNvPr>
          <p:cNvCxnSpPr/>
          <p:nvPr/>
        </p:nvCxnSpPr>
        <p:spPr>
          <a:xfrm rot="5400000" flipH="1" flipV="1">
            <a:off x="4877594" y="175815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FDEB35F-368B-0142-B8B9-D76473E2B472}"/>
              </a:ext>
            </a:extLst>
          </p:cNvPr>
          <p:cNvCxnSpPr/>
          <p:nvPr/>
        </p:nvCxnSpPr>
        <p:spPr>
          <a:xfrm rot="5400000" flipH="1" flipV="1">
            <a:off x="2513807" y="2971006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7">
            <a:extLst>
              <a:ext uri="{FF2B5EF4-FFF2-40B4-BE49-F238E27FC236}">
                <a16:creationId xmlns:a16="http://schemas.microsoft.com/office/drawing/2014/main" id="{95E0C160-C86B-D44D-ADB3-5EEEE1F61C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971800"/>
            <a:ext cx="569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cptr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FA5CC58-0CDA-7541-A964-1C05EE7EFEA5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F01D9063-78F4-6540-9727-DAD14B4E32B6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6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0E0F03F-DDCC-8240-B8DA-8C7A505E7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9529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E266F4-5DC2-3244-9AD5-419670DD5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01E623-FDAA-5A4F-A6AC-22EB5C71E7A7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Merge Sort : Example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02B7C2E2-1EA7-474C-94ED-3FA03EB748C0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F900E904-3F10-B249-A7C5-ED1ABE090AC2}"/>
              </a:ext>
            </a:extLst>
          </p:cNvPr>
          <p:cNvGraphicFramePr>
            <a:graphicFrameLocks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99C14FD1-7007-1B42-BEE6-03DA959DD520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7">
            <a:extLst>
              <a:ext uri="{FF2B5EF4-FFF2-40B4-BE49-F238E27FC236}">
                <a16:creationId xmlns:a16="http://schemas.microsoft.com/office/drawing/2014/main" id="{005DDE3D-58E7-4840-B134-4D812BF69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6788" y="19050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aptr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1EC5512-4E1E-F045-9B3F-D5DAC69B00C1}"/>
              </a:ext>
            </a:extLst>
          </p:cNvPr>
          <p:cNvCxnSpPr/>
          <p:nvPr/>
        </p:nvCxnSpPr>
        <p:spPr>
          <a:xfrm rot="5400000" flipH="1" flipV="1">
            <a:off x="2389982" y="1829594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3">
            <a:extLst>
              <a:ext uri="{FF2B5EF4-FFF2-40B4-BE49-F238E27FC236}">
                <a16:creationId xmlns:a16="http://schemas.microsoft.com/office/drawing/2014/main" id="{9F52F83E-91B9-4A48-A75B-FA0EEF9D3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1388" y="18288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bptr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87E7B3A-AB83-C942-8574-9B9A7D1E7905}"/>
              </a:ext>
            </a:extLst>
          </p:cNvPr>
          <p:cNvCxnSpPr/>
          <p:nvPr/>
        </p:nvCxnSpPr>
        <p:spPr>
          <a:xfrm rot="5400000" flipH="1" flipV="1">
            <a:off x="4877594" y="175815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0A24E3-DCDB-CF4A-B22A-4EEECCB6839E}"/>
              </a:ext>
            </a:extLst>
          </p:cNvPr>
          <p:cNvCxnSpPr/>
          <p:nvPr/>
        </p:nvCxnSpPr>
        <p:spPr>
          <a:xfrm rot="5400000" flipH="1" flipV="1">
            <a:off x="3239294" y="2971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7">
            <a:extLst>
              <a:ext uri="{FF2B5EF4-FFF2-40B4-BE49-F238E27FC236}">
                <a16:creationId xmlns:a16="http://schemas.microsoft.com/office/drawing/2014/main" id="{E899E9F6-9668-A343-BD9A-CB1D681BC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3888" y="2971800"/>
            <a:ext cx="569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cptr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4495A72-BA4A-5249-8943-8D56BE0D6BB7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008AB6D0-F896-3441-AEC4-FE690007D12F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7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5B818B0-61D6-CD43-9DA9-75D9D639F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956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BB8B7B-AC13-9046-B8F3-AF6DBA4F3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186758-9686-1347-8E8D-750FE15C47B6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Merge Sort : Example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86B4A098-8E8E-D947-BD8F-EF4D73DC1DE8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911AB1ED-3D03-904E-99B4-3B6229F35F8D}"/>
              </a:ext>
            </a:extLst>
          </p:cNvPr>
          <p:cNvGraphicFramePr>
            <a:graphicFrameLocks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C837EA90-FF14-124F-8BD7-B73D9E36193E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7">
            <a:extLst>
              <a:ext uri="{FF2B5EF4-FFF2-40B4-BE49-F238E27FC236}">
                <a16:creationId xmlns:a16="http://schemas.microsoft.com/office/drawing/2014/main" id="{1EFFF09E-A698-0641-9D07-4D7E74796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6788" y="19050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aptr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E49D2DA-6EEB-CE47-A584-06C3BC181CCC}"/>
              </a:ext>
            </a:extLst>
          </p:cNvPr>
          <p:cNvCxnSpPr/>
          <p:nvPr/>
        </p:nvCxnSpPr>
        <p:spPr>
          <a:xfrm rot="5400000" flipH="1" flipV="1">
            <a:off x="2389982" y="1829594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3">
            <a:extLst>
              <a:ext uri="{FF2B5EF4-FFF2-40B4-BE49-F238E27FC236}">
                <a16:creationId xmlns:a16="http://schemas.microsoft.com/office/drawing/2014/main" id="{FCA02F0C-CDB5-7448-AEE9-87129BFA5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828800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bptr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C717D5C-E4AE-A542-A306-BDE839EA473C}"/>
              </a:ext>
            </a:extLst>
          </p:cNvPr>
          <p:cNvCxnSpPr/>
          <p:nvPr/>
        </p:nvCxnSpPr>
        <p:spPr>
          <a:xfrm rot="5400000" flipH="1" flipV="1">
            <a:off x="5612607" y="1758156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324C331-D97E-3249-81F5-C42E076F3FF8}"/>
              </a:ext>
            </a:extLst>
          </p:cNvPr>
          <p:cNvCxnSpPr/>
          <p:nvPr/>
        </p:nvCxnSpPr>
        <p:spPr>
          <a:xfrm rot="5400000" flipH="1" flipV="1">
            <a:off x="4001294" y="2971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7">
            <a:extLst>
              <a:ext uri="{FF2B5EF4-FFF2-40B4-BE49-F238E27FC236}">
                <a16:creationId xmlns:a16="http://schemas.microsoft.com/office/drawing/2014/main" id="{14386CC7-259F-2346-87E4-A96B07DA1F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5888" y="2971800"/>
            <a:ext cx="569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cptr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33B22B1-0802-BD46-96A0-B61F1ECD6812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40A438B6-F194-8745-A0CB-74DE93675518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8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04647B79-C654-5549-AC9B-EC27AF304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823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9D24CD-CCDF-2E4D-A267-843D21C60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827BA3-6DA2-3E46-A8D5-9DFAB376029B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Merge Sort : Example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296E4047-A3E5-5941-920E-F99A9E5074A7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FDC8DE99-7F4C-F84B-BFC0-73E192AF4138}"/>
              </a:ext>
            </a:extLst>
          </p:cNvPr>
          <p:cNvGraphicFramePr>
            <a:graphicFrameLocks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23160451-99CD-6640-939D-34D34C7EFDC5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7">
            <a:extLst>
              <a:ext uri="{FF2B5EF4-FFF2-40B4-BE49-F238E27FC236}">
                <a16:creationId xmlns:a16="http://schemas.microsoft.com/office/drawing/2014/main" id="{4D21F075-51D5-9441-B1BE-2151D2D14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1905000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aptr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5435060-A451-DA40-B8DF-DCABE4035576}"/>
              </a:ext>
            </a:extLst>
          </p:cNvPr>
          <p:cNvCxnSpPr/>
          <p:nvPr/>
        </p:nvCxnSpPr>
        <p:spPr>
          <a:xfrm rot="5400000" flipH="1" flipV="1">
            <a:off x="3124994" y="1829594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3">
            <a:extLst>
              <a:ext uri="{FF2B5EF4-FFF2-40B4-BE49-F238E27FC236}">
                <a16:creationId xmlns:a16="http://schemas.microsoft.com/office/drawing/2014/main" id="{96A6453C-7FAD-C549-9F59-090941702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828800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bptr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AEA5A8E-A8F2-8B4C-8200-F1A148B32B3B}"/>
              </a:ext>
            </a:extLst>
          </p:cNvPr>
          <p:cNvCxnSpPr/>
          <p:nvPr/>
        </p:nvCxnSpPr>
        <p:spPr>
          <a:xfrm rot="5400000" flipH="1" flipV="1">
            <a:off x="5612607" y="1758156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0F6DB6-0DC9-304E-88AA-2E1729A5ADCF}"/>
              </a:ext>
            </a:extLst>
          </p:cNvPr>
          <p:cNvCxnSpPr/>
          <p:nvPr/>
        </p:nvCxnSpPr>
        <p:spPr>
          <a:xfrm rot="5400000" flipH="1" flipV="1">
            <a:off x="4763294" y="2971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7">
            <a:extLst>
              <a:ext uri="{FF2B5EF4-FFF2-40B4-BE49-F238E27FC236}">
                <a16:creationId xmlns:a16="http://schemas.microsoft.com/office/drawing/2014/main" id="{3D98C675-986D-204D-B961-1CE8FEA5F4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888" y="2971800"/>
            <a:ext cx="569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cptr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976A5C6-4254-1140-9E0E-AF981EF00700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73F80E6-9264-474C-A6B0-641323588588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9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9C2F5F8-00F6-864E-A7A5-ACC8C9FE5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988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64D59E-9C94-D140-A623-5AF65ABDC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9FC081-A3FC-C043-BAA6-2BECA8F3E7F6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Merge Sort : Example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206E9F0A-5EB0-BF4D-AF79-CD115C179927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733D56E7-2BA7-7B48-B32F-62CE722CD64E}"/>
              </a:ext>
            </a:extLst>
          </p:cNvPr>
          <p:cNvGraphicFramePr>
            <a:graphicFrameLocks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D10C17E9-5DFF-064B-ACCF-C3D417059643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7">
            <a:extLst>
              <a:ext uri="{FF2B5EF4-FFF2-40B4-BE49-F238E27FC236}">
                <a16:creationId xmlns:a16="http://schemas.microsoft.com/office/drawing/2014/main" id="{A5B722E6-D092-7A47-8DB3-5759D972F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0913" y="1905000"/>
            <a:ext cx="581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aptr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45FCE0F-B44F-A747-8131-5DDD24079884}"/>
              </a:ext>
            </a:extLst>
          </p:cNvPr>
          <p:cNvCxnSpPr/>
          <p:nvPr/>
        </p:nvCxnSpPr>
        <p:spPr>
          <a:xfrm rot="5400000" flipH="1" flipV="1">
            <a:off x="3644107" y="1829594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3">
            <a:extLst>
              <a:ext uri="{FF2B5EF4-FFF2-40B4-BE49-F238E27FC236}">
                <a16:creationId xmlns:a16="http://schemas.microsoft.com/office/drawing/2014/main" id="{A0E8F00E-B8E2-5D46-A34D-90874127E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828800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bptr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27B4FEC-FB2B-6E44-BC99-7D93BC6CD53F}"/>
              </a:ext>
            </a:extLst>
          </p:cNvPr>
          <p:cNvCxnSpPr/>
          <p:nvPr/>
        </p:nvCxnSpPr>
        <p:spPr>
          <a:xfrm rot="5400000" flipH="1" flipV="1">
            <a:off x="5612607" y="1758156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526F73E-A188-8047-92BD-4608178155D5}"/>
              </a:ext>
            </a:extLst>
          </p:cNvPr>
          <p:cNvCxnSpPr/>
          <p:nvPr/>
        </p:nvCxnSpPr>
        <p:spPr>
          <a:xfrm rot="5400000" flipH="1" flipV="1">
            <a:off x="5449094" y="2971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7">
            <a:extLst>
              <a:ext uri="{FF2B5EF4-FFF2-40B4-BE49-F238E27FC236}">
                <a16:creationId xmlns:a16="http://schemas.microsoft.com/office/drawing/2014/main" id="{675F4C6B-0F88-0E46-AFA5-35838F3FB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688" y="2971800"/>
            <a:ext cx="569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cptr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BD8D4B5-9FFC-104E-9C45-DEFBDD626A66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B2323EA7-6BE3-2344-995C-475924B90BD7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10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8524DF-E3AB-314E-B234-B49887D50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9067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0DA6BA-CB3F-BA4C-A9B2-1D4FEF85D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AAA0DD-3CCE-8040-B589-FC1A578D77A3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Merge Sort : Example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15C56FCA-A185-254F-8C5D-BED653DA4066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CB61EC54-13F7-B544-B9B6-50BE018C8318}"/>
              </a:ext>
            </a:extLst>
          </p:cNvPr>
          <p:cNvGraphicFramePr>
            <a:graphicFrameLocks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7499951F-2A3E-FF41-9CCA-FA2C0B0C1B6E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7">
            <a:extLst>
              <a:ext uri="{FF2B5EF4-FFF2-40B4-BE49-F238E27FC236}">
                <a16:creationId xmlns:a16="http://schemas.microsoft.com/office/drawing/2014/main" id="{55A44C57-4BD5-CD43-ACFB-BCEA20F08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0913" y="1905000"/>
            <a:ext cx="581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aptr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AB2E481-2171-BE4C-9AC2-5BDA07B8EAB5}"/>
              </a:ext>
            </a:extLst>
          </p:cNvPr>
          <p:cNvCxnSpPr/>
          <p:nvPr/>
        </p:nvCxnSpPr>
        <p:spPr>
          <a:xfrm rot="5400000" flipH="1" flipV="1">
            <a:off x="3644107" y="1829594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3">
            <a:extLst>
              <a:ext uri="{FF2B5EF4-FFF2-40B4-BE49-F238E27FC236}">
                <a16:creationId xmlns:a16="http://schemas.microsoft.com/office/drawing/2014/main" id="{D9016DAB-1204-ED4E-819A-9C6BB0CDAA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18288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bptr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BAD60C0-1CA7-BF4F-8CF4-0455619F61A2}"/>
              </a:ext>
            </a:extLst>
          </p:cNvPr>
          <p:cNvCxnSpPr/>
          <p:nvPr/>
        </p:nvCxnSpPr>
        <p:spPr>
          <a:xfrm rot="5400000" flipH="1" flipV="1">
            <a:off x="6858794" y="175815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226DFA1-DB0D-DD43-AF65-ADB819EBF2FA}"/>
              </a:ext>
            </a:extLst>
          </p:cNvPr>
          <p:cNvCxnSpPr/>
          <p:nvPr/>
        </p:nvCxnSpPr>
        <p:spPr>
          <a:xfrm rot="5400000" flipH="1" flipV="1">
            <a:off x="6704807" y="2971006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7">
            <a:extLst>
              <a:ext uri="{FF2B5EF4-FFF2-40B4-BE49-F238E27FC236}">
                <a16:creationId xmlns:a16="http://schemas.microsoft.com/office/drawing/2014/main" id="{269BCA47-CFD9-0047-9488-F93317202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2971800"/>
            <a:ext cx="569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cptr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848A71F-3077-6643-815D-F083A2DEB18F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B4871C7D-C9CD-A14E-B497-BD00A62E33BA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11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EF04C4A7-7F31-9640-A654-FFA011322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156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D44E2F-0DCA-BF49-AD02-1777375D9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5CDEE0-7510-1044-B08D-B76386747A28}"/>
              </a:ext>
            </a:extLst>
          </p:cNvPr>
          <p:cNvSpPr/>
          <p:nvPr/>
        </p:nvSpPr>
        <p:spPr>
          <a:xfrm>
            <a:off x="496888" y="3810000"/>
            <a:ext cx="4379912" cy="381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53112B-D4C5-4B47-99F3-A6DF551C6743}"/>
              </a:ext>
            </a:extLst>
          </p:cNvPr>
          <p:cNvSpPr/>
          <p:nvPr/>
        </p:nvSpPr>
        <p:spPr>
          <a:xfrm>
            <a:off x="493713" y="4114800"/>
            <a:ext cx="4724400" cy="381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B42567-DEBB-8446-8107-FAC91EA74889}"/>
              </a:ext>
            </a:extLst>
          </p:cNvPr>
          <p:cNvSpPr/>
          <p:nvPr/>
        </p:nvSpPr>
        <p:spPr>
          <a:xfrm>
            <a:off x="496888" y="3416300"/>
            <a:ext cx="3922712" cy="381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0E51E0-6CFE-FC4E-8E7E-123C0E80762A}"/>
              </a:ext>
            </a:extLst>
          </p:cNvPr>
          <p:cNvSpPr/>
          <p:nvPr/>
        </p:nvSpPr>
        <p:spPr>
          <a:xfrm>
            <a:off x="508000" y="2971800"/>
            <a:ext cx="2971800" cy="381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F93347B-5A63-EF4A-BB52-1BFC824FE602}"/>
              </a:ext>
            </a:extLst>
          </p:cNvPr>
          <p:cNvSpPr txBox="1">
            <a:spLocks/>
          </p:cNvSpPr>
          <p:nvPr/>
        </p:nvSpPr>
        <p:spPr bwMode="auto">
          <a:xfrm>
            <a:off x="170250" y="423863"/>
            <a:ext cx="7239000" cy="517525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dirty="0">
                <a:latin typeface="Trebuchet MS" pitchFamily="34" charset="0"/>
              </a:rPr>
              <a:t>Merge Sort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AB663CE-B519-164D-9AAA-DA2FD1E90CA1}"/>
              </a:ext>
            </a:extLst>
          </p:cNvPr>
          <p:cNvSpPr txBox="1">
            <a:spLocks/>
          </p:cNvSpPr>
          <p:nvPr/>
        </p:nvSpPr>
        <p:spPr>
          <a:xfrm>
            <a:off x="152400" y="1066800"/>
            <a:ext cx="7924800" cy="4846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00CC"/>
                </a:solidFill>
              </a:rPr>
              <a:t>void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m_sort</a:t>
            </a:r>
            <a:r>
              <a:rPr lang="en-US" altLang="en-US" sz="2000" dirty="0"/>
              <a:t>( </a:t>
            </a:r>
            <a:r>
              <a:rPr lang="en-US" altLang="en-US" sz="2000" dirty="0" err="1"/>
              <a:t>input_type</a:t>
            </a:r>
            <a:r>
              <a:rPr lang="en-US" altLang="en-US" sz="2000" dirty="0"/>
              <a:t> a[], </a:t>
            </a:r>
            <a:r>
              <a:rPr lang="en-US" altLang="en-US" sz="2000" dirty="0" err="1"/>
              <a:t>input_type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tmp_array</a:t>
            </a:r>
            <a:r>
              <a:rPr lang="en-US" altLang="en-US" sz="2000" dirty="0"/>
              <a:t>[ ], </a:t>
            </a:r>
            <a:r>
              <a:rPr lang="en-US" altLang="en-US" sz="2000" dirty="0" err="1"/>
              <a:t>int</a:t>
            </a:r>
            <a:r>
              <a:rPr lang="en-US" altLang="en-US" sz="2000" dirty="0"/>
              <a:t> left, </a:t>
            </a:r>
            <a:r>
              <a:rPr lang="en-US" altLang="en-US" sz="2000" dirty="0" err="1"/>
              <a:t>int</a:t>
            </a:r>
            <a:r>
              <a:rPr lang="en-US" altLang="en-US" sz="2000" dirty="0"/>
              <a:t> right ) 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/>
              <a:t>{ 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 err="1"/>
              <a:t>int</a:t>
            </a:r>
            <a:r>
              <a:rPr lang="en-US" altLang="en-US" sz="2000" dirty="0"/>
              <a:t> center; 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00CC"/>
                </a:solidFill>
              </a:rPr>
              <a:t>if</a:t>
            </a:r>
            <a:r>
              <a:rPr lang="en-US" altLang="en-US" sz="2000" dirty="0"/>
              <a:t>( left </a:t>
            </a:r>
            <a:r>
              <a:rPr lang="en-US" altLang="en-US" sz="2000" b="1" dirty="0"/>
              <a:t>&lt;</a:t>
            </a:r>
            <a:r>
              <a:rPr lang="en-US" altLang="en-US" sz="2000" dirty="0"/>
              <a:t> right ) 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/>
              <a:t>	{ 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/>
              <a:t>	center = (left + right) / 2; 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/>
              <a:t>	</a:t>
            </a:r>
            <a:r>
              <a:rPr lang="en-US" altLang="en-US" sz="2000" dirty="0" err="1"/>
              <a:t>m_sort</a:t>
            </a:r>
            <a:r>
              <a:rPr lang="en-US" altLang="en-US" sz="2000" dirty="0"/>
              <a:t>( a, </a:t>
            </a:r>
            <a:r>
              <a:rPr lang="en-US" altLang="en-US" sz="2000" dirty="0" err="1"/>
              <a:t>tmp_array</a:t>
            </a:r>
            <a:r>
              <a:rPr lang="en-US" altLang="en-US" sz="2000" dirty="0"/>
              <a:t>, left, center ); 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/>
              <a:t>	</a:t>
            </a:r>
            <a:r>
              <a:rPr lang="en-US" altLang="en-US" sz="2000" dirty="0" err="1"/>
              <a:t>m_sort</a:t>
            </a:r>
            <a:r>
              <a:rPr lang="en-US" altLang="en-US" sz="2000" dirty="0"/>
              <a:t>( a, </a:t>
            </a:r>
            <a:r>
              <a:rPr lang="en-US" altLang="en-US" sz="2000" dirty="0" err="1"/>
              <a:t>tmp_array</a:t>
            </a:r>
            <a:r>
              <a:rPr lang="en-US" altLang="en-US" sz="2000" dirty="0"/>
              <a:t>, center+1, right ); 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/>
              <a:t>	merge( a, </a:t>
            </a:r>
            <a:r>
              <a:rPr lang="en-US" altLang="en-US" sz="2000" dirty="0" err="1"/>
              <a:t>tmp_array</a:t>
            </a:r>
            <a:r>
              <a:rPr lang="en-US" altLang="en-US" sz="2000" dirty="0"/>
              <a:t>, left, center+1, right ); 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/>
              <a:t>	} 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/>
              <a:t>}</a:t>
            </a:r>
            <a:endParaRPr lang="en-US" altLang="en-US" sz="2000" dirty="0">
              <a:latin typeface="Trebuchet MS" panose="020B0703020202090204" pitchFamily="34" charset="0"/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EAA607E8-D983-304B-A029-50AC2740F654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25DD6AD9-2BAC-ED4F-BA64-79C798583C7B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12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1FE190-78FD-4B4C-A0EE-CAE612072F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0" y="2921000"/>
            <a:ext cx="4454525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Calculate the </a:t>
            </a:r>
            <a:r>
              <a:rPr lang="en-US" altLang="en-US" b="1">
                <a:solidFill>
                  <a:srgbClr val="FF0000"/>
                </a:solidFill>
              </a:rPr>
              <a:t>centre</a:t>
            </a:r>
            <a:r>
              <a:rPr lang="en-US" altLang="en-US">
                <a:solidFill>
                  <a:srgbClr val="FF0000"/>
                </a:solidFill>
              </a:rPr>
              <a:t> index of the input list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49093E-16EC-D84E-9029-64B2C9B6F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1975" y="3200400"/>
            <a:ext cx="4108450" cy="646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Recursively call the </a:t>
            </a:r>
            <a:r>
              <a:rPr lang="en-US" altLang="en-US" b="1">
                <a:solidFill>
                  <a:srgbClr val="FF0000"/>
                </a:solidFill>
              </a:rPr>
              <a:t>m_sort</a:t>
            </a:r>
            <a:r>
              <a:rPr lang="en-US" altLang="en-US">
                <a:solidFill>
                  <a:srgbClr val="FF0000"/>
                </a:solidFill>
              </a:rPr>
              <a:t> procedure</a:t>
            </a:r>
          </a:p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for the </a:t>
            </a:r>
            <a:r>
              <a:rPr lang="en-US" altLang="en-US" b="1">
                <a:solidFill>
                  <a:srgbClr val="FF0000"/>
                </a:solidFill>
              </a:rPr>
              <a:t>left-half</a:t>
            </a:r>
            <a:r>
              <a:rPr lang="en-US" altLang="en-US">
                <a:solidFill>
                  <a:srgbClr val="FF0000"/>
                </a:solidFill>
              </a:rPr>
              <a:t> of the input 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2B5F15-6638-6346-A619-45AB8A8A9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2350" y="3505200"/>
            <a:ext cx="4173538" cy="646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Recursively call the </a:t>
            </a:r>
            <a:r>
              <a:rPr lang="en-US" altLang="en-US" b="1">
                <a:solidFill>
                  <a:srgbClr val="FF0000"/>
                </a:solidFill>
              </a:rPr>
              <a:t>m_sort</a:t>
            </a:r>
            <a:r>
              <a:rPr lang="en-US" altLang="en-US">
                <a:solidFill>
                  <a:srgbClr val="FF0000"/>
                </a:solidFill>
              </a:rPr>
              <a:t> procedure </a:t>
            </a:r>
          </a:p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for the </a:t>
            </a:r>
            <a:r>
              <a:rPr lang="en-US" altLang="en-US" b="1">
                <a:solidFill>
                  <a:srgbClr val="FF0000"/>
                </a:solidFill>
              </a:rPr>
              <a:t>right-half</a:t>
            </a:r>
            <a:r>
              <a:rPr lang="en-US" altLang="en-US">
                <a:solidFill>
                  <a:srgbClr val="FF0000"/>
                </a:solidFill>
              </a:rPr>
              <a:t> of the input 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B51D58-A9CF-5F46-B6B6-33242EDD4A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4150" y="4154488"/>
            <a:ext cx="2813050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Merge</a:t>
            </a:r>
            <a:r>
              <a:rPr lang="en-US" altLang="en-US">
                <a:solidFill>
                  <a:srgbClr val="FF0000"/>
                </a:solidFill>
              </a:rPr>
              <a:t> the two sorted lists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4C8D58B-7BD5-AB4B-A5CC-BA513D958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47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5FA684-AE4A-4140-B8BC-6C48DB544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F03827-03C2-A048-99FA-02959640EEDF}"/>
              </a:ext>
            </a:extLst>
          </p:cNvPr>
          <p:cNvSpPr txBox="1">
            <a:spLocks/>
          </p:cNvSpPr>
          <p:nvPr/>
        </p:nvSpPr>
        <p:spPr bwMode="auto">
          <a:xfrm>
            <a:off x="228600" y="0"/>
            <a:ext cx="7924800" cy="51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>
                <a:latin typeface="Trebuchet MS" panose="020B0703020202090204" pitchFamily="34" charset="0"/>
              </a:rPr>
              <a:t>Merge Sort Example (recursive Function Calls)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CCF5C472-8268-C14E-A991-D82D2E9B13FA}"/>
              </a:ext>
            </a:extLst>
          </p:cNvPr>
          <p:cNvGraphicFramePr>
            <a:graphicFrameLocks/>
          </p:cNvGraphicFramePr>
          <p:nvPr/>
        </p:nvGraphicFramePr>
        <p:xfrm>
          <a:off x="98425" y="1295400"/>
          <a:ext cx="8054976" cy="381000"/>
        </p:xfrm>
        <a:graphic>
          <a:graphicData uri="http://schemas.openxmlformats.org/drawingml/2006/table">
            <a:tbl>
              <a:tblPr/>
              <a:tblGrid>
                <a:gridCol w="1006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BA7BCC2-1FFB-724A-A424-0DEF3CD05725}"/>
              </a:ext>
            </a:extLst>
          </p:cNvPr>
          <p:cNvSpPr/>
          <p:nvPr/>
        </p:nvSpPr>
        <p:spPr>
          <a:xfrm>
            <a:off x="2819400" y="566738"/>
            <a:ext cx="2057400" cy="2714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Mergesort</a:t>
            </a:r>
            <a:r>
              <a:rPr lang="en-US" dirty="0">
                <a:solidFill>
                  <a:schemeClr val="tx1"/>
                </a:solidFill>
              </a:rPr>
              <a:t>(a, 8)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F589D9-8C83-6C46-B614-80567B31A3CB}"/>
              </a:ext>
            </a:extLst>
          </p:cNvPr>
          <p:cNvSpPr/>
          <p:nvPr/>
        </p:nvSpPr>
        <p:spPr>
          <a:xfrm>
            <a:off x="2286000" y="914400"/>
            <a:ext cx="3581400" cy="27622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 a, </a:t>
            </a:r>
            <a:r>
              <a:rPr lang="en-US" dirty="0" err="1">
                <a:solidFill>
                  <a:schemeClr val="tx1"/>
                </a:solidFill>
              </a:rPr>
              <a:t>tmp_array</a:t>
            </a:r>
            <a:r>
              <a:rPr lang="en-US" dirty="0">
                <a:solidFill>
                  <a:schemeClr val="tx1"/>
                </a:solidFill>
              </a:rPr>
              <a:t>, 0, 7 )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7ECE7B-5043-A94D-AD8F-3FE51BD8D7EF}"/>
              </a:ext>
            </a:extLst>
          </p:cNvPr>
          <p:cNvSpPr/>
          <p:nvPr/>
        </p:nvSpPr>
        <p:spPr>
          <a:xfrm>
            <a:off x="0" y="2243138"/>
            <a:ext cx="4038600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 a, </a:t>
            </a:r>
            <a:r>
              <a:rPr lang="en-US" dirty="0" err="1">
                <a:solidFill>
                  <a:schemeClr val="tx1"/>
                </a:solidFill>
              </a:rPr>
              <a:t>tmp_array</a:t>
            </a:r>
            <a:r>
              <a:rPr lang="en-US" dirty="0">
                <a:solidFill>
                  <a:schemeClr val="tx1"/>
                </a:solidFill>
              </a:rPr>
              <a:t>, 0, 3)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D813CB-9A0F-554E-B5F9-EFB9A2ACFA49}"/>
              </a:ext>
            </a:extLst>
          </p:cNvPr>
          <p:cNvSpPr/>
          <p:nvPr/>
        </p:nvSpPr>
        <p:spPr>
          <a:xfrm>
            <a:off x="4114800" y="2230438"/>
            <a:ext cx="4038600" cy="3937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 a, </a:t>
            </a:r>
            <a:r>
              <a:rPr lang="en-US" dirty="0" err="1">
                <a:solidFill>
                  <a:schemeClr val="tx1"/>
                </a:solidFill>
              </a:rPr>
              <a:t>tmp_array</a:t>
            </a:r>
            <a:r>
              <a:rPr lang="en-US" dirty="0">
                <a:solidFill>
                  <a:schemeClr val="tx1"/>
                </a:solidFill>
              </a:rPr>
              <a:t>, 4, 7)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25AAD2-E0FB-0C4D-A6EE-19B07487B5A9}"/>
              </a:ext>
            </a:extLst>
          </p:cNvPr>
          <p:cNvSpPr/>
          <p:nvPr/>
        </p:nvSpPr>
        <p:spPr>
          <a:xfrm>
            <a:off x="42863" y="3849688"/>
            <a:ext cx="1981200" cy="41592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(0, 1)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76FB6E-8CD9-F64E-8549-117773E588C5}"/>
              </a:ext>
            </a:extLst>
          </p:cNvPr>
          <p:cNvSpPr/>
          <p:nvPr/>
        </p:nvSpPr>
        <p:spPr>
          <a:xfrm>
            <a:off x="2085975" y="3843338"/>
            <a:ext cx="2057400" cy="4238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(2, 3 )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AFB082-A614-8E43-A7F4-1BD8CCD87EFB}"/>
              </a:ext>
            </a:extLst>
          </p:cNvPr>
          <p:cNvSpPr/>
          <p:nvPr/>
        </p:nvSpPr>
        <p:spPr>
          <a:xfrm>
            <a:off x="4233863" y="3814763"/>
            <a:ext cx="1981200" cy="4572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(4, 5)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EF1851-66B8-9B4D-85AA-301B92497078}"/>
              </a:ext>
            </a:extLst>
          </p:cNvPr>
          <p:cNvSpPr/>
          <p:nvPr/>
        </p:nvSpPr>
        <p:spPr>
          <a:xfrm>
            <a:off x="6332538" y="3810000"/>
            <a:ext cx="1905000" cy="46355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(6, 7 )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48E803-20D0-1047-B1C3-BCC8843830CF}"/>
              </a:ext>
            </a:extLst>
          </p:cNvPr>
          <p:cNvSpPr/>
          <p:nvPr/>
        </p:nvSpPr>
        <p:spPr>
          <a:xfrm>
            <a:off x="2133600" y="1724025"/>
            <a:ext cx="4038600" cy="442913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Merge(a, </a:t>
            </a:r>
            <a:r>
              <a:rPr lang="en-US" dirty="0" err="1">
                <a:solidFill>
                  <a:schemeClr val="tx1"/>
                </a:solidFill>
              </a:rPr>
              <a:t>tmp_array</a:t>
            </a:r>
            <a:r>
              <a:rPr lang="en-US" dirty="0">
                <a:solidFill>
                  <a:schemeClr val="tx1"/>
                </a:solidFill>
              </a:rPr>
              <a:t>,  0, 4, 7 )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542D8B-007E-4545-A0B1-36FD59359B36}"/>
              </a:ext>
            </a:extLst>
          </p:cNvPr>
          <p:cNvSpPr/>
          <p:nvPr/>
        </p:nvSpPr>
        <p:spPr>
          <a:xfrm>
            <a:off x="0" y="5548313"/>
            <a:ext cx="1066800" cy="4238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(0,0)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7F07C1-500B-C54D-80AA-B56DFFC46F73}"/>
              </a:ext>
            </a:extLst>
          </p:cNvPr>
          <p:cNvSpPr/>
          <p:nvPr/>
        </p:nvSpPr>
        <p:spPr>
          <a:xfrm>
            <a:off x="990600" y="5548313"/>
            <a:ext cx="1066800" cy="4238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(1,1)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9193E3-1B81-2C44-8F53-1494641FE93C}"/>
              </a:ext>
            </a:extLst>
          </p:cNvPr>
          <p:cNvSpPr/>
          <p:nvPr/>
        </p:nvSpPr>
        <p:spPr>
          <a:xfrm>
            <a:off x="2105025" y="5548313"/>
            <a:ext cx="1066800" cy="4238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(2,2)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575854-A467-6B45-8AFF-7764BDE9ED43}"/>
              </a:ext>
            </a:extLst>
          </p:cNvPr>
          <p:cNvSpPr/>
          <p:nvPr/>
        </p:nvSpPr>
        <p:spPr>
          <a:xfrm>
            <a:off x="3095625" y="5548313"/>
            <a:ext cx="1066800" cy="4238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(3,3)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F08FE4-AABB-D440-9037-30C6C6A7BC2D}"/>
              </a:ext>
            </a:extLst>
          </p:cNvPr>
          <p:cNvSpPr/>
          <p:nvPr/>
        </p:nvSpPr>
        <p:spPr>
          <a:xfrm>
            <a:off x="4238625" y="5543550"/>
            <a:ext cx="1066800" cy="42227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(4,4)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A76EBD-F402-7544-BED1-5FDF9C28E921}"/>
              </a:ext>
            </a:extLst>
          </p:cNvPr>
          <p:cNvSpPr/>
          <p:nvPr/>
        </p:nvSpPr>
        <p:spPr>
          <a:xfrm>
            <a:off x="5229225" y="5543550"/>
            <a:ext cx="1066800" cy="42227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(5,5)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B38EEA-8A44-B044-B1A4-3189A54F270C}"/>
              </a:ext>
            </a:extLst>
          </p:cNvPr>
          <p:cNvSpPr/>
          <p:nvPr/>
        </p:nvSpPr>
        <p:spPr>
          <a:xfrm>
            <a:off x="6345238" y="5543550"/>
            <a:ext cx="1066800" cy="42227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(6,6)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AFC8E02-05F8-6345-A2B3-6D13504C911C}"/>
              </a:ext>
            </a:extLst>
          </p:cNvPr>
          <p:cNvSpPr/>
          <p:nvPr/>
        </p:nvSpPr>
        <p:spPr>
          <a:xfrm>
            <a:off x="7335838" y="5543550"/>
            <a:ext cx="1066800" cy="42227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(7,7)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BCF186-90DB-5F4B-8C79-8E2A75C2E13B}"/>
              </a:ext>
            </a:extLst>
          </p:cNvPr>
          <p:cNvSpPr/>
          <p:nvPr/>
        </p:nvSpPr>
        <p:spPr>
          <a:xfrm>
            <a:off x="228600" y="4357688"/>
            <a:ext cx="3581400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Merge(a, </a:t>
            </a:r>
            <a:r>
              <a:rPr lang="en-US" dirty="0" err="1">
                <a:solidFill>
                  <a:schemeClr val="tx1"/>
                </a:solidFill>
              </a:rPr>
              <a:t>tmp_array</a:t>
            </a:r>
            <a:r>
              <a:rPr lang="en-US" dirty="0">
                <a:solidFill>
                  <a:schemeClr val="tx1"/>
                </a:solidFill>
              </a:rPr>
              <a:t>,  0, 2, 3 )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1A6AA6-39BE-634E-A23D-9752F0F2F568}"/>
              </a:ext>
            </a:extLst>
          </p:cNvPr>
          <p:cNvSpPr/>
          <p:nvPr/>
        </p:nvSpPr>
        <p:spPr>
          <a:xfrm>
            <a:off x="4267200" y="4343400"/>
            <a:ext cx="3581400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Merge(a, </a:t>
            </a:r>
            <a:r>
              <a:rPr lang="en-US" dirty="0" err="1">
                <a:solidFill>
                  <a:schemeClr val="tx1"/>
                </a:solidFill>
              </a:rPr>
              <a:t>tmp_array</a:t>
            </a:r>
            <a:r>
              <a:rPr lang="en-US" dirty="0">
                <a:solidFill>
                  <a:schemeClr val="tx1"/>
                </a:solidFill>
              </a:rPr>
              <a:t>,  4, 6, 7 )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743ADB-ECA7-364F-8790-8DB2E61E6A1F}"/>
              </a:ext>
            </a:extLst>
          </p:cNvPr>
          <p:cNvSpPr/>
          <p:nvPr/>
        </p:nvSpPr>
        <p:spPr>
          <a:xfrm>
            <a:off x="0" y="6110288"/>
            <a:ext cx="1933575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Merge(0, 1, 1 )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A98279B-E628-544B-AE05-4F06B6B472FB}"/>
              </a:ext>
            </a:extLst>
          </p:cNvPr>
          <p:cNvSpPr/>
          <p:nvPr/>
        </p:nvSpPr>
        <p:spPr>
          <a:xfrm>
            <a:off x="2181225" y="6124575"/>
            <a:ext cx="1933575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Merge(2, 3, 3 )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57C9D1-70D3-1840-8CE5-4A5FBD10CC25}"/>
              </a:ext>
            </a:extLst>
          </p:cNvPr>
          <p:cNvSpPr/>
          <p:nvPr/>
        </p:nvSpPr>
        <p:spPr>
          <a:xfrm>
            <a:off x="4267200" y="6124575"/>
            <a:ext cx="1933575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Merge(4, 5, 5 )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A581819-E20C-7B4F-87B8-C7AD91F433A0}"/>
              </a:ext>
            </a:extLst>
          </p:cNvPr>
          <p:cNvSpPr/>
          <p:nvPr/>
        </p:nvSpPr>
        <p:spPr>
          <a:xfrm>
            <a:off x="6372225" y="6124575"/>
            <a:ext cx="1933575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Merge(6, 7, 7 )</a:t>
            </a:r>
          </a:p>
        </p:txBody>
      </p:sp>
      <p:graphicFrame>
        <p:nvGraphicFramePr>
          <p:cNvPr id="28" name="Group 3">
            <a:extLst>
              <a:ext uri="{FF2B5EF4-FFF2-40B4-BE49-F238E27FC236}">
                <a16:creationId xmlns:a16="http://schemas.microsoft.com/office/drawing/2014/main" id="{CA88263E-2F22-234D-A0D5-544393F4D7B2}"/>
              </a:ext>
            </a:extLst>
          </p:cNvPr>
          <p:cNvGraphicFramePr>
            <a:graphicFrameLocks/>
          </p:cNvGraphicFramePr>
          <p:nvPr/>
        </p:nvGraphicFramePr>
        <p:xfrm>
          <a:off x="73025" y="2700338"/>
          <a:ext cx="3875088" cy="381000"/>
        </p:xfrm>
        <a:graphic>
          <a:graphicData uri="http://schemas.openxmlformats.org/drawingml/2006/table">
            <a:tbl>
              <a:tblPr/>
              <a:tblGrid>
                <a:gridCol w="968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87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7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Group 3">
            <a:extLst>
              <a:ext uri="{FF2B5EF4-FFF2-40B4-BE49-F238E27FC236}">
                <a16:creationId xmlns:a16="http://schemas.microsoft.com/office/drawing/2014/main" id="{01ED020E-2B73-7340-9B4A-D5BCF722EDF1}"/>
              </a:ext>
            </a:extLst>
          </p:cNvPr>
          <p:cNvGraphicFramePr>
            <a:graphicFrameLocks/>
          </p:cNvGraphicFramePr>
          <p:nvPr/>
        </p:nvGraphicFramePr>
        <p:xfrm>
          <a:off x="4252913" y="2700338"/>
          <a:ext cx="3886200" cy="381000"/>
        </p:xfrm>
        <a:graphic>
          <a:graphicData uri="http://schemas.openxmlformats.org/drawingml/2006/table">
            <a:tbl>
              <a:tblPr/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CA36D18F-8A6E-9A4D-8FAE-FF6A98F40E5C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3352800"/>
          <a:ext cx="1600200" cy="381000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21E89C37-9EDA-7941-86EF-7728291669C2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3352800"/>
          <a:ext cx="1905000" cy="381000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14F1D38A-4010-004C-B607-C9077E60327B}"/>
              </a:ext>
            </a:extLst>
          </p:cNvPr>
          <p:cNvGraphicFramePr>
            <a:graphicFrameLocks noGrp="1"/>
          </p:cNvGraphicFramePr>
          <p:nvPr/>
        </p:nvGraphicFramePr>
        <p:xfrm>
          <a:off x="4289425" y="3332163"/>
          <a:ext cx="1752600" cy="381000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E681D4A8-2894-074A-9ADA-AA317FB29FDA}"/>
              </a:ext>
            </a:extLst>
          </p:cNvPr>
          <p:cNvGraphicFramePr>
            <a:graphicFrameLocks noGrp="1"/>
          </p:cNvGraphicFramePr>
          <p:nvPr/>
        </p:nvGraphicFramePr>
        <p:xfrm>
          <a:off x="6138863" y="3346450"/>
          <a:ext cx="1943100" cy="381000"/>
        </p:xfrm>
        <a:graphic>
          <a:graphicData uri="http://schemas.openxmlformats.org/drawingml/2006/table">
            <a:tbl>
              <a:tblPr/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B9BDAC18-B41E-7541-BC95-4C1B43301364}"/>
              </a:ext>
            </a:extLst>
          </p:cNvPr>
          <p:cNvGraphicFramePr>
            <a:graphicFrameLocks noGrp="1"/>
          </p:cNvGraphicFramePr>
          <p:nvPr/>
        </p:nvGraphicFramePr>
        <p:xfrm>
          <a:off x="123825" y="5133975"/>
          <a:ext cx="800100" cy="352425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DDFF651C-B1A1-9E45-AD64-00EBAA0718CE}"/>
              </a:ext>
            </a:extLst>
          </p:cNvPr>
          <p:cNvGraphicFramePr>
            <a:graphicFrameLocks noGrp="1"/>
          </p:cNvGraphicFramePr>
          <p:nvPr/>
        </p:nvGraphicFramePr>
        <p:xfrm>
          <a:off x="1076325" y="5133975"/>
          <a:ext cx="800100" cy="352425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BCFC0360-B3D3-0444-9F3B-C688AFAFA1A3}"/>
              </a:ext>
            </a:extLst>
          </p:cNvPr>
          <p:cNvGraphicFramePr>
            <a:graphicFrameLocks noGrp="1"/>
          </p:cNvGraphicFramePr>
          <p:nvPr/>
        </p:nvGraphicFramePr>
        <p:xfrm>
          <a:off x="2111375" y="5119688"/>
          <a:ext cx="952500" cy="352425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07797BA1-6C53-734B-8B07-4C2719A99995}"/>
              </a:ext>
            </a:extLst>
          </p:cNvPr>
          <p:cNvGraphicFramePr>
            <a:graphicFrameLocks noGrp="1"/>
          </p:cNvGraphicFramePr>
          <p:nvPr/>
        </p:nvGraphicFramePr>
        <p:xfrm>
          <a:off x="3157538" y="5119688"/>
          <a:ext cx="952500" cy="352425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ED3778C5-0532-5A49-9DC7-1DF21CD81A30}"/>
              </a:ext>
            </a:extLst>
          </p:cNvPr>
          <p:cNvGraphicFramePr>
            <a:graphicFrameLocks noGrp="1"/>
          </p:cNvGraphicFramePr>
          <p:nvPr/>
        </p:nvGraphicFramePr>
        <p:xfrm>
          <a:off x="4295775" y="5105400"/>
          <a:ext cx="876300" cy="352425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8943722D-C2E4-A44E-BE9A-649790D24318}"/>
              </a:ext>
            </a:extLst>
          </p:cNvPr>
          <p:cNvGraphicFramePr>
            <a:graphicFrameLocks noGrp="1"/>
          </p:cNvGraphicFramePr>
          <p:nvPr/>
        </p:nvGraphicFramePr>
        <p:xfrm>
          <a:off x="5334000" y="5091113"/>
          <a:ext cx="876300" cy="352425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CBB9B3BB-6E33-A24E-9F5A-3D34A118CE37}"/>
              </a:ext>
            </a:extLst>
          </p:cNvPr>
          <p:cNvGraphicFramePr>
            <a:graphicFrameLocks noGrp="1"/>
          </p:cNvGraphicFramePr>
          <p:nvPr/>
        </p:nvGraphicFramePr>
        <p:xfrm>
          <a:off x="6413500" y="5099050"/>
          <a:ext cx="847725" cy="381000"/>
        </p:xfrm>
        <a:graphic>
          <a:graphicData uri="http://schemas.openxmlformats.org/drawingml/2006/table">
            <a:tbl>
              <a:tblPr/>
              <a:tblGrid>
                <a:gridCol w="84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L="91487" marR="9148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BF13F36D-FB0D-6347-BFC4-FDE564E072CA}"/>
              </a:ext>
            </a:extLst>
          </p:cNvPr>
          <p:cNvGraphicFramePr>
            <a:graphicFrameLocks noGrp="1"/>
          </p:cNvGraphicFramePr>
          <p:nvPr/>
        </p:nvGraphicFramePr>
        <p:xfrm>
          <a:off x="7399338" y="5091113"/>
          <a:ext cx="811212" cy="3810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L="91470" marR="9147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" name="Slide Number Placeholder 44">
            <a:extLst>
              <a:ext uri="{FF2B5EF4-FFF2-40B4-BE49-F238E27FC236}">
                <a16:creationId xmlns:a16="http://schemas.microsoft.com/office/drawing/2014/main" id="{C36B918B-A5B9-DE43-81C5-B5B7EF2733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175" y="6554788"/>
            <a:ext cx="587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64C3E3A-9197-7148-BB0E-84598B519533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42" name="Footer Placeholder 41">
            <a:extLst>
              <a:ext uri="{FF2B5EF4-FFF2-40B4-BE49-F238E27FC236}">
                <a16:creationId xmlns:a16="http://schemas.microsoft.com/office/drawing/2014/main" id="{025B2304-31E3-8343-B144-B69B35D8E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89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17BCDB-E577-0541-822E-F282ADBF6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6C4967-CC3C-054B-BA51-F982CDD70E6F}"/>
              </a:ext>
            </a:extLst>
          </p:cNvPr>
          <p:cNvSpPr txBox="1">
            <a:spLocks/>
          </p:cNvSpPr>
          <p:nvPr/>
        </p:nvSpPr>
        <p:spPr bwMode="auto">
          <a:xfrm>
            <a:off x="685800" y="0"/>
            <a:ext cx="7239000" cy="517525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400">
                <a:latin typeface="Trebuchet MS" pitchFamily="34" charset="0"/>
              </a:rPr>
              <a:t>Merge Sort Example (Merging process)</a:t>
            </a:r>
            <a:endParaRPr lang="en-US" sz="3400" dirty="0">
              <a:latin typeface="Trebuchet MS" pitchFamily="34" charset="0"/>
            </a:endParaRP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D9F627AF-30CC-FA49-BF0B-D233CFB132F9}"/>
              </a:ext>
            </a:extLst>
          </p:cNvPr>
          <p:cNvGraphicFramePr>
            <a:graphicFrameLocks/>
          </p:cNvGraphicFramePr>
          <p:nvPr/>
        </p:nvGraphicFramePr>
        <p:xfrm>
          <a:off x="98425" y="1295400"/>
          <a:ext cx="8054976" cy="381000"/>
        </p:xfrm>
        <a:graphic>
          <a:graphicData uri="http://schemas.openxmlformats.org/drawingml/2006/table">
            <a:tbl>
              <a:tblPr/>
              <a:tblGrid>
                <a:gridCol w="1006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BAB9B1B-3625-CB40-A41A-C595069F7496}"/>
              </a:ext>
            </a:extLst>
          </p:cNvPr>
          <p:cNvSpPr/>
          <p:nvPr/>
        </p:nvSpPr>
        <p:spPr>
          <a:xfrm>
            <a:off x="2819400" y="566738"/>
            <a:ext cx="2057400" cy="2714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Mergesort</a:t>
            </a:r>
            <a:r>
              <a:rPr lang="en-US" dirty="0">
                <a:solidFill>
                  <a:schemeClr val="tx1"/>
                </a:solidFill>
              </a:rPr>
              <a:t>(a, 8)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32B801-E8DC-C941-8DAC-380BEB81C06C}"/>
              </a:ext>
            </a:extLst>
          </p:cNvPr>
          <p:cNvSpPr/>
          <p:nvPr/>
        </p:nvSpPr>
        <p:spPr>
          <a:xfrm>
            <a:off x="2286000" y="914400"/>
            <a:ext cx="3581400" cy="27622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 a, </a:t>
            </a:r>
            <a:r>
              <a:rPr lang="en-US" dirty="0" err="1">
                <a:solidFill>
                  <a:schemeClr val="tx1"/>
                </a:solidFill>
              </a:rPr>
              <a:t>tmp_array</a:t>
            </a:r>
            <a:r>
              <a:rPr lang="en-US" dirty="0">
                <a:solidFill>
                  <a:schemeClr val="tx1"/>
                </a:solidFill>
              </a:rPr>
              <a:t>, 0, 7 )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0B3070-B931-BC40-B8AB-5DD895DCBBEC}"/>
              </a:ext>
            </a:extLst>
          </p:cNvPr>
          <p:cNvSpPr/>
          <p:nvPr/>
        </p:nvSpPr>
        <p:spPr>
          <a:xfrm>
            <a:off x="0" y="2159000"/>
            <a:ext cx="4038600" cy="271463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 a, </a:t>
            </a:r>
            <a:r>
              <a:rPr lang="en-US" dirty="0" err="1">
                <a:solidFill>
                  <a:schemeClr val="tx1"/>
                </a:solidFill>
              </a:rPr>
              <a:t>tmp_array</a:t>
            </a:r>
            <a:r>
              <a:rPr lang="en-US" dirty="0">
                <a:solidFill>
                  <a:schemeClr val="tx1"/>
                </a:solidFill>
              </a:rPr>
              <a:t>, 0, 3)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7A0527-88DC-6E4A-80B1-A4DF5348EE30}"/>
              </a:ext>
            </a:extLst>
          </p:cNvPr>
          <p:cNvSpPr/>
          <p:nvPr/>
        </p:nvSpPr>
        <p:spPr>
          <a:xfrm>
            <a:off x="4114800" y="2146300"/>
            <a:ext cx="4038600" cy="284163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 a, </a:t>
            </a:r>
            <a:r>
              <a:rPr lang="en-US" dirty="0" err="1">
                <a:solidFill>
                  <a:schemeClr val="tx1"/>
                </a:solidFill>
              </a:rPr>
              <a:t>tmp_array</a:t>
            </a:r>
            <a:r>
              <a:rPr lang="en-US" dirty="0">
                <a:solidFill>
                  <a:schemeClr val="tx1"/>
                </a:solidFill>
              </a:rPr>
              <a:t>, 4, 7)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3FCB41-7441-E04B-AE6F-2AD2D9556BDA}"/>
              </a:ext>
            </a:extLst>
          </p:cNvPr>
          <p:cNvSpPr/>
          <p:nvPr/>
        </p:nvSpPr>
        <p:spPr>
          <a:xfrm>
            <a:off x="42863" y="3468688"/>
            <a:ext cx="1981200" cy="2460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(0, 1)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C48A36-2A15-4442-BC79-CB73156E4704}"/>
              </a:ext>
            </a:extLst>
          </p:cNvPr>
          <p:cNvSpPr/>
          <p:nvPr/>
        </p:nvSpPr>
        <p:spPr>
          <a:xfrm>
            <a:off x="2085975" y="3462338"/>
            <a:ext cx="2057400" cy="25082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(2, 3 )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BB4BA0-F252-6F4C-9236-18A048E20C12}"/>
              </a:ext>
            </a:extLst>
          </p:cNvPr>
          <p:cNvSpPr/>
          <p:nvPr/>
        </p:nvSpPr>
        <p:spPr>
          <a:xfrm>
            <a:off x="4233863" y="3433763"/>
            <a:ext cx="1981200" cy="2714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(4, 5)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90904C-792D-B448-BA16-1F4C771458DD}"/>
              </a:ext>
            </a:extLst>
          </p:cNvPr>
          <p:cNvSpPr/>
          <p:nvPr/>
        </p:nvSpPr>
        <p:spPr>
          <a:xfrm>
            <a:off x="6332538" y="3429000"/>
            <a:ext cx="1905000" cy="274638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(6, 7 )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F081CC-F6FF-5E4A-9189-B77180FB349E}"/>
              </a:ext>
            </a:extLst>
          </p:cNvPr>
          <p:cNvSpPr/>
          <p:nvPr/>
        </p:nvSpPr>
        <p:spPr>
          <a:xfrm>
            <a:off x="2133600" y="1724025"/>
            <a:ext cx="4038600" cy="33337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Merge(a, </a:t>
            </a:r>
            <a:r>
              <a:rPr lang="en-US" dirty="0" err="1">
                <a:solidFill>
                  <a:schemeClr val="tx1"/>
                </a:solidFill>
              </a:rPr>
              <a:t>tmp_array</a:t>
            </a:r>
            <a:r>
              <a:rPr lang="en-US" dirty="0">
                <a:solidFill>
                  <a:schemeClr val="tx1"/>
                </a:solidFill>
              </a:rPr>
              <a:t>,  0, 4, 7 )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75F71A-BBF7-C446-8FFB-68BBCD71EFDB}"/>
              </a:ext>
            </a:extLst>
          </p:cNvPr>
          <p:cNvSpPr/>
          <p:nvPr/>
        </p:nvSpPr>
        <p:spPr>
          <a:xfrm>
            <a:off x="0" y="5284788"/>
            <a:ext cx="1066800" cy="4238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(0,0)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BDB398-5AF3-804E-AEC4-C929876A486E}"/>
              </a:ext>
            </a:extLst>
          </p:cNvPr>
          <p:cNvSpPr/>
          <p:nvPr/>
        </p:nvSpPr>
        <p:spPr>
          <a:xfrm>
            <a:off x="990600" y="5284788"/>
            <a:ext cx="1066800" cy="4238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(1,1)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457BA8-F068-534C-A427-7EAB03A40A78}"/>
              </a:ext>
            </a:extLst>
          </p:cNvPr>
          <p:cNvSpPr/>
          <p:nvPr/>
        </p:nvSpPr>
        <p:spPr>
          <a:xfrm>
            <a:off x="2105025" y="5284788"/>
            <a:ext cx="1066800" cy="4238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(2,2)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2DE71D-D28B-0B4F-A7E1-174ECABD4E28}"/>
              </a:ext>
            </a:extLst>
          </p:cNvPr>
          <p:cNvSpPr/>
          <p:nvPr/>
        </p:nvSpPr>
        <p:spPr>
          <a:xfrm>
            <a:off x="3095625" y="5284788"/>
            <a:ext cx="1066800" cy="4238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(3,3)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7B8881-4C19-DE4B-A61E-F6368210533D}"/>
              </a:ext>
            </a:extLst>
          </p:cNvPr>
          <p:cNvSpPr/>
          <p:nvPr/>
        </p:nvSpPr>
        <p:spPr>
          <a:xfrm>
            <a:off x="4238625" y="5280025"/>
            <a:ext cx="1066800" cy="42227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(4,4)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27D27C3-0825-AD46-A491-B418E5B6FEFD}"/>
              </a:ext>
            </a:extLst>
          </p:cNvPr>
          <p:cNvSpPr/>
          <p:nvPr/>
        </p:nvSpPr>
        <p:spPr>
          <a:xfrm>
            <a:off x="5229225" y="5280025"/>
            <a:ext cx="1066800" cy="42227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(5,5)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24EB88-9C93-7A4D-B880-3AAC24EF732E}"/>
              </a:ext>
            </a:extLst>
          </p:cNvPr>
          <p:cNvSpPr/>
          <p:nvPr/>
        </p:nvSpPr>
        <p:spPr>
          <a:xfrm>
            <a:off x="6345238" y="5280025"/>
            <a:ext cx="1066800" cy="42227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(6,6)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02D16D-19DA-2742-84FD-80E612C38F89}"/>
              </a:ext>
            </a:extLst>
          </p:cNvPr>
          <p:cNvSpPr/>
          <p:nvPr/>
        </p:nvSpPr>
        <p:spPr>
          <a:xfrm>
            <a:off x="7335838" y="5280025"/>
            <a:ext cx="1066800" cy="42227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(7,7)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54E63F-0F2D-EC42-ABAB-A10FDA470499}"/>
              </a:ext>
            </a:extLst>
          </p:cNvPr>
          <p:cNvSpPr/>
          <p:nvPr/>
        </p:nvSpPr>
        <p:spPr>
          <a:xfrm>
            <a:off x="228600" y="4433888"/>
            <a:ext cx="3581400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Merge(a, </a:t>
            </a:r>
            <a:r>
              <a:rPr lang="en-US" dirty="0" err="1">
                <a:solidFill>
                  <a:schemeClr val="tx1"/>
                </a:solidFill>
              </a:rPr>
              <a:t>tmp_array</a:t>
            </a:r>
            <a:r>
              <a:rPr lang="en-US" dirty="0">
                <a:solidFill>
                  <a:schemeClr val="tx1"/>
                </a:solidFill>
              </a:rPr>
              <a:t>,  0, 2, 3 )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FB23436-E549-AC45-A5D2-B79E3D41A402}"/>
              </a:ext>
            </a:extLst>
          </p:cNvPr>
          <p:cNvSpPr/>
          <p:nvPr/>
        </p:nvSpPr>
        <p:spPr>
          <a:xfrm>
            <a:off x="4343400" y="4419600"/>
            <a:ext cx="3581400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Merge(a, </a:t>
            </a:r>
            <a:r>
              <a:rPr lang="en-US" dirty="0" err="1">
                <a:solidFill>
                  <a:schemeClr val="tx1"/>
                </a:solidFill>
              </a:rPr>
              <a:t>tmp_array</a:t>
            </a:r>
            <a:r>
              <a:rPr lang="en-US" dirty="0">
                <a:solidFill>
                  <a:schemeClr val="tx1"/>
                </a:solidFill>
              </a:rPr>
              <a:t>,  4, 6, 7 )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145D0A2-6557-0A48-A4FD-598011EA1B54}"/>
              </a:ext>
            </a:extLst>
          </p:cNvPr>
          <p:cNvSpPr/>
          <p:nvPr/>
        </p:nvSpPr>
        <p:spPr>
          <a:xfrm>
            <a:off x="0" y="5846763"/>
            <a:ext cx="1933575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Merge(0, 1, 1 )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0E7BE9F-5E57-D94E-B83A-5ACE635F526B}"/>
              </a:ext>
            </a:extLst>
          </p:cNvPr>
          <p:cNvSpPr/>
          <p:nvPr/>
        </p:nvSpPr>
        <p:spPr>
          <a:xfrm>
            <a:off x="2181225" y="5861050"/>
            <a:ext cx="1933575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Merge(2, 3, 3 )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65E0666-8CB1-0A48-BDFD-C5726FA9C668}"/>
              </a:ext>
            </a:extLst>
          </p:cNvPr>
          <p:cNvSpPr/>
          <p:nvPr/>
        </p:nvSpPr>
        <p:spPr>
          <a:xfrm>
            <a:off x="4267200" y="5861050"/>
            <a:ext cx="1933575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Merge(4, 5, 5 )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65A4FD3-36C2-6E41-AA45-37B63B43C1BC}"/>
              </a:ext>
            </a:extLst>
          </p:cNvPr>
          <p:cNvSpPr/>
          <p:nvPr/>
        </p:nvSpPr>
        <p:spPr>
          <a:xfrm>
            <a:off x="6372225" y="5861050"/>
            <a:ext cx="1933575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Merge(6, 7, 7 )</a:t>
            </a:r>
          </a:p>
        </p:txBody>
      </p:sp>
      <p:graphicFrame>
        <p:nvGraphicFramePr>
          <p:cNvPr id="28" name="Group 3">
            <a:extLst>
              <a:ext uri="{FF2B5EF4-FFF2-40B4-BE49-F238E27FC236}">
                <a16:creationId xmlns:a16="http://schemas.microsoft.com/office/drawing/2014/main" id="{B1022B5C-E8F9-0444-A248-2EA89B3499DB}"/>
              </a:ext>
            </a:extLst>
          </p:cNvPr>
          <p:cNvGraphicFramePr>
            <a:graphicFrameLocks/>
          </p:cNvGraphicFramePr>
          <p:nvPr/>
        </p:nvGraphicFramePr>
        <p:xfrm>
          <a:off x="73025" y="2532063"/>
          <a:ext cx="3875088" cy="320675"/>
        </p:xfrm>
        <a:graphic>
          <a:graphicData uri="http://schemas.openxmlformats.org/drawingml/2006/table">
            <a:tbl>
              <a:tblPr/>
              <a:tblGrid>
                <a:gridCol w="968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87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7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L="91441" marR="91441"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marL="91441" marR="91441"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L="91441" marR="91441"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L="91441" marR="91441"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Group 3">
            <a:extLst>
              <a:ext uri="{FF2B5EF4-FFF2-40B4-BE49-F238E27FC236}">
                <a16:creationId xmlns:a16="http://schemas.microsoft.com/office/drawing/2014/main" id="{0C882B84-3359-034C-AD28-FB0EE6FFE1DD}"/>
              </a:ext>
            </a:extLst>
          </p:cNvPr>
          <p:cNvGraphicFramePr>
            <a:graphicFrameLocks/>
          </p:cNvGraphicFramePr>
          <p:nvPr/>
        </p:nvGraphicFramePr>
        <p:xfrm>
          <a:off x="4252913" y="2532063"/>
          <a:ext cx="3886200" cy="320675"/>
        </p:xfrm>
        <a:graphic>
          <a:graphicData uri="http://schemas.openxmlformats.org/drawingml/2006/table">
            <a:tbl>
              <a:tblPr/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D02D55DD-D0DE-F94B-BFDC-DA9F136A5217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3068638"/>
          <a:ext cx="1600200" cy="320675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3A7FE2D1-3B91-7340-B95E-9445EAD0D47B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3068638"/>
          <a:ext cx="1905000" cy="320675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6A30D747-9243-6846-AC58-7C1930CE3E00}"/>
              </a:ext>
            </a:extLst>
          </p:cNvPr>
          <p:cNvGraphicFramePr>
            <a:graphicFrameLocks noGrp="1"/>
          </p:cNvGraphicFramePr>
          <p:nvPr/>
        </p:nvGraphicFramePr>
        <p:xfrm>
          <a:off x="4289425" y="3048000"/>
          <a:ext cx="1752600" cy="320675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B5A1D49D-FB94-CB48-9545-964F8C01505E}"/>
              </a:ext>
            </a:extLst>
          </p:cNvPr>
          <p:cNvGraphicFramePr>
            <a:graphicFrameLocks noGrp="1"/>
          </p:cNvGraphicFramePr>
          <p:nvPr/>
        </p:nvGraphicFramePr>
        <p:xfrm>
          <a:off x="6138863" y="3062288"/>
          <a:ext cx="1943100" cy="320675"/>
        </p:xfrm>
        <a:graphic>
          <a:graphicData uri="http://schemas.openxmlformats.org/drawingml/2006/table">
            <a:tbl>
              <a:tblPr/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3FCCEBF5-867E-A143-83F7-D28D3654A2A1}"/>
              </a:ext>
            </a:extLst>
          </p:cNvPr>
          <p:cNvGraphicFramePr>
            <a:graphicFrameLocks noGrp="1"/>
          </p:cNvGraphicFramePr>
          <p:nvPr/>
        </p:nvGraphicFramePr>
        <p:xfrm>
          <a:off x="123825" y="4872038"/>
          <a:ext cx="800100" cy="352425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ED1043B3-1045-224A-A3E8-18E5BD209974}"/>
              </a:ext>
            </a:extLst>
          </p:cNvPr>
          <p:cNvGraphicFramePr>
            <a:graphicFrameLocks noGrp="1"/>
          </p:cNvGraphicFramePr>
          <p:nvPr/>
        </p:nvGraphicFramePr>
        <p:xfrm>
          <a:off x="1076325" y="4872038"/>
          <a:ext cx="800100" cy="352425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31D6E912-AD67-8A4B-863F-BDE067B35FA5}"/>
              </a:ext>
            </a:extLst>
          </p:cNvPr>
          <p:cNvGraphicFramePr>
            <a:graphicFrameLocks noGrp="1"/>
          </p:cNvGraphicFramePr>
          <p:nvPr/>
        </p:nvGraphicFramePr>
        <p:xfrm>
          <a:off x="2111375" y="4857750"/>
          <a:ext cx="952500" cy="352425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BD9E27BE-EA34-B74E-B809-6214AA79BA5C}"/>
              </a:ext>
            </a:extLst>
          </p:cNvPr>
          <p:cNvGraphicFramePr>
            <a:graphicFrameLocks noGrp="1"/>
          </p:cNvGraphicFramePr>
          <p:nvPr/>
        </p:nvGraphicFramePr>
        <p:xfrm>
          <a:off x="3157538" y="4857750"/>
          <a:ext cx="952500" cy="352425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A0BDF268-033E-474E-BE39-FB42BDC5BD51}"/>
              </a:ext>
            </a:extLst>
          </p:cNvPr>
          <p:cNvGraphicFramePr>
            <a:graphicFrameLocks noGrp="1"/>
          </p:cNvGraphicFramePr>
          <p:nvPr/>
        </p:nvGraphicFramePr>
        <p:xfrm>
          <a:off x="4295775" y="4843463"/>
          <a:ext cx="876300" cy="352425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AFB03065-6088-9C47-B61B-D337A64B5575}"/>
              </a:ext>
            </a:extLst>
          </p:cNvPr>
          <p:cNvGraphicFramePr>
            <a:graphicFrameLocks noGrp="1"/>
          </p:cNvGraphicFramePr>
          <p:nvPr/>
        </p:nvGraphicFramePr>
        <p:xfrm>
          <a:off x="5334000" y="4829175"/>
          <a:ext cx="876300" cy="352425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50E980AA-1BA8-414D-A0D4-3CF67C52FA86}"/>
              </a:ext>
            </a:extLst>
          </p:cNvPr>
          <p:cNvGraphicFramePr>
            <a:graphicFrameLocks noGrp="1"/>
          </p:cNvGraphicFramePr>
          <p:nvPr/>
        </p:nvGraphicFramePr>
        <p:xfrm>
          <a:off x="6413500" y="4837113"/>
          <a:ext cx="847725" cy="381000"/>
        </p:xfrm>
        <a:graphic>
          <a:graphicData uri="http://schemas.openxmlformats.org/drawingml/2006/table">
            <a:tbl>
              <a:tblPr/>
              <a:tblGrid>
                <a:gridCol w="84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L="91487" marR="9148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D7E9129F-750F-254F-A92F-90409300C1B3}"/>
              </a:ext>
            </a:extLst>
          </p:cNvPr>
          <p:cNvGraphicFramePr>
            <a:graphicFrameLocks noGrp="1"/>
          </p:cNvGraphicFramePr>
          <p:nvPr/>
        </p:nvGraphicFramePr>
        <p:xfrm>
          <a:off x="7399338" y="4829175"/>
          <a:ext cx="811212" cy="3810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L="91470" marR="9147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55F5A9F9-04A3-9446-8F4D-2550D69D81D2}"/>
              </a:ext>
            </a:extLst>
          </p:cNvPr>
          <p:cNvGraphicFramePr>
            <a:graphicFrameLocks noGrp="1"/>
          </p:cNvGraphicFramePr>
          <p:nvPr/>
        </p:nvGraphicFramePr>
        <p:xfrm>
          <a:off x="76200" y="6384925"/>
          <a:ext cx="1600200" cy="320675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48897F68-71D1-A844-9F85-04C0800A47B7}"/>
              </a:ext>
            </a:extLst>
          </p:cNvPr>
          <p:cNvGraphicFramePr>
            <a:graphicFrameLocks noGrp="1"/>
          </p:cNvGraphicFramePr>
          <p:nvPr/>
        </p:nvGraphicFramePr>
        <p:xfrm>
          <a:off x="2209800" y="6400800"/>
          <a:ext cx="1905000" cy="320675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" name="Group 3">
            <a:extLst>
              <a:ext uri="{FF2B5EF4-FFF2-40B4-BE49-F238E27FC236}">
                <a16:creationId xmlns:a16="http://schemas.microsoft.com/office/drawing/2014/main" id="{BADA37E5-77A0-4646-8B10-3300DE2E8279}"/>
              </a:ext>
            </a:extLst>
          </p:cNvPr>
          <p:cNvGraphicFramePr>
            <a:graphicFrameLocks/>
          </p:cNvGraphicFramePr>
          <p:nvPr/>
        </p:nvGraphicFramePr>
        <p:xfrm>
          <a:off x="152400" y="3981450"/>
          <a:ext cx="3875088" cy="320675"/>
        </p:xfrm>
        <a:graphic>
          <a:graphicData uri="http://schemas.openxmlformats.org/drawingml/2006/table">
            <a:tbl>
              <a:tblPr/>
              <a:tblGrid>
                <a:gridCol w="968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87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7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L="91441" marR="91441"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marL="91441" marR="91441"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L="91441" marR="91441"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L="91441" marR="91441"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5" name="Group 3">
            <a:extLst>
              <a:ext uri="{FF2B5EF4-FFF2-40B4-BE49-F238E27FC236}">
                <a16:creationId xmlns:a16="http://schemas.microsoft.com/office/drawing/2014/main" id="{225BF5B1-8EA4-4C46-B6CA-7F6D2EC155DB}"/>
              </a:ext>
            </a:extLst>
          </p:cNvPr>
          <p:cNvGraphicFramePr>
            <a:graphicFrameLocks/>
          </p:cNvGraphicFramePr>
          <p:nvPr/>
        </p:nvGraphicFramePr>
        <p:xfrm>
          <a:off x="4267200" y="3960813"/>
          <a:ext cx="3886200" cy="320675"/>
        </p:xfrm>
        <a:graphic>
          <a:graphicData uri="http://schemas.openxmlformats.org/drawingml/2006/table">
            <a:tbl>
              <a:tblPr/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8AA6F7CF-E38F-5F41-B2ED-CC80209C37E4}"/>
              </a:ext>
            </a:extLst>
          </p:cNvPr>
          <p:cNvGraphicFramePr>
            <a:graphicFrameLocks noGrp="1"/>
          </p:cNvGraphicFramePr>
          <p:nvPr/>
        </p:nvGraphicFramePr>
        <p:xfrm>
          <a:off x="4267200" y="6384925"/>
          <a:ext cx="1752600" cy="320675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DE00B219-BB28-8246-B628-9A49E9F0D4BF}"/>
              </a:ext>
            </a:extLst>
          </p:cNvPr>
          <p:cNvGraphicFramePr>
            <a:graphicFrameLocks noGrp="1"/>
          </p:cNvGraphicFramePr>
          <p:nvPr/>
        </p:nvGraphicFramePr>
        <p:xfrm>
          <a:off x="6116638" y="6372225"/>
          <a:ext cx="1943100" cy="320675"/>
        </p:xfrm>
        <a:graphic>
          <a:graphicData uri="http://schemas.openxmlformats.org/drawingml/2006/table">
            <a:tbl>
              <a:tblPr/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Group 3">
            <a:extLst>
              <a:ext uri="{FF2B5EF4-FFF2-40B4-BE49-F238E27FC236}">
                <a16:creationId xmlns:a16="http://schemas.microsoft.com/office/drawing/2014/main" id="{A2F88529-5501-834C-B22B-7D8FE3DBCEC9}"/>
              </a:ext>
            </a:extLst>
          </p:cNvPr>
          <p:cNvGraphicFramePr>
            <a:graphicFrameLocks/>
          </p:cNvGraphicFramePr>
          <p:nvPr/>
        </p:nvGraphicFramePr>
        <p:xfrm>
          <a:off x="76200" y="1316038"/>
          <a:ext cx="8054976" cy="381000"/>
        </p:xfrm>
        <a:graphic>
          <a:graphicData uri="http://schemas.openxmlformats.org/drawingml/2006/table">
            <a:tbl>
              <a:tblPr/>
              <a:tblGrid>
                <a:gridCol w="1006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B268A86-BDF5-D447-928F-4FB4A436E39B}"/>
              </a:ext>
            </a:extLst>
          </p:cNvPr>
          <p:cNvCxnSpPr/>
          <p:nvPr/>
        </p:nvCxnSpPr>
        <p:spPr>
          <a:xfrm rot="16200000" flipV="1">
            <a:off x="114300" y="4305300"/>
            <a:ext cx="152400" cy="762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81A3AC8-8C8A-B743-B9E8-BAC0BC113FE7}"/>
              </a:ext>
            </a:extLst>
          </p:cNvPr>
          <p:cNvCxnSpPr/>
          <p:nvPr/>
        </p:nvCxnSpPr>
        <p:spPr>
          <a:xfrm flipV="1">
            <a:off x="3810000" y="4267200"/>
            <a:ext cx="228600" cy="1524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D284E81-E3D7-7942-A249-D6D26189CF74}"/>
              </a:ext>
            </a:extLst>
          </p:cNvPr>
          <p:cNvCxnSpPr/>
          <p:nvPr/>
        </p:nvCxnSpPr>
        <p:spPr>
          <a:xfrm rot="16200000" flipV="1">
            <a:off x="4229100" y="4305300"/>
            <a:ext cx="152400" cy="762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B407CEF-6D23-7943-A4B4-47D2DFB0F510}"/>
              </a:ext>
            </a:extLst>
          </p:cNvPr>
          <p:cNvCxnSpPr/>
          <p:nvPr/>
        </p:nvCxnSpPr>
        <p:spPr>
          <a:xfrm flipV="1">
            <a:off x="7924800" y="4267200"/>
            <a:ext cx="228600" cy="1524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9FCDF92-CE0B-FC45-81AD-5CAF3D4A192A}"/>
              </a:ext>
            </a:extLst>
          </p:cNvPr>
          <p:cNvCxnSpPr/>
          <p:nvPr/>
        </p:nvCxnSpPr>
        <p:spPr>
          <a:xfrm rot="10800000">
            <a:off x="76200" y="1676400"/>
            <a:ext cx="2057400" cy="3810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BA8C1CC-38C5-3940-A0BB-5078CA1661F6}"/>
              </a:ext>
            </a:extLst>
          </p:cNvPr>
          <p:cNvCxnSpPr/>
          <p:nvPr/>
        </p:nvCxnSpPr>
        <p:spPr>
          <a:xfrm flipV="1">
            <a:off x="6172200" y="1676400"/>
            <a:ext cx="1981200" cy="3810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ooter Placeholder 68">
            <a:extLst>
              <a:ext uri="{FF2B5EF4-FFF2-40B4-BE49-F238E27FC236}">
                <a16:creationId xmlns:a16="http://schemas.microsoft.com/office/drawing/2014/main" id="{CB147076-19EA-5C40-982E-77B3FD4BC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5138" y="6556375"/>
            <a:ext cx="2895600" cy="228600"/>
          </a:xfrm>
        </p:spPr>
        <p:txBody>
          <a:bodyPr/>
          <a:lstStyle/>
          <a:p>
            <a:pPr>
              <a:defRPr/>
            </a:pPr>
            <a:r>
              <a:rPr lang="en-US"/>
              <a:t>Dr. Zubair Ahmad</a:t>
            </a:r>
          </a:p>
        </p:txBody>
      </p:sp>
      <p:sp>
        <p:nvSpPr>
          <p:cNvPr id="56" name="Slide Number Placeholder 69">
            <a:extLst>
              <a:ext uri="{FF2B5EF4-FFF2-40B4-BE49-F238E27FC236}">
                <a16:creationId xmlns:a16="http://schemas.microsoft.com/office/drawing/2014/main" id="{FB13B27B-8127-4D4E-A722-89F7444C3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175" y="6554788"/>
            <a:ext cx="587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63835DE-A937-804E-8AB8-F8580F15BA0B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2603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341D8D-B9A8-FE4A-97DB-404E9C973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98211B-C81F-5242-A206-ACB93202EDF3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Merge Sort : Example</a:t>
            </a:r>
          </a:p>
        </p:txBody>
      </p:sp>
      <p:graphicFrame>
        <p:nvGraphicFramePr>
          <p:cNvPr id="13" name="Group 3">
            <a:extLst>
              <a:ext uri="{FF2B5EF4-FFF2-40B4-BE49-F238E27FC236}">
                <a16:creationId xmlns:a16="http://schemas.microsoft.com/office/drawing/2014/main" id="{2805C4A3-62EC-AB4D-8398-3219A1917E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8645879"/>
              </p:ext>
            </p:extLst>
          </p:nvPr>
        </p:nvGraphicFramePr>
        <p:xfrm>
          <a:off x="925512" y="2378337"/>
          <a:ext cx="8054973" cy="381000"/>
        </p:xfrm>
        <a:graphic>
          <a:graphicData uri="http://schemas.openxmlformats.org/drawingml/2006/table">
            <a:tbl>
              <a:tblPr/>
              <a:tblGrid>
                <a:gridCol w="894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4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49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49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49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49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49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49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94997">
                  <a:extLst>
                    <a:ext uri="{9D8B030D-6E8A-4147-A177-3AD203B41FA5}">
                      <a16:colId xmlns:a16="http://schemas.microsoft.com/office/drawing/2014/main" val="17972871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70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80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85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8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28A01D2-233F-754D-92A4-EDC61C56C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175" y="6554788"/>
            <a:ext cx="587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5A0EB62-AC2B-124D-A80D-A5D4DD5875C7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DE80817-D382-D141-8ACE-DDA876987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637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114796" y="177016"/>
            <a:ext cx="88191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600" i="1" dirty="0">
                <a:solidFill>
                  <a:prstClr val="black"/>
                </a:solidFill>
                <a:cs typeface="Calibri" panose="020F0502020204030204" pitchFamily="34" charset="0"/>
              </a:rPr>
              <a:t> </a:t>
            </a:r>
            <a:r>
              <a:rPr lang="en-US" altLang="zh-CN" sz="3600" i="1" dirty="0">
                <a:ea typeface="Adobe Gothic Std B" pitchFamily="34" charset="-128"/>
                <a:cs typeface="Calibri" panose="020F0502020204030204" pitchFamily="34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460456" y="6394451"/>
            <a:ext cx="2228850" cy="365125"/>
          </a:xfrm>
        </p:spPr>
        <p:txBody>
          <a:bodyPr/>
          <a:lstStyle/>
          <a:p>
            <a:fld id="{48758AAF-F958-4141-BDE8-5609689A4508}" type="slidenum">
              <a:rPr lang="zh-CN" altLang="en-US" sz="20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16</a:t>
            </a:fld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B50F3C67-F206-0644-9881-E95BE68F9B62}"/>
              </a:ext>
            </a:extLst>
          </p:cNvPr>
          <p:cNvSpPr/>
          <p:nvPr/>
        </p:nvSpPr>
        <p:spPr>
          <a:xfrm>
            <a:off x="704879" y="2383536"/>
            <a:ext cx="7870002" cy="59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                   </a:t>
            </a:r>
            <a:r>
              <a:rPr lang="en-US" altLang="zh-CN" sz="28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Questions?</a:t>
            </a:r>
            <a:r>
              <a:rPr lang="en-US" altLang="zh-CN" sz="2800" b="1" dirty="0"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64398696-03BA-0540-B525-6DD16F72E4B0}"/>
              </a:ext>
            </a:extLst>
          </p:cNvPr>
          <p:cNvSpPr/>
          <p:nvPr/>
        </p:nvSpPr>
        <p:spPr>
          <a:xfrm>
            <a:off x="704879" y="3813978"/>
            <a:ext cx="7870002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accent5"/>
                </a:solidFill>
                <a:cs typeface="Times New Roman" panose="02020603050405020304" pitchFamily="18" charset="0"/>
              </a:rPr>
              <a:t>zahmaad.github.io</a:t>
            </a: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D97E5A-6D83-EC4A-8067-BFBDA53CC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76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42302</TotalTime>
  <Words>1627</Words>
  <Application>Microsoft Macintosh PowerPoint</Application>
  <PresentationFormat>A4 Paper (210x297 mm)</PresentationFormat>
  <Paragraphs>360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Adobe Gothic Std B</vt:lpstr>
      <vt:lpstr>等线</vt:lpstr>
      <vt:lpstr>等线</vt:lpstr>
      <vt:lpstr>等线 Light</vt:lpstr>
      <vt:lpstr>SimSun</vt:lpstr>
      <vt:lpstr>Arial</vt:lpstr>
      <vt:lpstr>Calibri</vt:lpstr>
      <vt:lpstr>Times New Roman</vt:lpstr>
      <vt:lpstr>Trebuchet MS</vt:lpstr>
      <vt:lpstr>Wingdings 2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China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Microsoft Office User</cp:lastModifiedBy>
  <cp:revision>817</cp:revision>
  <cp:lastPrinted>2025-03-21T05:20:48Z</cp:lastPrinted>
  <dcterms:created xsi:type="dcterms:W3CDTF">2018-07-17T04:46:00Z</dcterms:created>
  <dcterms:modified xsi:type="dcterms:W3CDTF">2025-11-10T06:09:45Z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2052-11.1.0.8567</vt:lpwstr>
  </property>
</Properties>
</file>
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80" r:id="rId2"/>
    <p:sldId id="687" r:id="rId3"/>
    <p:sldId id="688" r:id="rId4"/>
    <p:sldId id="689" r:id="rId5"/>
    <p:sldId id="690" r:id="rId6"/>
    <p:sldId id="691" r:id="rId7"/>
    <p:sldId id="692" r:id="rId8"/>
    <p:sldId id="693" r:id="rId9"/>
    <p:sldId id="694" r:id="rId10"/>
    <p:sldId id="695" r:id="rId11"/>
    <p:sldId id="696" r:id="rId12"/>
    <p:sldId id="697" r:id="rId13"/>
    <p:sldId id="698" r:id="rId14"/>
    <p:sldId id="699" r:id="rId15"/>
    <p:sldId id="700" r:id="rId16"/>
    <p:sldId id="701" r:id="rId17"/>
    <p:sldId id="702" r:id="rId18"/>
    <p:sldId id="703" r:id="rId19"/>
    <p:sldId id="704" r:id="rId20"/>
    <p:sldId id="372" r:id="rId21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Counting and Radix Sort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554117" y="1331009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BA2C5-4D4B-9F4D-BB47-2CC49752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C63DB-80E2-2043-90B4-859F8E340C87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Counting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AE48D-6344-F740-AC7B-B8360CDB28EF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72390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Suppose that there are </a:t>
            </a:r>
            <a:r>
              <a:rPr lang="en-US" altLang="en-US" sz="2400" dirty="0">
                <a:solidFill>
                  <a:srgbClr val="0000CC"/>
                </a:solidFill>
              </a:rPr>
              <a:t>N</a:t>
            </a:r>
            <a:r>
              <a:rPr lang="en-US" altLang="en-US" sz="2400" dirty="0"/>
              <a:t> integers to be sorted, </a:t>
            </a:r>
            <a:r>
              <a:rPr lang="en-US" altLang="en-US" sz="2400" dirty="0">
                <a:solidFill>
                  <a:srgbClr val="0000CC"/>
                </a:solidFill>
              </a:rPr>
              <a:t>A[1…N], </a:t>
            </a:r>
            <a:r>
              <a:rPr lang="en-US" altLang="en-US" sz="2400" dirty="0"/>
              <a:t>such that the range of the integers is from</a:t>
            </a:r>
            <a:r>
              <a:rPr lang="en-US" altLang="en-US" sz="2400" dirty="0">
                <a:solidFill>
                  <a:srgbClr val="0000CC"/>
                </a:solidFill>
              </a:rPr>
              <a:t> 1 </a:t>
            </a:r>
            <a:r>
              <a:rPr lang="en-US" altLang="en-US" sz="2400" dirty="0"/>
              <a:t>to</a:t>
            </a:r>
            <a:r>
              <a:rPr lang="en-US" altLang="en-US" sz="2400" dirty="0">
                <a:solidFill>
                  <a:srgbClr val="0000CC"/>
                </a:solidFill>
              </a:rPr>
              <a:t> M</a:t>
            </a:r>
          </a:p>
          <a:p>
            <a:r>
              <a:rPr lang="en-US" altLang="en-US" sz="2400" dirty="0"/>
              <a:t>Start by defining an array </a:t>
            </a:r>
            <a:r>
              <a:rPr lang="en-US" altLang="en-US" sz="2400" dirty="0">
                <a:solidFill>
                  <a:srgbClr val="0000CC"/>
                </a:solidFill>
              </a:rPr>
              <a:t>B[1…M]</a:t>
            </a:r>
            <a:r>
              <a:rPr lang="en-US" altLang="en-US" sz="2400" dirty="0"/>
              <a:t> and initializing all its elements to </a:t>
            </a:r>
            <a:r>
              <a:rPr lang="en-US" altLang="en-US" sz="2400" dirty="0">
                <a:solidFill>
                  <a:srgbClr val="0000CC"/>
                </a:solidFill>
              </a:rPr>
              <a:t>0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Scan through </a:t>
            </a:r>
            <a:r>
              <a:rPr lang="en-US" altLang="en-US" sz="2400" dirty="0">
                <a:solidFill>
                  <a:srgbClr val="0000CC"/>
                </a:solidFill>
              </a:rPr>
              <a:t>A[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], for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2400" dirty="0">
                <a:solidFill>
                  <a:srgbClr val="0000CC"/>
                </a:solidFill>
              </a:rPr>
              <a:t> = 1,…,N,</a:t>
            </a:r>
            <a:r>
              <a:rPr lang="en-US" altLang="en-US" sz="2400" dirty="0"/>
              <a:t> and copy each  </a:t>
            </a:r>
            <a:r>
              <a:rPr lang="en-US" altLang="en-US" sz="2400" dirty="0">
                <a:solidFill>
                  <a:srgbClr val="0000CC"/>
                </a:solidFill>
              </a:rPr>
              <a:t>A[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] </a:t>
            </a:r>
            <a:r>
              <a:rPr lang="en-US" altLang="en-US" sz="2400" dirty="0"/>
              <a:t>into </a:t>
            </a:r>
            <a:r>
              <a:rPr lang="en-US" altLang="en-US" sz="2400" dirty="0">
                <a:solidFill>
                  <a:srgbClr val="0000CC"/>
                </a:solidFill>
              </a:rPr>
              <a:t>B[ A[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] ]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Scan through </a:t>
            </a:r>
            <a:r>
              <a:rPr lang="en-US" altLang="en-US" sz="2400" dirty="0">
                <a:solidFill>
                  <a:srgbClr val="0000CC"/>
                </a:solidFill>
              </a:rPr>
              <a:t>B[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], for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2400" dirty="0">
                <a:solidFill>
                  <a:srgbClr val="0000CC"/>
                </a:solidFill>
              </a:rPr>
              <a:t> = 1,…,M</a:t>
            </a:r>
            <a:r>
              <a:rPr lang="en-US" altLang="en-US" sz="2400" dirty="0"/>
              <a:t> , and retrieve all the non-zero elements of </a:t>
            </a:r>
            <a:r>
              <a:rPr lang="en-US" altLang="en-US" sz="2400" dirty="0">
                <a:solidFill>
                  <a:srgbClr val="0000CC"/>
                </a:solidFill>
              </a:rPr>
              <a:t>B[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i</a:t>
            </a:r>
            <a:r>
              <a:rPr lang="en-US" altLang="en-US" sz="500" dirty="0">
                <a:solidFill>
                  <a:srgbClr val="0000CC"/>
                </a:solidFill>
              </a:rPr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]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Example 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Sort  5 7 9 2 4 6 1</a:t>
            </a:r>
          </a:p>
        </p:txBody>
      </p:sp>
    </p:spTree>
    <p:extLst>
      <p:ext uri="{BB962C8B-B14F-4D97-AF65-F5344CB8AC3E}">
        <p14:creationId xmlns:p14="http://schemas.microsoft.com/office/powerpoint/2010/main" val="74267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BCF9C2-4CE2-3940-ABD7-CAA06108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1D80D-D0AA-9741-8DD6-384FBC74DBEB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Counting Sort</a:t>
            </a:r>
            <a:endParaRPr lang="en-US" dirty="0"/>
          </a:p>
        </p:txBody>
      </p:sp>
      <p:graphicFrame>
        <p:nvGraphicFramePr>
          <p:cNvPr id="4" name="Group 101">
            <a:extLst>
              <a:ext uri="{FF2B5EF4-FFF2-40B4-BE49-F238E27FC236}">
                <a16:creationId xmlns:a16="http://schemas.microsoft.com/office/drawing/2014/main" id="{0C5F2445-25BB-644E-84F9-D5F255A078A1}"/>
              </a:ext>
            </a:extLst>
          </p:cNvPr>
          <p:cNvGraphicFramePr>
            <a:graphicFrameLocks/>
          </p:cNvGraphicFramePr>
          <p:nvPr/>
        </p:nvGraphicFramePr>
        <p:xfrm>
          <a:off x="382588" y="838200"/>
          <a:ext cx="4237040" cy="523875"/>
        </p:xfrm>
        <a:graphic>
          <a:graphicData uri="http://schemas.openxmlformats.org/drawingml/2006/table">
            <a:tbl>
              <a:tblPr/>
              <a:tblGrid>
                <a:gridCol w="60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31">
            <a:extLst>
              <a:ext uri="{FF2B5EF4-FFF2-40B4-BE49-F238E27FC236}">
                <a16:creationId xmlns:a16="http://schemas.microsoft.com/office/drawing/2014/main" id="{C6E8406F-AAB6-1E4A-BF96-40A211FE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31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Text Box 50">
            <a:extLst>
              <a:ext uri="{FF2B5EF4-FFF2-40B4-BE49-F238E27FC236}">
                <a16:creationId xmlns:a16="http://schemas.microsoft.com/office/drawing/2014/main" id="{04068031-BEFA-7340-84F8-2D3FF80B5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8" y="15478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B</a:t>
            </a: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00C980CF-112D-1246-A130-2CCB6D22CB20}"/>
              </a:ext>
            </a:extLst>
          </p:cNvPr>
          <p:cNvGraphicFramePr>
            <a:graphicFrameLocks/>
          </p:cNvGraphicFramePr>
          <p:nvPr/>
        </p:nvGraphicFramePr>
        <p:xfrm>
          <a:off x="382588" y="15478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DEDDC21C-1C1D-9947-98F7-8C8311A422B7}"/>
              </a:ext>
            </a:extLst>
          </p:cNvPr>
          <p:cNvGraphicFramePr>
            <a:graphicFrameLocks/>
          </p:cNvGraphicFramePr>
          <p:nvPr/>
        </p:nvGraphicFramePr>
        <p:xfrm>
          <a:off x="387350" y="2220913"/>
          <a:ext cx="6091242" cy="457200"/>
        </p:xfrm>
        <a:graphic>
          <a:graphicData uri="http://schemas.openxmlformats.org/drawingml/2006/table">
            <a:tbl>
              <a:tblPr/>
              <a:tblGrid>
                <a:gridCol w="608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92">
            <a:extLst>
              <a:ext uri="{FF2B5EF4-FFF2-40B4-BE49-F238E27FC236}">
                <a16:creationId xmlns:a16="http://schemas.microsoft.com/office/drawing/2014/main" id="{EF0862A8-2EEE-1143-87D3-C9EB6104059D}"/>
              </a:ext>
            </a:extLst>
          </p:cNvPr>
          <p:cNvGraphicFramePr>
            <a:graphicFrameLocks/>
          </p:cNvGraphicFramePr>
          <p:nvPr/>
        </p:nvGraphicFramePr>
        <p:xfrm>
          <a:off x="401638" y="29067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92">
            <a:extLst>
              <a:ext uri="{FF2B5EF4-FFF2-40B4-BE49-F238E27FC236}">
                <a16:creationId xmlns:a16="http://schemas.microsoft.com/office/drawing/2014/main" id="{4EB3626A-0284-7245-A419-509B1A27157B}"/>
              </a:ext>
            </a:extLst>
          </p:cNvPr>
          <p:cNvGraphicFramePr>
            <a:graphicFrameLocks/>
          </p:cNvGraphicFramePr>
          <p:nvPr/>
        </p:nvGraphicFramePr>
        <p:xfrm>
          <a:off x="401638" y="35925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92">
            <a:extLst>
              <a:ext uri="{FF2B5EF4-FFF2-40B4-BE49-F238E27FC236}">
                <a16:creationId xmlns:a16="http://schemas.microsoft.com/office/drawing/2014/main" id="{F41576D9-56ED-0C45-906E-F68D87ACD0D9}"/>
              </a:ext>
            </a:extLst>
          </p:cNvPr>
          <p:cNvGraphicFramePr>
            <a:graphicFrameLocks/>
          </p:cNvGraphicFramePr>
          <p:nvPr/>
        </p:nvGraphicFramePr>
        <p:xfrm>
          <a:off x="401638" y="42783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roup 92">
            <a:extLst>
              <a:ext uri="{FF2B5EF4-FFF2-40B4-BE49-F238E27FC236}">
                <a16:creationId xmlns:a16="http://schemas.microsoft.com/office/drawing/2014/main" id="{95D12D49-2A99-B348-96C4-46E3B1519E8F}"/>
              </a:ext>
            </a:extLst>
          </p:cNvPr>
          <p:cNvGraphicFramePr>
            <a:graphicFrameLocks/>
          </p:cNvGraphicFramePr>
          <p:nvPr/>
        </p:nvGraphicFramePr>
        <p:xfrm>
          <a:off x="401638" y="48879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Group 92">
            <a:extLst>
              <a:ext uri="{FF2B5EF4-FFF2-40B4-BE49-F238E27FC236}">
                <a16:creationId xmlns:a16="http://schemas.microsoft.com/office/drawing/2014/main" id="{C623D32F-A375-EA42-82A1-BE6F8B93AC6A}"/>
              </a:ext>
            </a:extLst>
          </p:cNvPr>
          <p:cNvGraphicFramePr>
            <a:graphicFrameLocks/>
          </p:cNvGraphicFramePr>
          <p:nvPr/>
        </p:nvGraphicFramePr>
        <p:xfrm>
          <a:off x="401638" y="5561013"/>
          <a:ext cx="6091238" cy="457200"/>
        </p:xfrm>
        <a:graphic>
          <a:graphicData uri="http://schemas.openxmlformats.org/drawingml/2006/table">
            <a:tbl>
              <a:tblPr/>
              <a:tblGrid>
                <a:gridCol w="60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82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E3DA1F12-54A1-2544-8D0C-9D25C0DB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1425575"/>
            <a:ext cx="1822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A[</a:t>
            </a:r>
            <a:r>
              <a:rPr lang="en-US" altLang="en-US" sz="300" b="1">
                <a:solidFill>
                  <a:srgbClr val="FF0000"/>
                </a:solidFill>
              </a:rPr>
              <a:t>  </a:t>
            </a:r>
            <a:r>
              <a:rPr lang="en-US" altLang="en-US" b="1">
                <a:solidFill>
                  <a:srgbClr val="FF0000"/>
                </a:solidFill>
              </a:rPr>
              <a:t>0</a:t>
            </a:r>
            <a:r>
              <a:rPr lang="en-US" altLang="en-US" sz="300" b="1">
                <a:solidFill>
                  <a:srgbClr val="FF0000"/>
                </a:solidFill>
              </a:rPr>
              <a:t> </a:t>
            </a:r>
            <a:r>
              <a:rPr lang="en-US" altLang="en-US" b="1">
                <a:solidFill>
                  <a:srgbClr val="FF0000"/>
                </a:solidFill>
              </a:rPr>
              <a:t>] ] = A[</a:t>
            </a:r>
            <a:r>
              <a:rPr lang="en-US" altLang="en-US" sz="300" b="1">
                <a:solidFill>
                  <a:srgbClr val="FF0000"/>
                </a:solidFill>
              </a:rPr>
              <a:t> </a:t>
            </a:r>
            <a:r>
              <a:rPr lang="en-US" altLang="en-US" b="1">
                <a:solidFill>
                  <a:srgbClr val="FF0000"/>
                </a:solidFill>
              </a:rPr>
              <a:t>0</a:t>
            </a:r>
            <a:r>
              <a:rPr lang="en-US" altLang="en-US" sz="300" b="1">
                <a:solidFill>
                  <a:srgbClr val="FF0000"/>
                </a:solidFill>
              </a:rPr>
              <a:t> </a:t>
            </a:r>
            <a:r>
              <a:rPr lang="en-US" altLang="en-US" b="1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2AD5A1-8F49-7F48-8F24-A8F4477E1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1708150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B[ 5 ] =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CD479F-8951-3649-A1F2-C219DBB3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450" y="1008063"/>
            <a:ext cx="1703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B[ A[</a:t>
            </a:r>
            <a:r>
              <a:rPr lang="en-US" altLang="en-US" sz="300" b="1">
                <a:solidFill>
                  <a:srgbClr val="0000CC"/>
                </a:solidFill>
              </a:rPr>
              <a:t>  </a:t>
            </a:r>
            <a:r>
              <a:rPr lang="en-US" altLang="en-US" b="1">
                <a:solidFill>
                  <a:srgbClr val="0000CC"/>
                </a:solidFill>
              </a:rPr>
              <a:t>i</a:t>
            </a:r>
            <a:r>
              <a:rPr lang="en-US" altLang="en-US" sz="300" b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] ] = A[</a:t>
            </a:r>
            <a:r>
              <a:rPr lang="en-US" altLang="en-US" sz="300" b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i</a:t>
            </a:r>
            <a:r>
              <a:rPr lang="en-US" altLang="en-US" sz="300" b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5CDB7A-D623-B54A-9AE9-F6DBB022A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27806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B[ 7 ] = 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9E7E48-81CC-9742-B217-B25D2DC47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298926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B[ 9 ] = 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EB8F19-440A-584A-9C7F-736F8AE26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3660775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B[ 2 ] =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E23A78-4DA2-4D4A-B5A5-9A8A53A74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4346575"/>
            <a:ext cx="1154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B[ 4 ] =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EBAF97-9CB0-5948-A9A6-08F93D892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497046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B[ 6 ] = 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A66846-478C-0F48-8E2C-F6024C188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58006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B[ 1 ] =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44CC58-DB4E-0646-A936-D391D4C0C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6248400"/>
            <a:ext cx="4060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Final Output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00CC"/>
                </a:solidFill>
              </a:rPr>
              <a:t>1 2 4 5 6 7 9 </a:t>
            </a:r>
            <a:r>
              <a:rPr lang="en-US" altLang="en-US" sz="24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622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37E98-31D6-1148-83BF-F4E94C2B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D401146-47E8-7F48-8EA0-D2A2253B891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How to cope up with  duplicates?</a:t>
            </a:r>
          </a:p>
          <a:p>
            <a:r>
              <a:rPr lang="en-US" altLang="en-US" dirty="0"/>
              <a:t>B becomes a an array of pointers, (rather than an array of integers). Each element has a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head pointer (points to the head of a linked list)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tail pointer (points to the tail of the linked list)</a:t>
            </a:r>
          </a:p>
          <a:p>
            <a:r>
              <a:rPr lang="en-US" altLang="en-US" dirty="0"/>
              <a:t>A[j] is added at the tail of the list B[</a:t>
            </a:r>
            <a:r>
              <a:rPr lang="en-US" altLang="en-US" sz="400" dirty="0"/>
              <a:t> </a:t>
            </a:r>
            <a:r>
              <a:rPr lang="en-US" altLang="en-US" dirty="0"/>
              <a:t>A</a:t>
            </a:r>
            <a:r>
              <a:rPr lang="en-US" altLang="en-US" sz="400" dirty="0"/>
              <a:t> </a:t>
            </a:r>
            <a:r>
              <a:rPr lang="en-US" altLang="en-US" dirty="0"/>
              <a:t>[</a:t>
            </a:r>
            <a:r>
              <a:rPr lang="en-US" altLang="en-US" sz="400" dirty="0"/>
              <a:t> </a:t>
            </a:r>
            <a:r>
              <a:rPr lang="en-US" altLang="en-US" dirty="0"/>
              <a:t>j</a:t>
            </a:r>
            <a:r>
              <a:rPr lang="en-US" altLang="en-US" sz="400" dirty="0"/>
              <a:t> </a:t>
            </a:r>
            <a:r>
              <a:rPr lang="en-US" altLang="en-US" dirty="0"/>
              <a:t>]</a:t>
            </a:r>
            <a:r>
              <a:rPr lang="en-US" altLang="en-US" sz="400" dirty="0"/>
              <a:t> </a:t>
            </a:r>
            <a:r>
              <a:rPr lang="en-US" altLang="en-US" dirty="0"/>
              <a:t>]</a:t>
            </a:r>
          </a:p>
          <a:p>
            <a:r>
              <a:rPr lang="en-US" altLang="en-US" dirty="0"/>
              <a:t>Finally, the array B is sequentially traversed and each nonempty list retrieved.</a:t>
            </a:r>
          </a:p>
          <a:p>
            <a:r>
              <a:rPr lang="en-US" altLang="en-US" dirty="0"/>
              <a:t>Complexity: O(M + N)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CA0022-E6FF-964C-AA20-C6D6D412DB5A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Counting Sort</a:t>
            </a:r>
          </a:p>
        </p:txBody>
      </p:sp>
    </p:spTree>
    <p:extLst>
      <p:ext uri="{BB962C8B-B14F-4D97-AF65-F5344CB8AC3E}">
        <p14:creationId xmlns:p14="http://schemas.microsoft.com/office/powerpoint/2010/main" val="71171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1AF0FF-37F6-0F4D-8E09-80793094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200C6-D3E5-FC47-81EB-3060CBE3E23A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Counting Sort – Duplicate keys</a:t>
            </a:r>
            <a:endParaRPr lang="en-US" dirty="0"/>
          </a:p>
        </p:txBody>
      </p:sp>
      <p:graphicFrame>
        <p:nvGraphicFramePr>
          <p:cNvPr id="4" name="Group 101">
            <a:extLst>
              <a:ext uri="{FF2B5EF4-FFF2-40B4-BE49-F238E27FC236}">
                <a16:creationId xmlns:a16="http://schemas.microsoft.com/office/drawing/2014/main" id="{25C5DD45-8668-6843-BB89-88512F0C4B0F}"/>
              </a:ext>
            </a:extLst>
          </p:cNvPr>
          <p:cNvGraphicFramePr>
            <a:graphicFrameLocks/>
          </p:cNvGraphicFramePr>
          <p:nvPr/>
        </p:nvGraphicFramePr>
        <p:xfrm>
          <a:off x="382588" y="1214438"/>
          <a:ext cx="6994525" cy="523875"/>
        </p:xfrm>
        <a:graphic>
          <a:graphicData uri="http://schemas.openxmlformats.org/drawingml/2006/table">
            <a:tbl>
              <a:tblPr/>
              <a:tblGrid>
                <a:gridCol w="699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96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31">
            <a:extLst>
              <a:ext uri="{FF2B5EF4-FFF2-40B4-BE49-F238E27FC236}">
                <a16:creationId xmlns:a16="http://schemas.microsoft.com/office/drawing/2014/main" id="{F164F7C9-5164-784C-992D-44DC520E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4936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Text Box 50">
            <a:extLst>
              <a:ext uri="{FF2B5EF4-FFF2-40B4-BE49-F238E27FC236}">
                <a16:creationId xmlns:a16="http://schemas.microsoft.com/office/drawing/2014/main" id="{C1ACC84A-A631-C34D-92A6-69ED8263B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8" y="21542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7C79C-4F21-614A-AE6E-6C12A1DFC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4795838"/>
            <a:ext cx="5002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Final Output</a:t>
            </a:r>
            <a:r>
              <a:rPr lang="en-US" altLang="en-US" sz="2400" b="1"/>
              <a:t>: </a:t>
            </a:r>
            <a:r>
              <a:rPr lang="en-US" altLang="en-US" sz="2400" b="1">
                <a:solidFill>
                  <a:srgbClr val="0000CC"/>
                </a:solidFill>
              </a:rPr>
              <a:t>1 2 2 4 5 6 7 7 7 9 </a:t>
            </a:r>
            <a:r>
              <a:rPr lang="en-US" altLang="en-US" sz="2400" b="1"/>
              <a:t> </a:t>
            </a:r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4F33FA2E-BC54-0847-A7E1-1961C28A00E5}"/>
              </a:ext>
            </a:extLst>
          </p:cNvPr>
          <p:cNvGraphicFramePr>
            <a:graphicFrameLocks/>
          </p:cNvGraphicFramePr>
          <p:nvPr/>
        </p:nvGraphicFramePr>
        <p:xfrm>
          <a:off x="381000" y="2128838"/>
          <a:ext cx="7696198" cy="549275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Null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Null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Null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head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FF3279-B2E2-7845-8256-A84601B0A17C}"/>
              </a:ext>
            </a:extLst>
          </p:cNvPr>
          <p:cNvGraphicFramePr>
            <a:graphicFrameLocks noGrp="1"/>
          </p:cNvGraphicFramePr>
          <p:nvPr/>
        </p:nvGraphicFramePr>
        <p:xfrm>
          <a:off x="1173163" y="2925763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E60901-6918-B04B-AC29-AC13B59E68B2}"/>
              </a:ext>
            </a:extLst>
          </p:cNvPr>
          <p:cNvGraphicFramePr>
            <a:graphicFrameLocks noGrp="1"/>
          </p:cNvGraphicFramePr>
          <p:nvPr/>
        </p:nvGraphicFramePr>
        <p:xfrm>
          <a:off x="1965325" y="2917825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A5BC60-91BA-BF49-BC64-D523BB776896}"/>
              </a:ext>
            </a:extLst>
          </p:cNvPr>
          <p:cNvGraphicFramePr>
            <a:graphicFrameLocks noGrp="1"/>
          </p:cNvGraphicFramePr>
          <p:nvPr/>
        </p:nvGraphicFramePr>
        <p:xfrm>
          <a:off x="3468688" y="2917825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F2419C7-D6E4-9441-99F5-3078F62A72AE}"/>
              </a:ext>
            </a:extLst>
          </p:cNvPr>
          <p:cNvGraphicFramePr>
            <a:graphicFrameLocks noGrp="1"/>
          </p:cNvGraphicFramePr>
          <p:nvPr/>
        </p:nvGraphicFramePr>
        <p:xfrm>
          <a:off x="4276725" y="2911475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1BF0014-AA69-E046-BEE6-5B3E9825D0A5}"/>
              </a:ext>
            </a:extLst>
          </p:cNvPr>
          <p:cNvGraphicFramePr>
            <a:graphicFrameLocks noGrp="1"/>
          </p:cNvGraphicFramePr>
          <p:nvPr/>
        </p:nvGraphicFramePr>
        <p:xfrm>
          <a:off x="5076825" y="2917825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0F4CEB9-E463-4048-AF8B-F71251F18CDC}"/>
              </a:ext>
            </a:extLst>
          </p:cNvPr>
          <p:cNvGraphicFramePr>
            <a:graphicFrameLocks noGrp="1"/>
          </p:cNvGraphicFramePr>
          <p:nvPr/>
        </p:nvGraphicFramePr>
        <p:xfrm>
          <a:off x="5851525" y="2905125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4646BD0-C666-434D-AF10-206FD3974DA2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2890838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523FF12-C3BA-334E-98FA-8BAA82E324E5}"/>
              </a:ext>
            </a:extLst>
          </p:cNvPr>
          <p:cNvGraphicFramePr>
            <a:graphicFrameLocks noGrp="1"/>
          </p:cNvGraphicFramePr>
          <p:nvPr/>
        </p:nvGraphicFramePr>
        <p:xfrm>
          <a:off x="1952625" y="3549650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66E3D2-5311-694E-B271-3DCAF69C22A5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3548063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62A4F51-85ED-0143-910C-D397CF9AC077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4151313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1836E5-A983-524E-93D6-7EC3A0E82DF8}"/>
              </a:ext>
            </a:extLst>
          </p:cNvPr>
          <p:cNvCxnSpPr/>
          <p:nvPr/>
        </p:nvCxnSpPr>
        <p:spPr>
          <a:xfrm rot="5400000">
            <a:off x="1386682" y="2802731"/>
            <a:ext cx="274638" cy="317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DBCF17-36A8-2547-8BE7-F500804E97C7}"/>
              </a:ext>
            </a:extLst>
          </p:cNvPr>
          <p:cNvCxnSpPr/>
          <p:nvPr/>
        </p:nvCxnSpPr>
        <p:spPr>
          <a:xfrm rot="5400000">
            <a:off x="2174875" y="2798763"/>
            <a:ext cx="27463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91AEA61-CA24-484C-9BFB-F885A4EFAC5B}"/>
              </a:ext>
            </a:extLst>
          </p:cNvPr>
          <p:cNvCxnSpPr/>
          <p:nvPr/>
        </p:nvCxnSpPr>
        <p:spPr>
          <a:xfrm rot="5400000">
            <a:off x="2176463" y="3403600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AC8248-8E4C-9C42-B32A-6F111143CD64}"/>
              </a:ext>
            </a:extLst>
          </p:cNvPr>
          <p:cNvCxnSpPr/>
          <p:nvPr/>
        </p:nvCxnSpPr>
        <p:spPr>
          <a:xfrm rot="5400000">
            <a:off x="3698875" y="2786063"/>
            <a:ext cx="27463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DEF2F1-EF50-0048-8B24-CC3CC16D8544}"/>
              </a:ext>
            </a:extLst>
          </p:cNvPr>
          <p:cNvCxnSpPr/>
          <p:nvPr/>
        </p:nvCxnSpPr>
        <p:spPr>
          <a:xfrm rot="5400000">
            <a:off x="4497388" y="2771775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357C4F-0391-474C-92CE-AD1395194F4D}"/>
              </a:ext>
            </a:extLst>
          </p:cNvPr>
          <p:cNvCxnSpPr/>
          <p:nvPr/>
        </p:nvCxnSpPr>
        <p:spPr>
          <a:xfrm rot="5400000">
            <a:off x="5287169" y="2790031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C92F81-8194-DE4B-93D0-36CE1B831CAC}"/>
              </a:ext>
            </a:extLst>
          </p:cNvPr>
          <p:cNvCxnSpPr/>
          <p:nvPr/>
        </p:nvCxnSpPr>
        <p:spPr>
          <a:xfrm rot="5400000">
            <a:off x="6062663" y="2786063"/>
            <a:ext cx="274637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4200F8-BC07-7F46-8986-6FFA9B33934C}"/>
              </a:ext>
            </a:extLst>
          </p:cNvPr>
          <p:cNvCxnSpPr/>
          <p:nvPr/>
        </p:nvCxnSpPr>
        <p:spPr>
          <a:xfrm rot="5400000">
            <a:off x="6070600" y="3362325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6C86B4-6E42-ED40-BD31-0CE75C278003}"/>
              </a:ext>
            </a:extLst>
          </p:cNvPr>
          <p:cNvCxnSpPr/>
          <p:nvPr/>
        </p:nvCxnSpPr>
        <p:spPr>
          <a:xfrm rot="5400000">
            <a:off x="6083300" y="4025900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80C65D-1659-5543-9B20-43002782643C}"/>
              </a:ext>
            </a:extLst>
          </p:cNvPr>
          <p:cNvCxnSpPr/>
          <p:nvPr/>
        </p:nvCxnSpPr>
        <p:spPr>
          <a:xfrm rot="5400000">
            <a:off x="7535863" y="2771775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34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D3CEC3-57A7-DD49-BEEE-17649638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3121B4C-4179-1E4A-8F62-BBD881F09B2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Radix sort may be built upon counting sort 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b="1" dirty="0"/>
              <a:t>Basic Idea</a:t>
            </a:r>
            <a:r>
              <a:rPr lang="en-US" altLang="en-US" dirty="0"/>
              <a:t>: every integer can be represented by at most k digits</a:t>
            </a:r>
          </a:p>
          <a:p>
            <a:pPr lvl="1"/>
            <a:r>
              <a:rPr lang="en-US" altLang="en-US" b="1" dirty="0">
                <a:solidFill>
                  <a:srgbClr val="0000CC"/>
                </a:solidFill>
              </a:rPr>
              <a:t>d</a:t>
            </a:r>
            <a:r>
              <a:rPr lang="en-US" altLang="en-US" b="1" baseline="-25000" dirty="0">
                <a:solidFill>
                  <a:srgbClr val="0000CC"/>
                </a:solidFill>
              </a:rPr>
              <a:t>1</a:t>
            </a:r>
            <a:r>
              <a:rPr lang="en-US" altLang="en-US" b="1" dirty="0">
                <a:solidFill>
                  <a:srgbClr val="0000CC"/>
                </a:solidFill>
              </a:rPr>
              <a:t>d</a:t>
            </a:r>
            <a:r>
              <a:rPr lang="en-US" altLang="en-US" b="1" baseline="-25000" dirty="0">
                <a:solidFill>
                  <a:srgbClr val="0000CC"/>
                </a:solidFill>
              </a:rPr>
              <a:t>2</a:t>
            </a:r>
            <a:r>
              <a:rPr lang="en-US" altLang="en-US" b="1" dirty="0">
                <a:solidFill>
                  <a:srgbClr val="0000CC"/>
                </a:solidFill>
              </a:rPr>
              <a:t>…</a:t>
            </a:r>
            <a:r>
              <a:rPr lang="en-US" altLang="en-US" b="1" dirty="0" err="1">
                <a:solidFill>
                  <a:srgbClr val="0000CC"/>
                </a:solidFill>
              </a:rPr>
              <a:t>d</a:t>
            </a:r>
            <a:r>
              <a:rPr lang="en-US" altLang="en-US" b="1" baseline="-25000" dirty="0" err="1">
                <a:solidFill>
                  <a:srgbClr val="0000CC"/>
                </a:solidFill>
              </a:rPr>
              <a:t>k</a:t>
            </a:r>
            <a:r>
              <a:rPr lang="en-US" altLang="en-US" i="1" dirty="0"/>
              <a:t> </a:t>
            </a:r>
            <a:r>
              <a:rPr lang="en-US" altLang="en-US" dirty="0"/>
              <a:t>where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d</a:t>
            </a:r>
            <a:r>
              <a:rPr lang="en-US" altLang="en-US" b="1" baseline="-25000" dirty="0">
                <a:solidFill>
                  <a:srgbClr val="0000CC"/>
                </a:solidFill>
              </a:rPr>
              <a:t>i</a:t>
            </a:r>
            <a:r>
              <a:rPr lang="en-US" altLang="en-US" dirty="0"/>
              <a:t> are digits in base </a:t>
            </a:r>
            <a:r>
              <a:rPr lang="en-US" altLang="en-US" dirty="0">
                <a:solidFill>
                  <a:srgbClr val="0000CC"/>
                </a:solidFill>
              </a:rPr>
              <a:t>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975257-625D-1146-A864-7F63C0A19B5F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Radix Sort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CB7993-7478-9149-9301-E02524CD5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573713"/>
            <a:ext cx="2967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b="1">
                <a:solidFill>
                  <a:srgbClr val="FF0000"/>
                </a:solidFill>
              </a:rPr>
              <a:t>most significant digit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859029-1EFD-1C44-A951-3ECE6AAF3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029200"/>
            <a:ext cx="2479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least significant digit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FDE261-9F04-D249-A3C3-DCA586CB1B62}"/>
              </a:ext>
            </a:extLst>
          </p:cNvPr>
          <p:cNvCxnSpPr/>
          <p:nvPr/>
        </p:nvCxnSpPr>
        <p:spPr>
          <a:xfrm rot="16200000" flipV="1">
            <a:off x="914400" y="4953000"/>
            <a:ext cx="990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E34FB9-4929-7148-919D-BE2544369D07}"/>
              </a:ext>
            </a:extLst>
          </p:cNvPr>
          <p:cNvCxnSpPr/>
          <p:nvPr/>
        </p:nvCxnSpPr>
        <p:spPr>
          <a:xfrm rot="16200000" flipV="1">
            <a:off x="2095500" y="4686300"/>
            <a:ext cx="457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76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963A15-7798-6845-AD61-F701B5BF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B74351-8E33-CB44-B16B-62423656CE1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66800"/>
            <a:ext cx="82296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Algorithm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Take the least significant digit (or group of bits) of each key.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Group the keys based on that digit, but otherwise keep the original order of keys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Repeat the grouping process with each more significant digit.</a:t>
            </a:r>
          </a:p>
          <a:p>
            <a:pPr lvl="1"/>
            <a:r>
              <a:rPr lang="en-US" altLang="en-US" dirty="0">
                <a:solidFill>
                  <a:srgbClr val="0000CC"/>
                </a:solidFill>
              </a:rPr>
              <a:t>The sort in step 2 is usually done using </a:t>
            </a:r>
            <a:r>
              <a:rPr lang="en-US" altLang="en-US" b="1" dirty="0"/>
              <a:t>counting sort</a:t>
            </a:r>
            <a:r>
              <a:rPr lang="en-US" altLang="en-US" dirty="0">
                <a:solidFill>
                  <a:srgbClr val="0000CC"/>
                </a:solidFill>
              </a:rPr>
              <a:t>, which are efficient in this case since there are usually only a small number of digits.</a:t>
            </a:r>
          </a:p>
          <a:p>
            <a:pPr lvl="1"/>
            <a:endParaRPr lang="en-US" altLang="en-US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486932-53DF-7F40-B756-303AD18EDCEE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Radix 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9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9C592-D4DA-A543-82AD-0E7604E9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5D246E4-F34E-8B47-991A-665EC3573EB7}"/>
              </a:ext>
            </a:extLst>
          </p:cNvPr>
          <p:cNvSpPr txBox="1">
            <a:spLocks noChangeArrowheads="1"/>
          </p:cNvSpPr>
          <p:nvPr/>
        </p:nvSpPr>
        <p:spPr>
          <a:xfrm>
            <a:off x="412376" y="1130300"/>
            <a:ext cx="8229600" cy="1066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cs typeface="Times New Roman" panose="02020603050405020304" pitchFamily="18" charset="0"/>
              </a:rPr>
              <a:t>Example	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Sort: </a:t>
            </a:r>
            <a:r>
              <a:rPr lang="en-US" altLang="en-US">
                <a:solidFill>
                  <a:srgbClr val="0000CC"/>
                </a:solidFill>
              </a:rPr>
              <a:t>170, 45, 275, 190, 802, 24, 2, 66</a:t>
            </a:r>
            <a:endParaRPr lang="en-US" altLang="en-US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endParaRPr lang="en-US" altLang="en-US" b="1">
              <a:cs typeface="Times New Roman" panose="02020603050405020304" pitchFamily="18" charset="0"/>
            </a:endParaRPr>
          </a:p>
          <a:p>
            <a:r>
              <a:rPr lang="en-US" altLang="en-US" b="1">
                <a:cs typeface="Times New Roman" panose="02020603050405020304" pitchFamily="18" charset="0"/>
              </a:rPr>
              <a:t>First pass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E0056F-A4E8-8A42-A3FE-013F7ACA82E8}"/>
              </a:ext>
            </a:extLst>
          </p:cNvPr>
          <p:cNvSpPr txBox="1">
            <a:spLocks/>
          </p:cNvSpPr>
          <p:nvPr/>
        </p:nvSpPr>
        <p:spPr bwMode="auto">
          <a:xfrm>
            <a:off x="412376" y="368300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dirty="0"/>
              <a:t>Radix Sort</a:t>
            </a:r>
          </a:p>
        </p:txBody>
      </p:sp>
      <p:graphicFrame>
        <p:nvGraphicFramePr>
          <p:cNvPr id="5" name="Group 92">
            <a:extLst>
              <a:ext uri="{FF2B5EF4-FFF2-40B4-BE49-F238E27FC236}">
                <a16:creationId xmlns:a16="http://schemas.microsoft.com/office/drawing/2014/main" id="{98019B16-2962-8547-A342-3121FCCFB620}"/>
              </a:ext>
            </a:extLst>
          </p:cNvPr>
          <p:cNvGraphicFramePr>
            <a:graphicFrameLocks/>
          </p:cNvGraphicFramePr>
          <p:nvPr/>
        </p:nvGraphicFramePr>
        <p:xfrm>
          <a:off x="685800" y="3111500"/>
          <a:ext cx="7696198" cy="457200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E026D2-4B44-D24A-949C-F754C578604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3754438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F76FBC-3409-844E-A912-023E685F84E8}"/>
              </a:ext>
            </a:extLst>
          </p:cNvPr>
          <p:cNvGraphicFramePr>
            <a:graphicFrameLocks noGrp="1"/>
          </p:cNvGraphicFramePr>
          <p:nvPr/>
        </p:nvGraphicFramePr>
        <p:xfrm>
          <a:off x="2270125" y="3746500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59DB31-CEBB-9442-AA0A-AB7C744E04D5}"/>
              </a:ext>
            </a:extLst>
          </p:cNvPr>
          <p:cNvGraphicFramePr>
            <a:graphicFrameLocks noGrp="1"/>
          </p:cNvGraphicFramePr>
          <p:nvPr/>
        </p:nvGraphicFramePr>
        <p:xfrm>
          <a:off x="3773488" y="3746500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06CD95-07D7-A24B-AAFD-06C1FD09FFF3}"/>
              </a:ext>
            </a:extLst>
          </p:cNvPr>
          <p:cNvGraphicFramePr>
            <a:graphicFrameLocks noGrp="1"/>
          </p:cNvGraphicFramePr>
          <p:nvPr/>
        </p:nvGraphicFramePr>
        <p:xfrm>
          <a:off x="4581525" y="3741738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B3793D3-8052-004F-B19B-FED3C6D00715}"/>
              </a:ext>
            </a:extLst>
          </p:cNvPr>
          <p:cNvGraphicFramePr>
            <a:graphicFrameLocks noGrp="1"/>
          </p:cNvGraphicFramePr>
          <p:nvPr/>
        </p:nvGraphicFramePr>
        <p:xfrm>
          <a:off x="5381625" y="3746500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C4D46F-D856-734B-B011-964D81B7D2FF}"/>
              </a:ext>
            </a:extLst>
          </p:cNvPr>
          <p:cNvGraphicFramePr>
            <a:graphicFrameLocks noGrp="1"/>
          </p:cNvGraphicFramePr>
          <p:nvPr/>
        </p:nvGraphicFramePr>
        <p:xfrm>
          <a:off x="4583113" y="4330700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4A175F-B67E-E347-9800-024C819E1A6A}"/>
              </a:ext>
            </a:extLst>
          </p:cNvPr>
          <p:cNvCxnSpPr/>
          <p:nvPr/>
        </p:nvCxnSpPr>
        <p:spPr>
          <a:xfrm rot="5400000">
            <a:off x="976313" y="3632200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B71D55-BB99-E149-A4C3-81BD68A1A077}"/>
              </a:ext>
            </a:extLst>
          </p:cNvPr>
          <p:cNvCxnSpPr/>
          <p:nvPr/>
        </p:nvCxnSpPr>
        <p:spPr>
          <a:xfrm rot="5400000">
            <a:off x="2480469" y="3628231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1D5244-C551-CC4E-92D4-D385BF72A7A1}"/>
              </a:ext>
            </a:extLst>
          </p:cNvPr>
          <p:cNvCxnSpPr/>
          <p:nvPr/>
        </p:nvCxnSpPr>
        <p:spPr>
          <a:xfrm rot="5400000">
            <a:off x="4003675" y="3614738"/>
            <a:ext cx="27463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260366-D83A-5849-A798-6D78CF900E87}"/>
              </a:ext>
            </a:extLst>
          </p:cNvPr>
          <p:cNvCxnSpPr/>
          <p:nvPr/>
        </p:nvCxnSpPr>
        <p:spPr>
          <a:xfrm rot="5400000">
            <a:off x="4802982" y="3601244"/>
            <a:ext cx="27305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5404FD-7B7D-4241-A2FC-092841351C30}"/>
              </a:ext>
            </a:extLst>
          </p:cNvPr>
          <p:cNvCxnSpPr/>
          <p:nvPr/>
        </p:nvCxnSpPr>
        <p:spPr>
          <a:xfrm rot="5400000">
            <a:off x="5591175" y="3619500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1D5593-90C2-DA4E-9E7B-366118C241B5}"/>
              </a:ext>
            </a:extLst>
          </p:cNvPr>
          <p:cNvCxnSpPr/>
          <p:nvPr/>
        </p:nvCxnSpPr>
        <p:spPr>
          <a:xfrm rot="5400000">
            <a:off x="4795044" y="4210844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330131F-7A7B-8D48-84AC-D496F048AF6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310063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495C42-E74A-1748-A23E-56D92B17C475}"/>
              </a:ext>
            </a:extLst>
          </p:cNvPr>
          <p:cNvCxnSpPr/>
          <p:nvPr/>
        </p:nvCxnSpPr>
        <p:spPr>
          <a:xfrm rot="5400000">
            <a:off x="976313" y="4187825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5D24150-F3D3-2A4E-B70A-DD1BDB663A16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4364038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ABA935-61EA-984B-85E5-4741C219537E}"/>
              </a:ext>
            </a:extLst>
          </p:cNvPr>
          <p:cNvCxnSpPr/>
          <p:nvPr/>
        </p:nvCxnSpPr>
        <p:spPr>
          <a:xfrm rot="5400000">
            <a:off x="2495550" y="4244975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49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671A7-B8F6-784D-829D-A906AAA0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D17617A-7E4C-D44F-95A3-FA3DC5D3BA76}"/>
              </a:ext>
            </a:extLst>
          </p:cNvPr>
          <p:cNvSpPr txBox="1">
            <a:spLocks noChangeArrowheads="1"/>
          </p:cNvSpPr>
          <p:nvPr/>
        </p:nvSpPr>
        <p:spPr>
          <a:xfrm>
            <a:off x="301083" y="1100254"/>
            <a:ext cx="8229600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cs typeface="Times New Roman" panose="02020603050405020304" pitchFamily="18" charset="0"/>
              </a:rPr>
              <a:t>First pass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90E05A6-2BBA-8844-9DE4-6E29CBD45932}"/>
              </a:ext>
            </a:extLst>
          </p:cNvPr>
          <p:cNvSpPr txBox="1">
            <a:spLocks/>
          </p:cNvSpPr>
          <p:nvPr/>
        </p:nvSpPr>
        <p:spPr bwMode="auto">
          <a:xfrm>
            <a:off x="301083" y="490654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/>
              <a:t>Radix Sort</a:t>
            </a:r>
          </a:p>
        </p:txBody>
      </p:sp>
      <p:graphicFrame>
        <p:nvGraphicFramePr>
          <p:cNvPr id="5" name="Group 92">
            <a:extLst>
              <a:ext uri="{FF2B5EF4-FFF2-40B4-BE49-F238E27FC236}">
                <a16:creationId xmlns:a16="http://schemas.microsoft.com/office/drawing/2014/main" id="{22816DB8-78DE-2D4A-AC22-5BF4EADCE4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294214"/>
              </p:ext>
            </p:extLst>
          </p:nvPr>
        </p:nvGraphicFramePr>
        <p:xfrm>
          <a:off x="682083" y="1709854"/>
          <a:ext cx="7696198" cy="457200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1ECC50FF-5FD7-AF40-B995-DDD5A29A5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83" y="3462454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800" b="1">
                <a:cs typeface="Times New Roman" panose="02020603050405020304" pitchFamily="18" charset="0"/>
              </a:rPr>
              <a:t>Second pass</a:t>
            </a: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6DB2806F-CB9F-444A-BCD6-A35FEEBBE2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5512298"/>
              </p:ext>
            </p:extLst>
          </p:nvPr>
        </p:nvGraphicFramePr>
        <p:xfrm>
          <a:off x="605883" y="4135554"/>
          <a:ext cx="7696198" cy="457200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71B7BA-17FA-B240-93E1-71AC1583B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660526"/>
              </p:ext>
            </p:extLst>
          </p:nvPr>
        </p:nvGraphicFramePr>
        <p:xfrm>
          <a:off x="758283" y="2354379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D56CC1-C25A-E44F-8A31-EDD37F266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82287"/>
              </p:ext>
            </p:extLst>
          </p:nvPr>
        </p:nvGraphicFramePr>
        <p:xfrm>
          <a:off x="2266408" y="2346442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68F0B5-1CC6-3641-9A18-D85C30843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29204"/>
              </p:ext>
            </p:extLst>
          </p:nvPr>
        </p:nvGraphicFramePr>
        <p:xfrm>
          <a:off x="3769771" y="2346442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BCCA8D-2C88-6C4B-84AB-4D5449F6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28649"/>
              </p:ext>
            </p:extLst>
          </p:nvPr>
        </p:nvGraphicFramePr>
        <p:xfrm>
          <a:off x="4577808" y="2340092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C16F28-9747-3248-947C-13717DB18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192581"/>
              </p:ext>
            </p:extLst>
          </p:nvPr>
        </p:nvGraphicFramePr>
        <p:xfrm>
          <a:off x="5377908" y="2346442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3C09A7A-AF6D-B142-9D3D-0EE354198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24595"/>
              </p:ext>
            </p:extLst>
          </p:nvPr>
        </p:nvGraphicFramePr>
        <p:xfrm>
          <a:off x="4579396" y="2929054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0ABD6-CE49-344C-9FCA-5B53601558DA}"/>
              </a:ext>
            </a:extLst>
          </p:cNvPr>
          <p:cNvCxnSpPr/>
          <p:nvPr/>
        </p:nvCxnSpPr>
        <p:spPr>
          <a:xfrm rot="5400000">
            <a:off x="2475958" y="2227379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CB822D-FFDD-C34D-95FE-73EE9DBEBFFF}"/>
              </a:ext>
            </a:extLst>
          </p:cNvPr>
          <p:cNvCxnSpPr/>
          <p:nvPr/>
        </p:nvCxnSpPr>
        <p:spPr>
          <a:xfrm rot="5400000">
            <a:off x="4798471" y="2200392"/>
            <a:ext cx="274637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9FAB24-F8EA-4B44-99D6-4603B43B4F78}"/>
              </a:ext>
            </a:extLst>
          </p:cNvPr>
          <p:cNvCxnSpPr/>
          <p:nvPr/>
        </p:nvCxnSpPr>
        <p:spPr>
          <a:xfrm rot="5400000">
            <a:off x="5587458" y="2217854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88A3C3-9F1A-AB43-B788-5665FF2209CF}"/>
              </a:ext>
            </a:extLst>
          </p:cNvPr>
          <p:cNvCxnSpPr/>
          <p:nvPr/>
        </p:nvCxnSpPr>
        <p:spPr>
          <a:xfrm rot="5400000">
            <a:off x="4790533" y="2809992"/>
            <a:ext cx="27463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90F5BF3-331A-394F-85A1-A5297D5B4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78406"/>
              </p:ext>
            </p:extLst>
          </p:nvPr>
        </p:nvGraphicFramePr>
        <p:xfrm>
          <a:off x="758283" y="2910004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6D6070-E3A8-C84D-A1A6-0496A72A2C5E}"/>
              </a:ext>
            </a:extLst>
          </p:cNvPr>
          <p:cNvCxnSpPr/>
          <p:nvPr/>
        </p:nvCxnSpPr>
        <p:spPr>
          <a:xfrm rot="5400000">
            <a:off x="972596" y="2787767"/>
            <a:ext cx="274637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097641B-4605-8046-BF4F-5811DBD58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192146"/>
              </p:ext>
            </p:extLst>
          </p:nvPr>
        </p:nvGraphicFramePr>
        <p:xfrm>
          <a:off x="2282283" y="2963979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0F4998-F650-4145-AC3B-4C1B2BEF6C8C}"/>
              </a:ext>
            </a:extLst>
          </p:cNvPr>
          <p:cNvCxnSpPr/>
          <p:nvPr/>
        </p:nvCxnSpPr>
        <p:spPr>
          <a:xfrm rot="5400000">
            <a:off x="2492627" y="2844123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E4F09F-3544-C947-B43B-73C7658B3B20}"/>
              </a:ext>
            </a:extLst>
          </p:cNvPr>
          <p:cNvCxnSpPr/>
          <p:nvPr/>
        </p:nvCxnSpPr>
        <p:spPr>
          <a:xfrm rot="5400000">
            <a:off x="972596" y="2232142"/>
            <a:ext cx="274637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F9CE8C-CAC8-5C41-8768-011EA2EE7026}"/>
              </a:ext>
            </a:extLst>
          </p:cNvPr>
          <p:cNvCxnSpPr/>
          <p:nvPr/>
        </p:nvCxnSpPr>
        <p:spPr>
          <a:xfrm rot="5400000">
            <a:off x="4000752" y="2213885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16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5.55112E-17 L 0.5783 0.35764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6" y="1787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48148E-6 L 0.5783 0.3571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6" y="1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6 1.48148E-6 L 0.74774 0.27662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56" y="1381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6 2.96296E-6 L 0.74774 0.2761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56" y="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-2.59259E-6 L -0.1783 0.3588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40" y="1794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0.00926 L -0.17639 0.3597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89" y="1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1458 L -0.00503 0.2537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1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1458 L -0.00469 0.25277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1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-0.16771 0.41435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85" y="2071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-0.16962 0.42639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90" y="2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-0.09775 0.34861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17431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09844 0.3618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31" y="1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.16042 0.36273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812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0.16077 0.3618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38" y="1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3 -0.01111 L -0.01164 0.3476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794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2 -0.01112 L -0.01129 0.35925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A7B01-4967-1D41-8F07-263AB5BE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555E0F-481C-BA46-9C26-0ADC41D300FC}"/>
              </a:ext>
            </a:extLst>
          </p:cNvPr>
          <p:cNvSpPr txBox="1">
            <a:spLocks noChangeArrowheads="1"/>
          </p:cNvSpPr>
          <p:nvPr/>
        </p:nvSpPr>
        <p:spPr>
          <a:xfrm>
            <a:off x="434898" y="1046356"/>
            <a:ext cx="8229600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cs typeface="Times New Roman" panose="02020603050405020304" pitchFamily="18" charset="0"/>
              </a:rPr>
              <a:t>Second pass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4BF0FF-CF78-D542-84D4-0EFB44CB9E90}"/>
              </a:ext>
            </a:extLst>
          </p:cNvPr>
          <p:cNvSpPr txBox="1">
            <a:spLocks/>
          </p:cNvSpPr>
          <p:nvPr/>
        </p:nvSpPr>
        <p:spPr bwMode="auto">
          <a:xfrm>
            <a:off x="434898" y="512956"/>
            <a:ext cx="7239000" cy="5334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/>
              <a:t>Radix Sort</a:t>
            </a:r>
          </a:p>
        </p:txBody>
      </p:sp>
      <p:graphicFrame>
        <p:nvGraphicFramePr>
          <p:cNvPr id="5" name="Group 92">
            <a:extLst>
              <a:ext uri="{FF2B5EF4-FFF2-40B4-BE49-F238E27FC236}">
                <a16:creationId xmlns:a16="http://schemas.microsoft.com/office/drawing/2014/main" id="{500CAA22-7C86-5947-AC8B-C8A552799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267703"/>
              </p:ext>
            </p:extLst>
          </p:nvPr>
        </p:nvGraphicFramePr>
        <p:xfrm>
          <a:off x="815898" y="4246756"/>
          <a:ext cx="7696198" cy="457200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0C8DF40D-D077-E445-8A20-11475C950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98" y="3703831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800" b="1">
                <a:cs typeface="Times New Roman" panose="02020603050405020304" pitchFamily="18" charset="0"/>
              </a:rPr>
              <a:t>Third pass</a:t>
            </a: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32FFA197-2C8A-D44E-8FB8-0F00AF552E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7756059"/>
              </p:ext>
            </p:extLst>
          </p:nvPr>
        </p:nvGraphicFramePr>
        <p:xfrm>
          <a:off x="739698" y="1579756"/>
          <a:ext cx="7696198" cy="457200"/>
        </p:xfrm>
        <a:graphic>
          <a:graphicData uri="http://schemas.openxmlformats.org/drawingml/2006/table">
            <a:tbl>
              <a:tblPr/>
              <a:tblGrid>
                <a:gridCol w="76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0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5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94243F-20D4-5243-8A19-2EE25CABE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1644"/>
              </p:ext>
            </p:extLst>
          </p:nvPr>
        </p:nvGraphicFramePr>
        <p:xfrm>
          <a:off x="6189586" y="2178244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192FFE-18CA-9948-B91F-E98B4C068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591291"/>
              </p:ext>
            </p:extLst>
          </p:nvPr>
        </p:nvGraphicFramePr>
        <p:xfrm>
          <a:off x="788911" y="2202056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1EFD22-4B29-6D4C-9DFB-01FE080FE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439254"/>
              </p:ext>
            </p:extLst>
          </p:nvPr>
        </p:nvGraphicFramePr>
        <p:xfrm>
          <a:off x="2324023" y="2800544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E4C995-450F-5C4B-8289-E3F1977C1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51648"/>
              </p:ext>
            </p:extLst>
          </p:nvPr>
        </p:nvGraphicFramePr>
        <p:xfrm>
          <a:off x="3863898" y="2202056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A13871F-5225-2748-A74A-C4559DFB0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5708"/>
              </p:ext>
            </p:extLst>
          </p:nvPr>
        </p:nvGraphicFramePr>
        <p:xfrm>
          <a:off x="5387898" y="2202056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C97564A-8CA7-A94D-A42F-DAD8900E7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32741"/>
              </p:ext>
            </p:extLst>
          </p:nvPr>
        </p:nvGraphicFramePr>
        <p:xfrm>
          <a:off x="6226098" y="2735456"/>
          <a:ext cx="701675" cy="360363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C0E9E7-6214-7146-B7BA-0310B5BF04A6}"/>
              </a:ext>
            </a:extLst>
          </p:cNvPr>
          <p:cNvCxnSpPr/>
          <p:nvPr/>
        </p:nvCxnSpPr>
        <p:spPr>
          <a:xfrm rot="5400000">
            <a:off x="999255" y="2083787"/>
            <a:ext cx="27305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C49218-8BB7-264E-8D2D-0CC04A7C072B}"/>
              </a:ext>
            </a:extLst>
          </p:cNvPr>
          <p:cNvCxnSpPr/>
          <p:nvPr/>
        </p:nvCxnSpPr>
        <p:spPr>
          <a:xfrm rot="5400000">
            <a:off x="4084561" y="2062356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85BA8D-E93F-BF4B-B0B8-B4766B147B15}"/>
              </a:ext>
            </a:extLst>
          </p:cNvPr>
          <p:cNvCxnSpPr/>
          <p:nvPr/>
        </p:nvCxnSpPr>
        <p:spPr>
          <a:xfrm rot="5400000">
            <a:off x="5599036" y="2075056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FA295C-DB24-F249-87EA-F79F0E9D1B7E}"/>
              </a:ext>
            </a:extLst>
          </p:cNvPr>
          <p:cNvCxnSpPr/>
          <p:nvPr/>
        </p:nvCxnSpPr>
        <p:spPr>
          <a:xfrm rot="5400000">
            <a:off x="6438030" y="2617187"/>
            <a:ext cx="27305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8F051EC-15B5-644E-8E18-E0DFAC4AA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19339"/>
              </p:ext>
            </p:extLst>
          </p:nvPr>
        </p:nvGraphicFramePr>
        <p:xfrm>
          <a:off x="7686598" y="2216344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5F875E-14FB-D340-9DC8-BC3ADE1695AB}"/>
              </a:ext>
            </a:extLst>
          </p:cNvPr>
          <p:cNvCxnSpPr/>
          <p:nvPr/>
        </p:nvCxnSpPr>
        <p:spPr>
          <a:xfrm rot="5400000">
            <a:off x="7900911" y="2094106"/>
            <a:ext cx="27463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0D6F1D0-9A7C-DA4E-B728-110FB9B51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52526"/>
              </p:ext>
            </p:extLst>
          </p:nvPr>
        </p:nvGraphicFramePr>
        <p:xfrm>
          <a:off x="2324023" y="2203644"/>
          <a:ext cx="701675" cy="36036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3F57CA-3E5C-3348-B4C1-CEE98D0143EC}"/>
              </a:ext>
            </a:extLst>
          </p:cNvPr>
          <p:cNvCxnSpPr/>
          <p:nvPr/>
        </p:nvCxnSpPr>
        <p:spPr>
          <a:xfrm rot="5400000">
            <a:off x="2534367" y="2083787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F9DADA-E84F-D443-AA84-F2248CDC0F00}"/>
              </a:ext>
            </a:extLst>
          </p:cNvPr>
          <p:cNvCxnSpPr/>
          <p:nvPr/>
        </p:nvCxnSpPr>
        <p:spPr>
          <a:xfrm rot="5400000">
            <a:off x="6404692" y="2056800"/>
            <a:ext cx="27305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44861F-6812-274A-8359-0CB1A1762FA2}"/>
              </a:ext>
            </a:extLst>
          </p:cNvPr>
          <p:cNvCxnSpPr/>
          <p:nvPr/>
        </p:nvCxnSpPr>
        <p:spPr>
          <a:xfrm rot="5400000">
            <a:off x="2530398" y="2671956"/>
            <a:ext cx="27463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285AF6-EFFF-1442-9EFE-483F576FE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640" y="5299172"/>
            <a:ext cx="6970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Final Output</a:t>
            </a:r>
            <a:r>
              <a:rPr lang="en-US" altLang="en-US" sz="2400" b="1" dirty="0"/>
              <a:t>: </a:t>
            </a:r>
            <a:r>
              <a:rPr lang="en-US" altLang="en-US" sz="2400" b="1" dirty="0">
                <a:solidFill>
                  <a:srgbClr val="0000CC"/>
                </a:solidFill>
              </a:rPr>
              <a:t> 2  24  45 66  170  190  275  802 </a:t>
            </a:r>
            <a:r>
              <a:rPr lang="en-US" alt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310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0.68125 0.39422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62" y="1969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68177 0.39328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80" y="1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0.00834 L -0.16164 0.38564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90" y="1969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-0.16129 0.38194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3" y="19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22222E-6 L -0.16164 0.38472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90" y="1923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0.00625 L -0.16077 0.39005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38" y="1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3.7037E-6 L -0.33559 0.56088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27" y="2803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-0.33906 0.5629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62" y="2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7037E-6 L -0.50503 0.64977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60" y="32477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-0.50469 0.65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43" y="3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-1.48148E-6 L -0.50104 0.38658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69" y="1932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55 2.77556E-17 L -0.50382 0.39722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69" y="1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1.48148E-6 L -0.41892 0.30533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4" y="1525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2.96296E-6 L -0.41857 0.31551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76" y="1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96296E-6 L -0.66475 0.4587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47" y="2294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4444E-6 L -0.66475 0.46944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47" y="2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823F8B-6FBE-1747-83E6-521EA1F6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ABDE2-21DB-9943-93FB-8305A2E85C13}"/>
              </a:ext>
            </a:extLst>
          </p:cNvPr>
          <p:cNvSpPr txBox="1">
            <a:spLocks/>
          </p:cNvSpPr>
          <p:nvPr/>
        </p:nvSpPr>
        <p:spPr>
          <a:xfrm>
            <a:off x="167269" y="1022195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Algorithm </a:t>
            </a:r>
            <a:r>
              <a:rPr lang="en-US" altLang="en-US" sz="2200" dirty="0" err="1"/>
              <a:t>RadixSort</a:t>
            </a:r>
            <a:r>
              <a:rPr lang="en-US" altLang="en-US" sz="2200" dirty="0"/>
              <a:t>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      for 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 t = (A[</a:t>
            </a:r>
            <a:r>
              <a:rPr lang="en-US" altLang="en-US" sz="2200" dirty="0" err="1"/>
              <a:t>i</a:t>
            </a:r>
            <a:r>
              <a:rPr lang="en-US" altLang="en-US" sz="2200" dirty="0"/>
              <a:t>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 enqueue(A[</a:t>
            </a:r>
            <a:r>
              <a:rPr lang="en-US" altLang="en-US" sz="2200" dirty="0" err="1"/>
              <a:t>i</a:t>
            </a:r>
            <a:r>
              <a:rPr lang="en-US" altLang="en-US" sz="2200" dirty="0"/>
              <a:t>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D81D831-243E-BD47-8C4C-87566D81D0B7}"/>
              </a:ext>
            </a:extLst>
          </p:cNvPr>
          <p:cNvSpPr txBox="1">
            <a:spLocks/>
          </p:cNvSpPr>
          <p:nvPr/>
        </p:nvSpPr>
        <p:spPr bwMode="auto">
          <a:xfrm>
            <a:off x="167269" y="412595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5ED32-A907-B941-9461-E1490016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269" y="3079595"/>
            <a:ext cx="10239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45C41-0535-EB48-8605-DBD56E614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469" y="3384395"/>
            <a:ext cx="3319463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0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t = (</a:t>
            </a:r>
            <a:r>
              <a:rPr lang="en-US" altLang="en-US" sz="2200" b="1">
                <a:solidFill>
                  <a:srgbClr val="0000CC"/>
                </a:solidFill>
              </a:rPr>
              <a:t>A[0] </a:t>
            </a:r>
            <a:r>
              <a:rPr lang="en-US" altLang="en-US" sz="2200" b="1">
                <a:solidFill>
                  <a:srgbClr val="FF0000"/>
                </a:solidFill>
              </a:rPr>
              <a:t>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 div (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   = </a:t>
            </a:r>
            <a:r>
              <a:rPr lang="en-US" altLang="en-US" sz="2200" b="1">
                <a:solidFill>
                  <a:srgbClr val="0000CC"/>
                </a:solidFill>
              </a:rPr>
              <a:t>170</a:t>
            </a:r>
            <a:r>
              <a:rPr lang="en-US" altLang="en-US" sz="2200" b="1">
                <a:solidFill>
                  <a:srgbClr val="FF0000"/>
                </a:solidFill>
              </a:rPr>
              <a:t> 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 = </a:t>
            </a:r>
            <a:r>
              <a:rPr lang="en-US" altLang="en-US" sz="2200" b="1">
                <a:solidFill>
                  <a:srgbClr val="0000CC"/>
                </a:solidFill>
              </a:rPr>
              <a:t>0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enqueue(</a:t>
            </a:r>
            <a:r>
              <a:rPr lang="en-US" altLang="en-US" sz="2200" b="1">
                <a:solidFill>
                  <a:srgbClr val="0000CC"/>
                </a:solidFill>
              </a:rPr>
              <a:t>170</a:t>
            </a:r>
            <a:r>
              <a:rPr lang="en-US" altLang="en-US" sz="2200" b="1">
                <a:solidFill>
                  <a:srgbClr val="FF0000"/>
                </a:solidFill>
              </a:rPr>
              <a:t>, Q[</a:t>
            </a:r>
            <a:r>
              <a:rPr lang="en-US" altLang="en-US" sz="2200" b="1">
                <a:solidFill>
                  <a:srgbClr val="0000CC"/>
                </a:solidFill>
              </a:rPr>
              <a:t>0</a:t>
            </a:r>
            <a:r>
              <a:rPr lang="en-US" altLang="en-US" sz="2200" b="1">
                <a:solidFill>
                  <a:srgbClr val="FF0000"/>
                </a:solidFill>
              </a:rPr>
              <a:t>])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EC002D-6964-534A-A485-5BBAA7DC9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44" y="564995"/>
            <a:ext cx="4802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CC"/>
                </a:solidFill>
              </a:rPr>
              <a:t>170, 45, 275, 190, 802, 24, 2, 66</a:t>
            </a:r>
            <a:endParaRPr lang="en-US" altLang="en-US" sz="2400"/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4BF4E0DE-3CE8-7E48-8407-2C8947342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468461"/>
              </p:ext>
            </p:extLst>
          </p:nvPr>
        </p:nvGraphicFramePr>
        <p:xfrm>
          <a:off x="4031244" y="1088870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FCC2F-E536-324D-89B5-46738177A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207832"/>
              </p:ext>
            </p:extLst>
          </p:nvPr>
        </p:nvGraphicFramePr>
        <p:xfrm>
          <a:off x="4031244" y="1679420"/>
          <a:ext cx="560388" cy="360363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040FEB-DCDA-4D4C-8874-723A13CEF7ED}"/>
              </a:ext>
            </a:extLst>
          </p:cNvPr>
          <p:cNvCxnSpPr/>
          <p:nvPr/>
        </p:nvCxnSpPr>
        <p:spPr>
          <a:xfrm rot="16200000" flipV="1">
            <a:off x="4206663" y="1613539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37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63AB4A-46D9-274F-A7F9-F6C33C21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46057-37DF-9B4E-BF4F-3D8E92861E83}"/>
              </a:ext>
            </a:extLst>
          </p:cNvPr>
          <p:cNvSpPr txBox="1">
            <a:spLocks/>
          </p:cNvSpPr>
          <p:nvPr/>
        </p:nvSpPr>
        <p:spPr>
          <a:xfrm>
            <a:off x="167268" y="1118839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068D37-1080-9542-BFF6-A31088E6C1D5}"/>
              </a:ext>
            </a:extLst>
          </p:cNvPr>
          <p:cNvSpPr txBox="1">
            <a:spLocks/>
          </p:cNvSpPr>
          <p:nvPr/>
        </p:nvSpPr>
        <p:spPr bwMode="auto">
          <a:xfrm>
            <a:off x="167268" y="509239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2C8554D-366F-B64F-A916-38359210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268" y="3176239"/>
            <a:ext cx="10239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07CE1-8EB4-3949-9B5C-5095447C1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468" y="3481039"/>
            <a:ext cx="3319463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t = (</a:t>
            </a:r>
            <a:r>
              <a:rPr lang="en-US" altLang="en-US" sz="2200" b="1">
                <a:solidFill>
                  <a:srgbClr val="0000CC"/>
                </a:solidFill>
              </a:rPr>
              <a:t>A[1]</a:t>
            </a:r>
            <a:r>
              <a:rPr lang="en-US" altLang="en-US" sz="2200" b="1">
                <a:solidFill>
                  <a:srgbClr val="FF0000"/>
                </a:solidFill>
              </a:rPr>
              <a:t> 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 div (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   = </a:t>
            </a:r>
            <a:r>
              <a:rPr lang="en-US" altLang="en-US" sz="2200" b="1">
                <a:solidFill>
                  <a:srgbClr val="0000CC"/>
                </a:solidFill>
              </a:rPr>
              <a:t>45</a:t>
            </a:r>
            <a:r>
              <a:rPr lang="en-US" altLang="en-US" sz="2200" b="1">
                <a:solidFill>
                  <a:srgbClr val="FF0000"/>
                </a:solidFill>
              </a:rPr>
              <a:t> 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 = </a:t>
            </a:r>
            <a:r>
              <a:rPr lang="en-US" altLang="en-US" sz="2200" b="1">
                <a:solidFill>
                  <a:srgbClr val="0000CC"/>
                </a:solidFill>
              </a:rPr>
              <a:t>5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enqueue(</a:t>
            </a:r>
            <a:r>
              <a:rPr lang="en-US" altLang="en-US" sz="2200" b="1">
                <a:solidFill>
                  <a:srgbClr val="0000CC"/>
                </a:solidFill>
              </a:rPr>
              <a:t>45</a:t>
            </a:r>
            <a:r>
              <a:rPr lang="en-US" altLang="en-US" sz="2200" b="1">
                <a:solidFill>
                  <a:srgbClr val="FF0000"/>
                </a:solidFill>
              </a:rPr>
              <a:t>, Q[</a:t>
            </a:r>
            <a:r>
              <a:rPr lang="en-US" altLang="en-US" sz="2200" b="1">
                <a:solidFill>
                  <a:srgbClr val="0000CC"/>
                </a:solidFill>
              </a:rPr>
              <a:t>5</a:t>
            </a:r>
            <a:r>
              <a:rPr lang="en-US" altLang="en-US" sz="2200" b="1">
                <a:solidFill>
                  <a:srgbClr val="FF0000"/>
                </a:solidFill>
              </a:rPr>
              <a:t>])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AA14D-B077-1A4E-B266-F6D5BBAFD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43" y="661639"/>
            <a:ext cx="4802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CC"/>
                </a:solidFill>
              </a:rPr>
              <a:t>170, 45, 275, 190, 802, 24, 2, 66</a:t>
            </a:r>
            <a:endParaRPr lang="en-US" altLang="en-US" sz="2400"/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99F8D2CF-E874-F444-8608-1E2585C8E3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713756"/>
              </p:ext>
            </p:extLst>
          </p:nvPr>
        </p:nvGraphicFramePr>
        <p:xfrm>
          <a:off x="4031243" y="1185514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9C2F3A-5791-8848-B22B-EDD7DBD75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485825"/>
              </p:ext>
            </p:extLst>
          </p:nvPr>
        </p:nvGraphicFramePr>
        <p:xfrm>
          <a:off x="4031243" y="1776064"/>
          <a:ext cx="560388" cy="360363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8BD9C6-4D37-FB4B-BA9A-1FF9355BF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29807"/>
              </p:ext>
            </p:extLst>
          </p:nvPr>
        </p:nvGraphicFramePr>
        <p:xfrm>
          <a:off x="6458531" y="1763364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E51BC1-261B-1445-BECC-49132D1BEDD4}"/>
              </a:ext>
            </a:extLst>
          </p:cNvPr>
          <p:cNvCxnSpPr/>
          <p:nvPr/>
        </p:nvCxnSpPr>
        <p:spPr>
          <a:xfrm rot="16200000" flipV="1">
            <a:off x="4206662" y="1710183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9F4815-1C7D-EB46-AFE9-A5204F8B035E}"/>
              </a:ext>
            </a:extLst>
          </p:cNvPr>
          <p:cNvCxnSpPr/>
          <p:nvPr/>
        </p:nvCxnSpPr>
        <p:spPr>
          <a:xfrm rot="16200000" flipV="1">
            <a:off x="6599818" y="1652239"/>
            <a:ext cx="15398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42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F938B-EE81-1944-8AA0-1C41A3B4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4541-72A7-4746-A162-B829EAB5760B}"/>
              </a:ext>
            </a:extLst>
          </p:cNvPr>
          <p:cNvSpPr txBox="1">
            <a:spLocks/>
          </p:cNvSpPr>
          <p:nvPr/>
        </p:nvSpPr>
        <p:spPr>
          <a:xfrm>
            <a:off x="167268" y="1066800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B5C037-AAED-6D4E-83C8-7961ABEBD4FB}"/>
              </a:ext>
            </a:extLst>
          </p:cNvPr>
          <p:cNvSpPr txBox="1">
            <a:spLocks/>
          </p:cNvSpPr>
          <p:nvPr/>
        </p:nvSpPr>
        <p:spPr bwMode="auto">
          <a:xfrm>
            <a:off x="167268" y="457200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2ECF511-9F3C-C442-9650-04A9C857F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043" y="609600"/>
            <a:ext cx="4802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CC"/>
                </a:solidFill>
              </a:rPr>
              <a:t>170, 45, 275, 190, 802, 24, 2, 66</a:t>
            </a:r>
            <a:endParaRPr lang="en-US" altLang="en-US" sz="240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30FD0783-DF80-C549-9272-0498DF519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0168" y="3046413"/>
            <a:ext cx="12954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4D8D1-9F7E-B341-B3AE-E4242D188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468" y="3429000"/>
            <a:ext cx="3319463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2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t = (</a:t>
            </a:r>
            <a:r>
              <a:rPr lang="en-US" altLang="en-US" sz="2200" b="1">
                <a:solidFill>
                  <a:srgbClr val="0000CC"/>
                </a:solidFill>
              </a:rPr>
              <a:t>A[2]</a:t>
            </a:r>
            <a:r>
              <a:rPr lang="en-US" altLang="en-US" sz="2200" b="1">
                <a:solidFill>
                  <a:srgbClr val="FF0000"/>
                </a:solidFill>
              </a:rPr>
              <a:t> 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 div (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   = </a:t>
            </a:r>
            <a:r>
              <a:rPr lang="en-US" altLang="en-US" sz="2200" b="1">
                <a:solidFill>
                  <a:srgbClr val="0000CC"/>
                </a:solidFill>
              </a:rPr>
              <a:t>275</a:t>
            </a:r>
            <a:r>
              <a:rPr lang="en-US" altLang="en-US" sz="2200" b="1">
                <a:solidFill>
                  <a:srgbClr val="FF0000"/>
                </a:solidFill>
              </a:rPr>
              <a:t> mod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 = </a:t>
            </a:r>
            <a:r>
              <a:rPr lang="en-US" altLang="en-US" sz="2200" b="1">
                <a:solidFill>
                  <a:srgbClr val="0000CC"/>
                </a:solidFill>
              </a:rPr>
              <a:t>5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enqueue(</a:t>
            </a:r>
            <a:r>
              <a:rPr lang="en-US" altLang="en-US" sz="2200" b="1">
                <a:solidFill>
                  <a:srgbClr val="0000CC"/>
                </a:solidFill>
              </a:rPr>
              <a:t>245</a:t>
            </a:r>
            <a:r>
              <a:rPr lang="en-US" altLang="en-US" sz="2200" b="1">
                <a:solidFill>
                  <a:srgbClr val="FF0000"/>
                </a:solidFill>
              </a:rPr>
              <a:t>, Q[</a:t>
            </a:r>
            <a:r>
              <a:rPr lang="en-US" altLang="en-US" sz="2200" b="1">
                <a:solidFill>
                  <a:srgbClr val="0000CC"/>
                </a:solidFill>
              </a:rPr>
              <a:t>5</a:t>
            </a:r>
            <a:r>
              <a:rPr lang="en-US" altLang="en-US" sz="2200" b="1">
                <a:solidFill>
                  <a:srgbClr val="FF0000"/>
                </a:solidFill>
              </a:rPr>
              <a:t>])</a:t>
            </a:r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2B238E1B-6639-7141-B813-7A023D1E0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640012"/>
              </p:ext>
            </p:extLst>
          </p:nvPr>
        </p:nvGraphicFramePr>
        <p:xfrm>
          <a:off x="4031243" y="1133475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E1AC2E-28A5-1644-83BB-887F71C1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87198"/>
              </p:ext>
            </p:extLst>
          </p:nvPr>
        </p:nvGraphicFramePr>
        <p:xfrm>
          <a:off x="4031243" y="1724025"/>
          <a:ext cx="560388" cy="360363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DE23BA-E005-4848-880A-1B575B0DC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918482"/>
              </p:ext>
            </p:extLst>
          </p:nvPr>
        </p:nvGraphicFramePr>
        <p:xfrm>
          <a:off x="4955168" y="1716088"/>
          <a:ext cx="576263" cy="360362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1" marR="91381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96EC59-4FCC-6F48-A5F7-7C7B4BEC1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324318"/>
              </p:ext>
            </p:extLst>
          </p:nvPr>
        </p:nvGraphicFramePr>
        <p:xfrm>
          <a:off x="5939418" y="1716088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C2D5760-24D5-1646-842E-B6EC946E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321700"/>
              </p:ext>
            </p:extLst>
          </p:nvPr>
        </p:nvGraphicFramePr>
        <p:xfrm>
          <a:off x="6458531" y="1711325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2F6915D-2596-1141-9543-8E5BCAAE1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276360"/>
              </p:ext>
            </p:extLst>
          </p:nvPr>
        </p:nvGraphicFramePr>
        <p:xfrm>
          <a:off x="6960181" y="1716088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90899C-968B-3945-B019-FCD87CFD1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97520"/>
              </p:ext>
            </p:extLst>
          </p:nvPr>
        </p:nvGraphicFramePr>
        <p:xfrm>
          <a:off x="6412493" y="2176463"/>
          <a:ext cx="549275" cy="360362"/>
        </p:xfrm>
        <a:graphic>
          <a:graphicData uri="http://schemas.openxmlformats.org/drawingml/2006/table">
            <a:tbl>
              <a:tblPr/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63" marR="91363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4F55E5-12B6-DE43-9551-B5B8197E1599}"/>
              </a:ext>
            </a:extLst>
          </p:cNvPr>
          <p:cNvCxnSpPr/>
          <p:nvPr/>
        </p:nvCxnSpPr>
        <p:spPr>
          <a:xfrm rot="16200000" flipV="1">
            <a:off x="4206662" y="1658144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F5DA05-4070-1D45-A072-EB3DE7A49485}"/>
              </a:ext>
            </a:extLst>
          </p:cNvPr>
          <p:cNvCxnSpPr/>
          <p:nvPr/>
        </p:nvCxnSpPr>
        <p:spPr>
          <a:xfrm rot="16200000" flipV="1">
            <a:off x="5157574" y="1627982"/>
            <a:ext cx="15398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BCD157-7A9D-DB41-8F6B-A6E907364A03}"/>
              </a:ext>
            </a:extLst>
          </p:cNvPr>
          <p:cNvCxnSpPr/>
          <p:nvPr/>
        </p:nvCxnSpPr>
        <p:spPr>
          <a:xfrm rot="16200000" flipV="1">
            <a:off x="6090231" y="1612900"/>
            <a:ext cx="15398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C20518-1453-2F4C-A504-075B4ABB9E22}"/>
              </a:ext>
            </a:extLst>
          </p:cNvPr>
          <p:cNvCxnSpPr/>
          <p:nvPr/>
        </p:nvCxnSpPr>
        <p:spPr>
          <a:xfrm rot="16200000" flipV="1">
            <a:off x="6599818" y="1600200"/>
            <a:ext cx="15398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2983A9-0BE3-D24E-B616-A41169954BEC}"/>
              </a:ext>
            </a:extLst>
          </p:cNvPr>
          <p:cNvCxnSpPr/>
          <p:nvPr/>
        </p:nvCxnSpPr>
        <p:spPr>
          <a:xfrm rot="16200000" flipV="1">
            <a:off x="7091149" y="1618457"/>
            <a:ext cx="15398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3F7231-24C7-9046-8447-83671CE6FCD4}"/>
              </a:ext>
            </a:extLst>
          </p:cNvPr>
          <p:cNvCxnSpPr/>
          <p:nvPr/>
        </p:nvCxnSpPr>
        <p:spPr>
          <a:xfrm rot="16200000" flipV="1">
            <a:off x="6587118" y="2106613"/>
            <a:ext cx="15398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B26C1F4-419C-AA44-817C-21ECAEF79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359326"/>
              </p:ext>
            </p:extLst>
          </p:nvPr>
        </p:nvGraphicFramePr>
        <p:xfrm>
          <a:off x="4050293" y="2166938"/>
          <a:ext cx="560388" cy="360362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9564BA-3F3F-5646-97E6-4D72C7A1CC61}"/>
              </a:ext>
            </a:extLst>
          </p:cNvPr>
          <p:cNvCxnSpPr/>
          <p:nvPr/>
        </p:nvCxnSpPr>
        <p:spPr>
          <a:xfrm rot="16200000" flipV="1">
            <a:off x="4221743" y="2084388"/>
            <a:ext cx="15398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1C15925-0261-AE4C-BC46-2D26E93DB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97391"/>
              </p:ext>
            </p:extLst>
          </p:nvPr>
        </p:nvGraphicFramePr>
        <p:xfrm>
          <a:off x="5023431" y="2166938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F7BF5A-76A5-4648-A6DA-E307D7661797}"/>
              </a:ext>
            </a:extLst>
          </p:cNvPr>
          <p:cNvCxnSpPr/>
          <p:nvPr/>
        </p:nvCxnSpPr>
        <p:spPr>
          <a:xfrm rot="16200000" flipV="1">
            <a:off x="5149637" y="2113756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3754C93-A2AF-6A45-BA81-1F9EDE1C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881" y="3432175"/>
            <a:ext cx="26289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3, 4, 5, 6, 7, 8, 9</a:t>
            </a:r>
          </a:p>
        </p:txBody>
      </p:sp>
    </p:spTree>
    <p:extLst>
      <p:ext uri="{BB962C8B-B14F-4D97-AF65-F5344CB8AC3E}">
        <p14:creationId xmlns:p14="http://schemas.microsoft.com/office/powerpoint/2010/main" val="354344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9C93B-19C9-294A-98CE-5BD78396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8F78-B72F-CF4D-932A-90F8137A83D4}"/>
              </a:ext>
            </a:extLst>
          </p:cNvPr>
          <p:cNvSpPr txBox="1">
            <a:spLocks/>
          </p:cNvSpPr>
          <p:nvPr/>
        </p:nvSpPr>
        <p:spPr>
          <a:xfrm>
            <a:off x="0" y="1042639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Algorithm </a:t>
            </a:r>
            <a:r>
              <a:rPr lang="en-US" altLang="en-US" sz="2200" dirty="0" err="1"/>
              <a:t>RadixSort</a:t>
            </a:r>
            <a:r>
              <a:rPr lang="en-US" altLang="en-US" sz="2200" dirty="0"/>
              <a:t>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      for 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 t = (A[</a:t>
            </a:r>
            <a:r>
              <a:rPr lang="en-US" altLang="en-US" sz="2200" dirty="0" err="1"/>
              <a:t>i</a:t>
            </a:r>
            <a:r>
              <a:rPr lang="en-US" altLang="en-US" sz="2200" dirty="0"/>
              <a:t>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 enqueue(A[</a:t>
            </a:r>
            <a:r>
              <a:rPr lang="en-US" altLang="en-US" sz="2200" dirty="0" err="1"/>
              <a:t>i</a:t>
            </a:r>
            <a:r>
              <a:rPr lang="en-US" altLang="en-US" sz="2200" dirty="0"/>
              <a:t>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  <a:p>
            <a:pPr>
              <a:buFont typeface="Wingdings 2" pitchFamily="2" charset="2"/>
              <a:buNone/>
            </a:pPr>
            <a:endParaRPr lang="en-US" altLang="en-US" sz="2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672B8E-AED9-DE4E-AB32-26CDFA84A3AA}"/>
              </a:ext>
            </a:extLst>
          </p:cNvPr>
          <p:cNvSpPr txBox="1">
            <a:spLocks/>
          </p:cNvSpPr>
          <p:nvPr/>
        </p:nvSpPr>
        <p:spPr bwMode="auto">
          <a:xfrm>
            <a:off x="304800" y="509239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074C32-D8DF-CE44-A23A-F2360CDB0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575" y="661639"/>
            <a:ext cx="4802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0000CC"/>
                </a:solidFill>
              </a:rPr>
              <a:t>170, 45, 275, 190, 802, 24, 2, 66</a:t>
            </a:r>
            <a:endParaRPr lang="en-US" altLang="en-US" sz="240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F2D5595-3F5C-B542-A6AE-6B33F38A2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700" y="3098452"/>
            <a:ext cx="12954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</a:t>
            </a: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DD3BADB6-DB91-714A-B582-3875343CE5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387094"/>
              </p:ext>
            </p:extLst>
          </p:nvPr>
        </p:nvGraphicFramePr>
        <p:xfrm>
          <a:off x="4168775" y="1185514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EE65C2-B688-1045-8619-3450A4C50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99233"/>
              </p:ext>
            </p:extLst>
          </p:nvPr>
        </p:nvGraphicFramePr>
        <p:xfrm>
          <a:off x="4168775" y="1776064"/>
          <a:ext cx="560388" cy="360363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B3FAE4-382D-9C41-AC9B-9A092BB8C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540915"/>
              </p:ext>
            </p:extLst>
          </p:nvPr>
        </p:nvGraphicFramePr>
        <p:xfrm>
          <a:off x="5092700" y="1768127"/>
          <a:ext cx="576263" cy="360362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1" marR="91381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FD1996-040A-994B-BE94-8E98AAB26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827458"/>
              </p:ext>
            </p:extLst>
          </p:nvPr>
        </p:nvGraphicFramePr>
        <p:xfrm>
          <a:off x="6076950" y="1768127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3C74EA-97FF-424E-86D7-5667B83B6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20317"/>
              </p:ext>
            </p:extLst>
          </p:nvPr>
        </p:nvGraphicFramePr>
        <p:xfrm>
          <a:off x="6596063" y="1763364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3A2DD12-8B05-6048-B2AD-3422E8538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861056"/>
              </p:ext>
            </p:extLst>
          </p:nvPr>
        </p:nvGraphicFramePr>
        <p:xfrm>
          <a:off x="7097713" y="1768127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9809159-6CD6-304F-899B-19F8C2013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778992"/>
              </p:ext>
            </p:extLst>
          </p:nvPr>
        </p:nvGraphicFramePr>
        <p:xfrm>
          <a:off x="6550025" y="2228502"/>
          <a:ext cx="549275" cy="360362"/>
        </p:xfrm>
        <a:graphic>
          <a:graphicData uri="http://schemas.openxmlformats.org/drawingml/2006/table">
            <a:tbl>
              <a:tblPr/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63" marR="91363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4ABC93-CF95-8C4E-98B7-2773483858F1}"/>
              </a:ext>
            </a:extLst>
          </p:cNvPr>
          <p:cNvCxnSpPr/>
          <p:nvPr/>
        </p:nvCxnSpPr>
        <p:spPr>
          <a:xfrm rot="16200000" flipV="1">
            <a:off x="4344194" y="1710183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CCDE43-D3B3-D44A-89D8-A78F04ABEFC0}"/>
              </a:ext>
            </a:extLst>
          </p:cNvPr>
          <p:cNvCxnSpPr/>
          <p:nvPr/>
        </p:nvCxnSpPr>
        <p:spPr>
          <a:xfrm rot="16200000" flipV="1">
            <a:off x="5295106" y="1680021"/>
            <a:ext cx="15398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37930E-82C0-CC4C-B5D3-155A0C595238}"/>
              </a:ext>
            </a:extLst>
          </p:cNvPr>
          <p:cNvCxnSpPr/>
          <p:nvPr/>
        </p:nvCxnSpPr>
        <p:spPr>
          <a:xfrm rot="16200000" flipV="1">
            <a:off x="6227763" y="1664939"/>
            <a:ext cx="153988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11769A-BFDA-9E43-93E5-BC7565E6B027}"/>
              </a:ext>
            </a:extLst>
          </p:cNvPr>
          <p:cNvCxnSpPr/>
          <p:nvPr/>
        </p:nvCxnSpPr>
        <p:spPr>
          <a:xfrm rot="16200000" flipV="1">
            <a:off x="6737350" y="1652239"/>
            <a:ext cx="15398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A0D3A8-249E-7940-8E18-6AF974EA8B1A}"/>
              </a:ext>
            </a:extLst>
          </p:cNvPr>
          <p:cNvCxnSpPr/>
          <p:nvPr/>
        </p:nvCxnSpPr>
        <p:spPr>
          <a:xfrm rot="16200000" flipV="1">
            <a:off x="7228681" y="1670496"/>
            <a:ext cx="15398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BBD2BA-25E5-5D48-90A4-2D9251022DF7}"/>
              </a:ext>
            </a:extLst>
          </p:cNvPr>
          <p:cNvCxnSpPr/>
          <p:nvPr/>
        </p:nvCxnSpPr>
        <p:spPr>
          <a:xfrm rot="16200000" flipV="1">
            <a:off x="6724650" y="2158652"/>
            <a:ext cx="15398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C94DA4E-8DC5-0D4D-9EA9-786F78D46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23618"/>
              </p:ext>
            </p:extLst>
          </p:nvPr>
        </p:nvGraphicFramePr>
        <p:xfrm>
          <a:off x="4187825" y="2218977"/>
          <a:ext cx="560388" cy="360362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FF7213-825B-6A4B-99A3-4DFE55F84CEC}"/>
              </a:ext>
            </a:extLst>
          </p:cNvPr>
          <p:cNvCxnSpPr/>
          <p:nvPr/>
        </p:nvCxnSpPr>
        <p:spPr>
          <a:xfrm rot="16200000" flipV="1">
            <a:off x="4359275" y="2136427"/>
            <a:ext cx="153987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00F9D5C-1A1D-6044-A402-4A8CBD461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507002"/>
              </p:ext>
            </p:extLst>
          </p:nvPr>
        </p:nvGraphicFramePr>
        <p:xfrm>
          <a:off x="5160963" y="2218977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B8CCAA-EE48-1E47-9512-85CC969E0132}"/>
              </a:ext>
            </a:extLst>
          </p:cNvPr>
          <p:cNvCxnSpPr/>
          <p:nvPr/>
        </p:nvCxnSpPr>
        <p:spPr>
          <a:xfrm rot="16200000" flipV="1">
            <a:off x="5287169" y="2165795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714828B-8043-B942-97E0-A478904A8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6452839"/>
            <a:ext cx="50815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 </a:t>
            </a:r>
            <a:r>
              <a:rPr lang="en-US" altLang="en-US" sz="2200" b="1">
                <a:solidFill>
                  <a:srgbClr val="0000CC"/>
                </a:solidFill>
              </a:rPr>
              <a:t>170, 190, 802, 2, 24, 45, 275, 66}</a:t>
            </a:r>
          </a:p>
        </p:txBody>
      </p:sp>
    </p:spTree>
    <p:extLst>
      <p:ext uri="{BB962C8B-B14F-4D97-AF65-F5344CB8AC3E}">
        <p14:creationId xmlns:p14="http://schemas.microsoft.com/office/powerpoint/2010/main" val="123557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7CC38B-3ADC-EC40-8854-C0CCFE83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33D0-4A30-2743-9FA8-556C571E44DD}"/>
              </a:ext>
            </a:extLst>
          </p:cNvPr>
          <p:cNvSpPr txBox="1">
            <a:spLocks/>
          </p:cNvSpPr>
          <p:nvPr/>
        </p:nvSpPr>
        <p:spPr>
          <a:xfrm>
            <a:off x="0" y="930276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24B8218-3DA3-DB42-97FF-14400ACC095E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6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8190212-A663-1A4E-8F36-0841431B1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909889"/>
            <a:ext cx="12954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100</a:t>
            </a: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46BEE805-C8BE-D646-9DE7-6A19F81288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1132069"/>
              </p:ext>
            </p:extLst>
          </p:nvPr>
        </p:nvGraphicFramePr>
        <p:xfrm>
          <a:off x="4092575" y="996951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CD7912-8292-3E44-A393-3172A1C98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81277"/>
              </p:ext>
            </p:extLst>
          </p:nvPr>
        </p:nvGraphicFramePr>
        <p:xfrm>
          <a:off x="7440613" y="1587501"/>
          <a:ext cx="560387" cy="360363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D60D91-F13A-C345-9671-37E72FD71044}"/>
              </a:ext>
            </a:extLst>
          </p:cNvPr>
          <p:cNvCxnSpPr/>
          <p:nvPr/>
        </p:nvCxnSpPr>
        <p:spPr>
          <a:xfrm rot="16200000" flipV="1">
            <a:off x="7616032" y="1521620"/>
            <a:ext cx="1524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8FACF7D-7B65-7943-A62A-A9A5EF626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96876"/>
            <a:ext cx="50815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 </a:t>
            </a:r>
            <a:r>
              <a:rPr lang="en-US" altLang="en-US" sz="2200" b="1">
                <a:solidFill>
                  <a:srgbClr val="0000CC"/>
                </a:solidFill>
              </a:rPr>
              <a:t>170, 190, 802, 2, 24, 45, 275, 66}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1735A-C775-4449-A116-B4E00FF2C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338" y="3478214"/>
            <a:ext cx="47244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0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t = (</a:t>
            </a:r>
            <a:r>
              <a:rPr lang="en-US" altLang="en-US" sz="2200" b="1">
                <a:solidFill>
                  <a:srgbClr val="0000CC"/>
                </a:solidFill>
              </a:rPr>
              <a:t>A[0]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mod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div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(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   = (</a:t>
            </a:r>
            <a:r>
              <a:rPr lang="en-US" altLang="en-US" sz="2200" b="1">
                <a:solidFill>
                  <a:srgbClr val="0000CC"/>
                </a:solidFill>
              </a:rPr>
              <a:t>170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mod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100)</a:t>
            </a:r>
            <a:r>
              <a:rPr lang="en-US" altLang="en-US" sz="800" b="1">
                <a:solidFill>
                  <a:srgbClr val="0000CC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div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(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=</a:t>
            </a:r>
            <a:r>
              <a:rPr lang="en-US" altLang="en-US" sz="2200" b="1">
                <a:solidFill>
                  <a:srgbClr val="0000CC"/>
                </a:solidFill>
              </a:rPr>
              <a:t>70</a:t>
            </a:r>
            <a:r>
              <a:rPr lang="en-US" altLang="en-US" sz="400" b="1">
                <a:solidFill>
                  <a:srgbClr val="0000CC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/</a:t>
            </a:r>
            <a:r>
              <a:rPr lang="en-US" altLang="en-US" sz="4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=</a:t>
            </a:r>
            <a:r>
              <a:rPr lang="en-US" altLang="en-US" sz="2200" b="1">
                <a:solidFill>
                  <a:srgbClr val="0000CC"/>
                </a:solidFill>
              </a:rPr>
              <a:t>7</a:t>
            </a:r>
            <a:r>
              <a:rPr lang="en-US" altLang="en-US" sz="2200" b="1">
                <a:solidFill>
                  <a:srgbClr val="FF0000"/>
                </a:solidFill>
              </a:rPr>
              <a:t> </a:t>
            </a:r>
            <a:endParaRPr lang="en-US" altLang="en-US" sz="2200" b="1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enqueue(</a:t>
            </a:r>
            <a:r>
              <a:rPr lang="en-US" altLang="en-US" sz="2200" b="1">
                <a:solidFill>
                  <a:srgbClr val="0000CC"/>
                </a:solidFill>
              </a:rPr>
              <a:t>170</a:t>
            </a:r>
            <a:r>
              <a:rPr lang="en-US" altLang="en-US" sz="2200" b="1">
                <a:solidFill>
                  <a:srgbClr val="FF0000"/>
                </a:solidFill>
              </a:rPr>
              <a:t>, Q[</a:t>
            </a:r>
            <a:r>
              <a:rPr lang="en-US" altLang="en-US" sz="2200" b="1">
                <a:solidFill>
                  <a:srgbClr val="0000CC"/>
                </a:solidFill>
              </a:rPr>
              <a:t>7</a:t>
            </a:r>
            <a:r>
              <a:rPr lang="en-US" altLang="en-US" sz="2200" b="1">
                <a:solidFill>
                  <a:srgbClr val="FF0000"/>
                </a:solidFill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46245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6B12F-C4AD-C343-A2AD-B62FD9D2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7982B-D792-2748-9EDB-880E61488CDA}"/>
              </a:ext>
            </a:extLst>
          </p:cNvPr>
          <p:cNvSpPr txBox="1">
            <a:spLocks/>
          </p:cNvSpPr>
          <p:nvPr/>
        </p:nvSpPr>
        <p:spPr>
          <a:xfrm>
            <a:off x="0" y="977590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AC3A5D-D9C7-5C41-A212-908097E23397}"/>
              </a:ext>
            </a:extLst>
          </p:cNvPr>
          <p:cNvSpPr txBox="1">
            <a:spLocks/>
          </p:cNvSpPr>
          <p:nvPr/>
        </p:nvSpPr>
        <p:spPr bwMode="auto">
          <a:xfrm>
            <a:off x="457200" y="367990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31CDEEB-9CBD-114A-870A-058BC37B5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957203"/>
            <a:ext cx="12954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100</a:t>
            </a: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06428954-F7CF-504E-84D0-294A7CC3C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575016"/>
              </p:ext>
            </p:extLst>
          </p:nvPr>
        </p:nvGraphicFramePr>
        <p:xfrm>
          <a:off x="4092575" y="1044265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467ADC-3A95-954A-B1ED-38DB8BA28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56213"/>
              </p:ext>
            </p:extLst>
          </p:nvPr>
        </p:nvGraphicFramePr>
        <p:xfrm>
          <a:off x="8382000" y="1634815"/>
          <a:ext cx="560388" cy="360363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0C1E70-F1B4-1D4A-A4AA-56C1C08AD163}"/>
              </a:ext>
            </a:extLst>
          </p:cNvPr>
          <p:cNvCxnSpPr/>
          <p:nvPr/>
        </p:nvCxnSpPr>
        <p:spPr>
          <a:xfrm rot="16200000" flipV="1">
            <a:off x="8558213" y="1569728"/>
            <a:ext cx="152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4">
            <a:extLst>
              <a:ext uri="{FF2B5EF4-FFF2-40B4-BE49-F238E27FC236}">
                <a16:creationId xmlns:a16="http://schemas.microsoft.com/office/drawing/2014/main" id="{ACB6BFF1-3DAC-E34D-ACEF-4190CB6FF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4190"/>
            <a:ext cx="50815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 </a:t>
            </a:r>
            <a:r>
              <a:rPr lang="en-US" altLang="en-US" sz="2200" b="1">
                <a:solidFill>
                  <a:srgbClr val="0000CC"/>
                </a:solidFill>
              </a:rPr>
              <a:t>170, 190, 802, 2, 24, 45, 275, 66}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F1701-A130-FB47-9642-AD779B262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338" y="3525528"/>
            <a:ext cx="47244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t = (</a:t>
            </a:r>
            <a:r>
              <a:rPr lang="en-US" altLang="en-US" sz="2200" b="1">
                <a:solidFill>
                  <a:srgbClr val="0000CC"/>
                </a:solidFill>
              </a:rPr>
              <a:t>A[1]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mod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div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(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   = (</a:t>
            </a:r>
            <a:r>
              <a:rPr lang="en-US" altLang="en-US" sz="2200" b="1">
                <a:solidFill>
                  <a:srgbClr val="0000CC"/>
                </a:solidFill>
              </a:rPr>
              <a:t>190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mod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100)</a:t>
            </a:r>
            <a:r>
              <a:rPr lang="en-US" altLang="en-US" sz="800" b="1">
                <a:solidFill>
                  <a:srgbClr val="0000CC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div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(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)</a:t>
            </a:r>
            <a:r>
              <a:rPr lang="en-US" altLang="en-US" sz="8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=</a:t>
            </a:r>
            <a:r>
              <a:rPr lang="en-US" altLang="en-US" sz="2200" b="1">
                <a:solidFill>
                  <a:srgbClr val="0000CC"/>
                </a:solidFill>
              </a:rPr>
              <a:t>90</a:t>
            </a:r>
            <a:r>
              <a:rPr lang="en-US" altLang="en-US" sz="400" b="1">
                <a:solidFill>
                  <a:srgbClr val="0000CC"/>
                </a:solidFill>
              </a:rPr>
              <a:t> </a:t>
            </a:r>
            <a:r>
              <a:rPr lang="en-US" altLang="en-US" sz="2200" b="1">
                <a:solidFill>
                  <a:srgbClr val="FF0000"/>
                </a:solidFill>
              </a:rPr>
              <a:t>/</a:t>
            </a:r>
            <a:r>
              <a:rPr lang="en-US" altLang="en-US" sz="400" b="1">
                <a:solidFill>
                  <a:srgbClr val="FF0000"/>
                </a:solidFill>
              </a:rPr>
              <a:t> </a:t>
            </a:r>
            <a:r>
              <a:rPr lang="en-US" altLang="en-US" sz="2200" b="1">
                <a:solidFill>
                  <a:srgbClr val="0000CC"/>
                </a:solidFill>
              </a:rPr>
              <a:t>10</a:t>
            </a:r>
            <a:r>
              <a:rPr lang="en-US" altLang="en-US" sz="2200" b="1">
                <a:solidFill>
                  <a:srgbClr val="FF0000"/>
                </a:solidFill>
              </a:rPr>
              <a:t>=</a:t>
            </a:r>
            <a:r>
              <a:rPr lang="en-US" altLang="en-US" sz="2200" b="1">
                <a:solidFill>
                  <a:srgbClr val="0000CC"/>
                </a:solidFill>
              </a:rPr>
              <a:t>9</a:t>
            </a:r>
            <a:r>
              <a:rPr lang="en-US" altLang="en-US" sz="2200" b="1">
                <a:solidFill>
                  <a:srgbClr val="FF0000"/>
                </a:solidFill>
              </a:rPr>
              <a:t> </a:t>
            </a:r>
            <a:endParaRPr lang="en-US" altLang="en-US" sz="2200" b="1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enqueue(</a:t>
            </a:r>
            <a:r>
              <a:rPr lang="en-US" altLang="en-US" sz="2200" b="1">
                <a:solidFill>
                  <a:srgbClr val="0000CC"/>
                </a:solidFill>
              </a:rPr>
              <a:t>190</a:t>
            </a:r>
            <a:r>
              <a:rPr lang="en-US" altLang="en-US" sz="2200" b="1">
                <a:solidFill>
                  <a:srgbClr val="FF0000"/>
                </a:solidFill>
              </a:rPr>
              <a:t>, Q[</a:t>
            </a:r>
            <a:r>
              <a:rPr lang="en-US" altLang="en-US" sz="2200" b="1">
                <a:solidFill>
                  <a:srgbClr val="0000CC"/>
                </a:solidFill>
              </a:rPr>
              <a:t>9</a:t>
            </a:r>
            <a:r>
              <a:rPr lang="en-US" altLang="en-US" sz="2200" b="1">
                <a:solidFill>
                  <a:srgbClr val="FF0000"/>
                </a:solidFill>
              </a:rPr>
              <a:t>])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28425F-5853-CA4F-A581-BBC6275BD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839427"/>
              </p:ext>
            </p:extLst>
          </p:nvPr>
        </p:nvGraphicFramePr>
        <p:xfrm>
          <a:off x="7440613" y="1639578"/>
          <a:ext cx="560387" cy="360362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FD8FA1-EA90-2F40-BEA1-A8FD8077E560}"/>
              </a:ext>
            </a:extLst>
          </p:cNvPr>
          <p:cNvCxnSpPr/>
          <p:nvPr/>
        </p:nvCxnSpPr>
        <p:spPr>
          <a:xfrm rot="16200000" flipV="1">
            <a:off x="7616032" y="1573696"/>
            <a:ext cx="1524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0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C6EE94-E1B7-4243-BB12-CBA34F3D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BEF3-9EB1-E941-A43B-E027459F2CF9}"/>
              </a:ext>
            </a:extLst>
          </p:cNvPr>
          <p:cNvSpPr txBox="1">
            <a:spLocks/>
          </p:cNvSpPr>
          <p:nvPr/>
        </p:nvSpPr>
        <p:spPr>
          <a:xfrm>
            <a:off x="0" y="762000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0A81AF-640D-7B43-9A6D-69E1633F5159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9C4B3CB-06F5-E842-B255-2E68E69C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741613"/>
            <a:ext cx="12954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2E442-5D7D-034D-8300-800B0E35F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3532188"/>
            <a:ext cx="29432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2</a:t>
            </a:r>
            <a:r>
              <a:rPr lang="en-US" altLang="en-US" sz="2200" b="1">
                <a:solidFill>
                  <a:srgbClr val="FF0000"/>
                </a:solidFill>
              </a:rPr>
              <a:t>, </a:t>
            </a:r>
            <a:r>
              <a:rPr lang="en-US" altLang="en-US" sz="2200" b="1">
                <a:solidFill>
                  <a:srgbClr val="0000CC"/>
                </a:solidFill>
              </a:rPr>
              <a:t>3, 4, 5, 6, 7, 8, 9</a:t>
            </a: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26BCA81D-6CC5-3942-9BA7-4F03FD7A904E}"/>
              </a:ext>
            </a:extLst>
          </p:cNvPr>
          <p:cNvGraphicFramePr>
            <a:graphicFrameLocks/>
          </p:cNvGraphicFramePr>
          <p:nvPr/>
        </p:nvGraphicFramePr>
        <p:xfrm>
          <a:off x="4038600" y="822325"/>
          <a:ext cx="5029200" cy="396875"/>
        </p:xfrm>
        <a:graphic>
          <a:graphicData uri="http://schemas.openxmlformats.org/drawingml/2006/table">
            <a:tbl>
              <a:tblPr/>
              <a:tblGrid>
                <a:gridCol w="502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3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2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7F6B2C-112B-9246-BDBE-38EFAF1CBA54}"/>
              </a:ext>
            </a:extLst>
          </p:cNvPr>
          <p:cNvGraphicFramePr>
            <a:graphicFrameLocks noGrp="1"/>
          </p:cNvGraphicFramePr>
          <p:nvPr/>
        </p:nvGraphicFramePr>
        <p:xfrm>
          <a:off x="7527925" y="1868488"/>
          <a:ext cx="563563" cy="360362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51" marR="91451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0B5197-F114-9E40-AE27-FE1F2AF51BA8}"/>
              </a:ext>
            </a:extLst>
          </p:cNvPr>
          <p:cNvGraphicFramePr>
            <a:graphicFrameLocks noGrp="1"/>
          </p:cNvGraphicFramePr>
          <p:nvPr/>
        </p:nvGraphicFramePr>
        <p:xfrm>
          <a:off x="4002088" y="1371600"/>
          <a:ext cx="685800" cy="360363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2B2D409-4429-5E4F-BEFE-14C762BC3180}"/>
              </a:ext>
            </a:extLst>
          </p:cNvPr>
          <p:cNvGraphicFramePr>
            <a:graphicFrameLocks noGrp="1"/>
          </p:cNvGraphicFramePr>
          <p:nvPr/>
        </p:nvGraphicFramePr>
        <p:xfrm>
          <a:off x="4114800" y="2438400"/>
          <a:ext cx="473075" cy="360363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69" marR="91469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AE8C40-C813-0443-BB7D-7AC4018C35EE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371600"/>
          <a:ext cx="473075" cy="360363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69" marR="91469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14D5D0-B7FE-AF47-8620-9258E5BB9AED}"/>
              </a:ext>
            </a:extLst>
          </p:cNvPr>
          <p:cNvGraphicFramePr>
            <a:graphicFrameLocks noGrp="1"/>
          </p:cNvGraphicFramePr>
          <p:nvPr/>
        </p:nvGraphicFramePr>
        <p:xfrm>
          <a:off x="7050088" y="1371600"/>
          <a:ext cx="473075" cy="360363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69" marR="91469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B59E8AE-580A-604D-9D5D-D717C5383380}"/>
              </a:ext>
            </a:extLst>
          </p:cNvPr>
          <p:cNvGraphicFramePr>
            <a:graphicFrameLocks noGrp="1"/>
          </p:cNvGraphicFramePr>
          <p:nvPr/>
        </p:nvGraphicFramePr>
        <p:xfrm>
          <a:off x="7577138" y="1382713"/>
          <a:ext cx="527050" cy="360362"/>
        </p:xfrm>
        <a:graphic>
          <a:graphicData uri="http://schemas.openxmlformats.org/drawingml/2006/table">
            <a:tbl>
              <a:tblPr/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38" marR="913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D8145E-BE3B-3F43-9C51-17CA7DDC5D11}"/>
              </a:ext>
            </a:extLst>
          </p:cNvPr>
          <p:cNvCxnSpPr/>
          <p:nvPr/>
        </p:nvCxnSpPr>
        <p:spPr>
          <a:xfrm rot="16200000" flipV="1">
            <a:off x="4229100" y="12573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C9E716-1EEC-AC40-BEF4-20AC009B45E9}"/>
              </a:ext>
            </a:extLst>
          </p:cNvPr>
          <p:cNvCxnSpPr/>
          <p:nvPr/>
        </p:nvCxnSpPr>
        <p:spPr>
          <a:xfrm rot="16200000" flipV="1">
            <a:off x="6210300" y="12573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D4FA07-D6A4-F044-B2E3-A7D999554043}"/>
              </a:ext>
            </a:extLst>
          </p:cNvPr>
          <p:cNvCxnSpPr/>
          <p:nvPr/>
        </p:nvCxnSpPr>
        <p:spPr>
          <a:xfrm rot="16200000" flipV="1">
            <a:off x="7188200" y="1252538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823D010-3CD5-884A-9FB8-BB2B4972405A}"/>
              </a:ext>
            </a:extLst>
          </p:cNvPr>
          <p:cNvGraphicFramePr>
            <a:graphicFrameLocks noGrp="1"/>
          </p:cNvGraphicFramePr>
          <p:nvPr/>
        </p:nvGraphicFramePr>
        <p:xfrm>
          <a:off x="8482013" y="1373188"/>
          <a:ext cx="666750" cy="360362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62" marR="91462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32259C-432D-2046-8B5E-91018A826BC5}"/>
              </a:ext>
            </a:extLst>
          </p:cNvPr>
          <p:cNvCxnSpPr/>
          <p:nvPr/>
        </p:nvCxnSpPr>
        <p:spPr>
          <a:xfrm rot="16200000" flipV="1">
            <a:off x="8691563" y="12573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DEE0FE0-1983-5849-A3FD-8954724295AC}"/>
              </a:ext>
            </a:extLst>
          </p:cNvPr>
          <p:cNvGraphicFramePr>
            <a:graphicFrameLocks noGrp="1"/>
          </p:cNvGraphicFramePr>
          <p:nvPr/>
        </p:nvGraphicFramePr>
        <p:xfrm>
          <a:off x="4114800" y="1905000"/>
          <a:ext cx="450850" cy="360363"/>
        </p:xfrm>
        <a:graphic>
          <a:graphicData uri="http://schemas.openxmlformats.org/drawingml/2006/table">
            <a:tbl>
              <a:tblPr/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21" marR="91321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0CA372-F335-564B-A762-EDEDBB5DA0CA}"/>
              </a:ext>
            </a:extLst>
          </p:cNvPr>
          <p:cNvCxnSpPr/>
          <p:nvPr/>
        </p:nvCxnSpPr>
        <p:spPr>
          <a:xfrm rot="16200000" flipV="1">
            <a:off x="7721600" y="12573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56ABAD-02D2-E149-8DA8-C01546927CAE}"/>
              </a:ext>
            </a:extLst>
          </p:cNvPr>
          <p:cNvCxnSpPr/>
          <p:nvPr/>
        </p:nvCxnSpPr>
        <p:spPr>
          <a:xfrm rot="16200000" flipV="1">
            <a:off x="4229100" y="17907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959AEC-6EC3-4B41-82B8-A89E5636F83A}"/>
              </a:ext>
            </a:extLst>
          </p:cNvPr>
          <p:cNvCxnSpPr/>
          <p:nvPr/>
        </p:nvCxnSpPr>
        <p:spPr>
          <a:xfrm rot="16200000" flipV="1">
            <a:off x="4241800" y="23241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014A87-A7C9-8A49-AE3A-700B6E13CC59}"/>
              </a:ext>
            </a:extLst>
          </p:cNvPr>
          <p:cNvCxnSpPr/>
          <p:nvPr/>
        </p:nvCxnSpPr>
        <p:spPr>
          <a:xfrm rot="16200000" flipV="1">
            <a:off x="7734300" y="1778000"/>
            <a:ext cx="2286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8AD4E-879F-DF4D-AF67-C20A6D19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6096000"/>
            <a:ext cx="50815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</a:t>
            </a:r>
            <a:r>
              <a:rPr lang="en-US" altLang="en-US" sz="2200" b="1">
                <a:solidFill>
                  <a:srgbClr val="0000CC"/>
                </a:solidFill>
              </a:rPr>
              <a:t>802, 2, 24, 45, 66, 275, 170, 190}</a:t>
            </a:r>
          </a:p>
        </p:txBody>
      </p:sp>
      <p:sp>
        <p:nvSpPr>
          <p:cNvPr id="25" name="Rectangle 79">
            <a:extLst>
              <a:ext uri="{FF2B5EF4-FFF2-40B4-BE49-F238E27FC236}">
                <a16:creationId xmlns:a16="http://schemas.microsoft.com/office/drawing/2014/main" id="{E100D1F5-D577-7C4E-804C-74C76193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8600"/>
            <a:ext cx="50815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 </a:t>
            </a:r>
            <a:r>
              <a:rPr lang="en-US" altLang="en-US" sz="2200" b="1">
                <a:solidFill>
                  <a:srgbClr val="0000CC"/>
                </a:solidFill>
              </a:rPr>
              <a:t>170, 190, 802, 2, 24, 45, 275, 66}</a:t>
            </a:r>
          </a:p>
        </p:txBody>
      </p:sp>
    </p:spTree>
    <p:extLst>
      <p:ext uri="{BB962C8B-B14F-4D97-AF65-F5344CB8AC3E}">
        <p14:creationId xmlns:p14="http://schemas.microsoft.com/office/powerpoint/2010/main" val="213831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6CD75-EB0F-3C4F-8C17-40C42B55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64A5-6828-6349-8F15-A7D3941C9A73}"/>
              </a:ext>
            </a:extLst>
          </p:cNvPr>
          <p:cNvSpPr txBox="1">
            <a:spLocks/>
          </p:cNvSpPr>
          <p:nvPr/>
        </p:nvSpPr>
        <p:spPr>
          <a:xfrm>
            <a:off x="0" y="762000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AE4B6B-9AC1-2E46-8CE6-7372FB2BE28B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522E7-ECB0-3749-96F1-EA3628E0D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741613"/>
            <a:ext cx="16637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1000</a:t>
            </a: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1B01D080-6380-EF40-BC69-A3CD0F5FE464}"/>
              </a:ext>
            </a:extLst>
          </p:cNvPr>
          <p:cNvGraphicFramePr>
            <a:graphicFrameLocks/>
          </p:cNvGraphicFramePr>
          <p:nvPr/>
        </p:nvGraphicFramePr>
        <p:xfrm>
          <a:off x="4092575" y="828675"/>
          <a:ext cx="4800602" cy="457200"/>
        </p:xfrm>
        <a:graphic>
          <a:graphicData uri="http://schemas.openxmlformats.org/drawingml/2006/table">
            <a:tbl>
              <a:tblPr/>
              <a:tblGrid>
                <a:gridCol w="479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4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8C01CD-EC3C-5641-B9CC-0591752E1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087688"/>
            <a:ext cx="50466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i = </a:t>
            </a:r>
            <a:r>
              <a:rPr lang="en-US" altLang="en-US" sz="2000" b="1">
                <a:solidFill>
                  <a:srgbClr val="0000CC"/>
                </a:solidFill>
              </a:rPr>
              <a:t>0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t = (</a:t>
            </a:r>
            <a:r>
              <a:rPr lang="en-US" altLang="en-US" sz="2000" b="1">
                <a:solidFill>
                  <a:srgbClr val="0000CC"/>
                </a:solidFill>
              </a:rPr>
              <a:t>A[0]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mod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0000CC"/>
                </a:solidFill>
              </a:rPr>
              <a:t>1000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div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>
                <a:solidFill>
                  <a:srgbClr val="0000CC"/>
                </a:solidFill>
              </a:rPr>
              <a:t>1000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   = (</a:t>
            </a:r>
            <a:r>
              <a:rPr lang="en-US" altLang="en-US" sz="2000" b="1">
                <a:solidFill>
                  <a:srgbClr val="0000CC"/>
                </a:solidFill>
              </a:rPr>
              <a:t>802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mod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0000CC"/>
                </a:solidFill>
              </a:rPr>
              <a:t>1000)</a:t>
            </a:r>
            <a:r>
              <a:rPr lang="en-US" altLang="en-US" sz="700" b="1">
                <a:solidFill>
                  <a:srgbClr val="0000CC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div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(</a:t>
            </a:r>
            <a:r>
              <a:rPr lang="en-US" altLang="en-US" sz="2000" b="1">
                <a:solidFill>
                  <a:srgbClr val="0000CC"/>
                </a:solidFill>
              </a:rPr>
              <a:t>1000</a:t>
            </a:r>
            <a:r>
              <a:rPr lang="en-US" altLang="en-US" sz="2000" b="1">
                <a:solidFill>
                  <a:srgbClr val="FF0000"/>
                </a:solidFill>
              </a:rPr>
              <a:t>)</a:t>
            </a:r>
            <a:r>
              <a:rPr lang="en-US" altLang="en-US" sz="7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=</a:t>
            </a:r>
            <a:r>
              <a:rPr lang="en-US" altLang="en-US" sz="2000" b="1">
                <a:solidFill>
                  <a:srgbClr val="0000CC"/>
                </a:solidFill>
              </a:rPr>
              <a:t>802</a:t>
            </a:r>
            <a:r>
              <a:rPr lang="en-US" altLang="en-US" sz="300" b="1">
                <a:solidFill>
                  <a:srgbClr val="0000CC"/>
                </a:solidFill>
              </a:rPr>
              <a:t> </a:t>
            </a:r>
            <a:r>
              <a:rPr lang="en-US" altLang="en-US" sz="2000" b="1">
                <a:solidFill>
                  <a:srgbClr val="FF0000"/>
                </a:solidFill>
              </a:rPr>
              <a:t>/</a:t>
            </a:r>
            <a:r>
              <a:rPr lang="en-US" altLang="en-US" sz="300" b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0000CC"/>
                </a:solidFill>
              </a:rPr>
              <a:t>100</a:t>
            </a:r>
            <a:r>
              <a:rPr lang="en-US" altLang="en-US" sz="2000" b="1">
                <a:solidFill>
                  <a:srgbClr val="FF0000"/>
                </a:solidFill>
              </a:rPr>
              <a:t>=</a:t>
            </a:r>
            <a:r>
              <a:rPr lang="en-US" altLang="en-US" sz="2000" b="1">
                <a:solidFill>
                  <a:srgbClr val="0000CC"/>
                </a:solidFill>
              </a:rPr>
              <a:t>8</a:t>
            </a:r>
            <a:r>
              <a:rPr lang="en-US" altLang="en-US" sz="2000" b="1">
                <a:solidFill>
                  <a:srgbClr val="FF0000"/>
                </a:solidFill>
              </a:rPr>
              <a:t> </a:t>
            </a:r>
            <a:endParaRPr lang="en-US" altLang="en-US" sz="2000" b="1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enqueue(</a:t>
            </a:r>
            <a:r>
              <a:rPr lang="en-US" altLang="en-US" sz="2000" b="1">
                <a:solidFill>
                  <a:srgbClr val="0000CC"/>
                </a:solidFill>
              </a:rPr>
              <a:t>802</a:t>
            </a:r>
            <a:r>
              <a:rPr lang="en-US" altLang="en-US" sz="2000" b="1">
                <a:solidFill>
                  <a:srgbClr val="FF0000"/>
                </a:solidFill>
              </a:rPr>
              <a:t>, Q[</a:t>
            </a:r>
            <a:r>
              <a:rPr lang="en-US" altLang="en-US" sz="2000" b="1">
                <a:solidFill>
                  <a:srgbClr val="0000CC"/>
                </a:solidFill>
              </a:rPr>
              <a:t>8</a:t>
            </a:r>
            <a:r>
              <a:rPr lang="en-US" altLang="en-US" sz="2000" b="1">
                <a:solidFill>
                  <a:srgbClr val="FF0000"/>
                </a:solidFill>
              </a:rPr>
              <a:t>])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C15A38-D996-AE41-A3DC-F52152F6071C}"/>
              </a:ext>
            </a:extLst>
          </p:cNvPr>
          <p:cNvGraphicFramePr>
            <a:graphicFrameLocks noGrp="1"/>
          </p:cNvGraphicFramePr>
          <p:nvPr/>
        </p:nvGraphicFramePr>
        <p:xfrm>
          <a:off x="7897813" y="1423988"/>
          <a:ext cx="560387" cy="360362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EDD7C7-CCA7-B043-BECE-897EDF3BD725}"/>
              </a:ext>
            </a:extLst>
          </p:cNvPr>
          <p:cNvCxnSpPr/>
          <p:nvPr/>
        </p:nvCxnSpPr>
        <p:spPr>
          <a:xfrm rot="16200000" flipV="1">
            <a:off x="8073232" y="1358106"/>
            <a:ext cx="1524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ACA30B2-40FC-3E41-8EEE-27ECD4F6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228600"/>
            <a:ext cx="50815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</a:t>
            </a:r>
            <a:r>
              <a:rPr lang="en-US" altLang="en-US" sz="2200" b="1">
                <a:solidFill>
                  <a:srgbClr val="0000CC"/>
                </a:solidFill>
              </a:rPr>
              <a:t>802, 2, 24, 45, 66, 275, 170, 190}</a:t>
            </a:r>
          </a:p>
        </p:txBody>
      </p:sp>
    </p:spTree>
    <p:extLst>
      <p:ext uri="{BB962C8B-B14F-4D97-AF65-F5344CB8AC3E}">
        <p14:creationId xmlns:p14="http://schemas.microsoft.com/office/powerpoint/2010/main" val="254942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C3957F-0512-494F-81A9-1EC5AC1F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D51F0-579E-B140-B971-411DF8427B8A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81534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Algorithm RadixSort(A, N, d)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for  p = 0 to 9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Q[p] =Null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D = 1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	for  k = 1 to d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D = D * 10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      for  i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t = (A[i] mod D) div (D/10)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 enqueue(A[i], Q[t])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j = 0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for  p = 0 to N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   do while Q[p] is not empty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                      A[j] = dequeue(Q[p])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/>
              <a:t>			j = j +1</a:t>
            </a:r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  <a:p>
            <a:pPr>
              <a:buFont typeface="Wingdings 2" pitchFamily="2" charset="2"/>
              <a:buNone/>
            </a:pPr>
            <a:endParaRPr lang="en-US" altLang="en-US" sz="2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6D1BA9-2794-3440-8DD4-7704A9D1D49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33400"/>
          </a:xfrm>
          <a:prstGeom prst="rect">
            <a:avLst/>
          </a:prstGeom>
          <a:noFill/>
        </p:spPr>
        <p:txBody>
          <a:bodyPr lIns="45720" tIns="0" rIns="45720" bIns="0" anchor="b"/>
          <a:lstStyle/>
          <a:p>
            <a:pPr eaLnBrk="0" hangingPunct="0">
              <a:defRPr/>
            </a:pPr>
            <a:r>
              <a:rPr lang="en-US" sz="4000" b="1" dirty="0">
                <a:ea typeface="+mj-ea"/>
                <a:cs typeface="+mj-cs"/>
              </a:rPr>
              <a:t>Radix Sort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A4A4D68E-356E-7346-832C-BB64AF4A2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2741613"/>
            <a:ext cx="16637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D = 1000</a:t>
            </a: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196D0B91-A76C-8246-94BC-23047BF19DAD}"/>
              </a:ext>
            </a:extLst>
          </p:cNvPr>
          <p:cNvGraphicFramePr>
            <a:graphicFrameLocks/>
          </p:cNvGraphicFramePr>
          <p:nvPr/>
        </p:nvGraphicFramePr>
        <p:xfrm>
          <a:off x="3581400" y="828675"/>
          <a:ext cx="5311778" cy="457200"/>
        </p:xfrm>
        <a:graphic>
          <a:graphicData uri="http://schemas.openxmlformats.org/drawingml/2006/table">
            <a:tbl>
              <a:tblPr/>
              <a:tblGrid>
                <a:gridCol w="53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16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04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443" marR="914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7235B2-5F57-9140-80E0-F8B2204677D8}"/>
              </a:ext>
            </a:extLst>
          </p:cNvPr>
          <p:cNvGraphicFramePr>
            <a:graphicFrameLocks noGrp="1"/>
          </p:cNvGraphicFramePr>
          <p:nvPr/>
        </p:nvGraphicFramePr>
        <p:xfrm>
          <a:off x="7897813" y="1423988"/>
          <a:ext cx="560387" cy="360362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802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9D0AC7-8131-E64A-B521-5FFC4FF6FABC}"/>
              </a:ext>
            </a:extLst>
          </p:cNvPr>
          <p:cNvCxnSpPr/>
          <p:nvPr/>
        </p:nvCxnSpPr>
        <p:spPr>
          <a:xfrm rot="16200000" flipV="1">
            <a:off x="8073232" y="1358106"/>
            <a:ext cx="1524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2">
            <a:extLst>
              <a:ext uri="{FF2B5EF4-FFF2-40B4-BE49-F238E27FC236}">
                <a16:creationId xmlns:a16="http://schemas.microsoft.com/office/drawing/2014/main" id="{AD1638CC-ADAC-5A43-BD64-4BB0EC08D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228600"/>
            <a:ext cx="50815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</a:t>
            </a:r>
            <a:r>
              <a:rPr lang="en-US" altLang="en-US" sz="2200" b="1">
                <a:solidFill>
                  <a:srgbClr val="0000CC"/>
                </a:solidFill>
              </a:rPr>
              <a:t>802, 2, 24, 45, 66, 275, 170, 190}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03D9F6-1340-F142-A481-95E7E845BA4F}"/>
              </a:ext>
            </a:extLst>
          </p:cNvPr>
          <p:cNvGraphicFramePr>
            <a:graphicFrameLocks noGrp="1"/>
          </p:cNvGraphicFramePr>
          <p:nvPr/>
        </p:nvGraphicFramePr>
        <p:xfrm>
          <a:off x="4162425" y="1366838"/>
          <a:ext cx="560388" cy="360362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170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2E61D3-81ED-F141-A8E3-EBFEB5CAEF58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1841500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24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80513D-7D13-F644-BFB4-EC66A3AC20A5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2335213"/>
          <a:ext cx="438150" cy="360362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FD8B894-D43A-D54D-BAF0-2A09CFF2D00E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2819400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66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247905A-88E5-2646-9B58-C386D53F5C34}"/>
              </a:ext>
            </a:extLst>
          </p:cNvPr>
          <p:cNvGraphicFramePr>
            <a:graphicFrameLocks noGrp="1"/>
          </p:cNvGraphicFramePr>
          <p:nvPr/>
        </p:nvGraphicFramePr>
        <p:xfrm>
          <a:off x="4721225" y="1358900"/>
          <a:ext cx="549275" cy="360363"/>
        </p:xfrm>
        <a:graphic>
          <a:graphicData uri="http://schemas.openxmlformats.org/drawingml/2006/table">
            <a:tbl>
              <a:tblPr/>
              <a:tblGrid>
                <a:gridCol w="54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275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63" marR="91363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A62F27-9AD1-0647-B4ED-D6F5F53062FA}"/>
              </a:ext>
            </a:extLst>
          </p:cNvPr>
          <p:cNvCxnSpPr/>
          <p:nvPr/>
        </p:nvCxnSpPr>
        <p:spPr>
          <a:xfrm rot="16200000" flipV="1">
            <a:off x="4323556" y="1327944"/>
            <a:ext cx="1539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58B6AC-7799-0842-885D-731BA98B67E0}"/>
              </a:ext>
            </a:extLst>
          </p:cNvPr>
          <p:cNvCxnSpPr/>
          <p:nvPr/>
        </p:nvCxnSpPr>
        <p:spPr>
          <a:xfrm rot="16200000" flipV="1">
            <a:off x="3785394" y="2251869"/>
            <a:ext cx="1539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6B9812-1345-4144-8113-C43D03FD0DF3}"/>
              </a:ext>
            </a:extLst>
          </p:cNvPr>
          <p:cNvCxnSpPr/>
          <p:nvPr/>
        </p:nvCxnSpPr>
        <p:spPr>
          <a:xfrm rot="16200000" flipV="1">
            <a:off x="3790157" y="2720181"/>
            <a:ext cx="152400" cy="15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AB74B0-AB7A-C84A-B8A6-1DC89FFAEBFD}"/>
              </a:ext>
            </a:extLst>
          </p:cNvPr>
          <p:cNvCxnSpPr/>
          <p:nvPr/>
        </p:nvCxnSpPr>
        <p:spPr>
          <a:xfrm rot="16200000" flipV="1">
            <a:off x="4896644" y="1288256"/>
            <a:ext cx="152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09610A2-7398-824F-AE04-01EF353BCF4F}"/>
              </a:ext>
            </a:extLst>
          </p:cNvPr>
          <p:cNvGraphicFramePr>
            <a:graphicFrameLocks noGrp="1"/>
          </p:cNvGraphicFramePr>
          <p:nvPr/>
        </p:nvGraphicFramePr>
        <p:xfrm>
          <a:off x="4168775" y="1836738"/>
          <a:ext cx="560388" cy="360362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190 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380" marR="91380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07AF05-F632-9E46-89EC-12C4CD948973}"/>
              </a:ext>
            </a:extLst>
          </p:cNvPr>
          <p:cNvCxnSpPr/>
          <p:nvPr/>
        </p:nvCxnSpPr>
        <p:spPr>
          <a:xfrm rot="16200000" flipV="1">
            <a:off x="4340225" y="1754188"/>
            <a:ext cx="152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D83269A-3E90-574D-9D0D-C073530F0F75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1371600"/>
          <a:ext cx="438150" cy="36036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marL="91538" marR="91538" marT="45738" marB="4573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D6081F-C2BE-154E-87B2-EFB154F5DD83}"/>
              </a:ext>
            </a:extLst>
          </p:cNvPr>
          <p:cNvCxnSpPr/>
          <p:nvPr/>
        </p:nvCxnSpPr>
        <p:spPr>
          <a:xfrm rot="16200000" flipV="1">
            <a:off x="3784600" y="1319213"/>
            <a:ext cx="152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09956EC-DC86-F44B-AFB1-8653C5C9B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3532188"/>
            <a:ext cx="32559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i = </a:t>
            </a:r>
            <a:r>
              <a:rPr lang="en-US" altLang="en-US" sz="2200" b="1">
                <a:solidFill>
                  <a:srgbClr val="0000CC"/>
                </a:solidFill>
              </a:rPr>
              <a:t>1</a:t>
            </a:r>
            <a:r>
              <a:rPr lang="en-US" altLang="en-US" sz="2200" b="1">
                <a:solidFill>
                  <a:srgbClr val="FF0000"/>
                </a:solidFill>
              </a:rPr>
              <a:t>, </a:t>
            </a:r>
            <a:r>
              <a:rPr lang="en-US" altLang="en-US" sz="2200" b="1">
                <a:solidFill>
                  <a:srgbClr val="0000CC"/>
                </a:solidFill>
              </a:rPr>
              <a:t>2</a:t>
            </a:r>
            <a:r>
              <a:rPr lang="en-US" altLang="en-US" sz="2200" b="1">
                <a:solidFill>
                  <a:srgbClr val="FF0000"/>
                </a:solidFill>
              </a:rPr>
              <a:t>, </a:t>
            </a:r>
            <a:r>
              <a:rPr lang="en-US" altLang="en-US" sz="2200" b="1">
                <a:solidFill>
                  <a:srgbClr val="0000CC"/>
                </a:solidFill>
              </a:rPr>
              <a:t>3, 4, 5, 6, 7, 8, 9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FB434F-BB6F-E945-A9E6-755B148E0ADD}"/>
              </a:ext>
            </a:extLst>
          </p:cNvPr>
          <p:cNvCxnSpPr/>
          <p:nvPr/>
        </p:nvCxnSpPr>
        <p:spPr>
          <a:xfrm rot="16200000" flipV="1">
            <a:off x="3807619" y="1780382"/>
            <a:ext cx="15398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714EAC9-161C-F147-96D6-11B9774D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096000"/>
            <a:ext cx="51593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b="1">
                <a:solidFill>
                  <a:srgbClr val="FF0000"/>
                </a:solidFill>
              </a:rPr>
              <a:t>A = {</a:t>
            </a:r>
            <a:r>
              <a:rPr lang="en-US" altLang="en-US" sz="2200" b="1">
                <a:solidFill>
                  <a:srgbClr val="0000CC"/>
                </a:solidFill>
              </a:rPr>
              <a:t>2, 24, 45, 66, 170, 190, 275 ,802}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D5B0DE-7D71-8F45-A916-4B27A0035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562600"/>
            <a:ext cx="1992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369009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43011</TotalTime>
  <Words>3056</Words>
  <Application>Microsoft Macintosh PowerPoint</Application>
  <PresentationFormat>A4 Paper (210x297 mm)</PresentationFormat>
  <Paragraphs>598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Times New Roman</vt:lpstr>
      <vt:lpstr>Trebuchet MS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824</cp:revision>
  <cp:lastPrinted>2025-03-21T05:26:40Z</cp:lastPrinted>
  <dcterms:created xsi:type="dcterms:W3CDTF">2018-07-17T04:46:00Z</dcterms:created>
  <dcterms:modified xsi:type="dcterms:W3CDTF">2025-12-24T07:21:31Z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
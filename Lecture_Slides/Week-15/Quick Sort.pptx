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80" r:id="rId2"/>
    <p:sldId id="654" r:id="rId3"/>
    <p:sldId id="655" r:id="rId4"/>
    <p:sldId id="656" r:id="rId5"/>
    <p:sldId id="657" r:id="rId6"/>
    <p:sldId id="658" r:id="rId7"/>
    <p:sldId id="659" r:id="rId8"/>
    <p:sldId id="660" r:id="rId9"/>
    <p:sldId id="661" r:id="rId10"/>
    <p:sldId id="662" r:id="rId11"/>
    <p:sldId id="663" r:id="rId12"/>
    <p:sldId id="664" r:id="rId13"/>
    <p:sldId id="665" r:id="rId14"/>
    <p:sldId id="666" r:id="rId15"/>
    <p:sldId id="667" r:id="rId16"/>
    <p:sldId id="668" r:id="rId17"/>
    <p:sldId id="669" r:id="rId18"/>
    <p:sldId id="670" r:id="rId19"/>
    <p:sldId id="671" r:id="rId20"/>
    <p:sldId id="672" r:id="rId21"/>
    <p:sldId id="673" r:id="rId22"/>
    <p:sldId id="674" r:id="rId23"/>
    <p:sldId id="675" r:id="rId24"/>
    <p:sldId id="676" r:id="rId25"/>
    <p:sldId id="677" r:id="rId26"/>
    <p:sldId id="678" r:id="rId27"/>
    <p:sldId id="679" r:id="rId28"/>
    <p:sldId id="680" r:id="rId29"/>
    <p:sldId id="681" r:id="rId30"/>
    <p:sldId id="682" r:id="rId31"/>
    <p:sldId id="683" r:id="rId32"/>
    <p:sldId id="684" r:id="rId33"/>
    <p:sldId id="685" r:id="rId34"/>
    <p:sldId id="686" r:id="rId35"/>
    <p:sldId id="372" r:id="rId36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654"/>
            <p14:sldId id="655"/>
            <p14:sldId id="656"/>
            <p14:sldId id="657"/>
            <p14:sldId id="658"/>
            <p14:sldId id="659"/>
            <p14:sldId id="660"/>
            <p14:sldId id="661"/>
            <p14:sldId id="662"/>
            <p14:sldId id="663"/>
            <p14:sldId id="664"/>
            <p14:sldId id="665"/>
            <p14:sldId id="666"/>
            <p14:sldId id="667"/>
            <p14:sldId id="668"/>
            <p14:sldId id="669"/>
            <p14:sldId id="670"/>
            <p14:sldId id="671"/>
            <p14:sldId id="672"/>
            <p14:sldId id="673"/>
            <p14:sldId id="674"/>
            <p14:sldId id="675"/>
            <p14:sldId id="676"/>
            <p14:sldId id="677"/>
            <p14:sldId id="678"/>
            <p14:sldId id="679"/>
            <p14:sldId id="680"/>
            <p14:sldId id="681"/>
            <p14:sldId id="682"/>
            <p14:sldId id="683"/>
            <p14:sldId id="684"/>
            <p14:sldId id="685"/>
            <p14:sldId id="686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 autoAdjust="0"/>
    <p:restoredTop sz="92632" autoAdjust="0"/>
  </p:normalViewPr>
  <p:slideViewPr>
    <p:cSldViewPr snapToGrid="0">
      <p:cViewPr varScale="1">
        <p:scale>
          <a:sx n="57" d="100"/>
          <a:sy n="57" d="100"/>
        </p:scale>
        <p:origin x="1064" y="176"/>
      </p:cViewPr>
      <p:guideLst>
        <p:guide orient="horz" pos="2306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01A63-A7C4-4D9E-8336-1A8A451B13AA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7285-B0D8-4CCE-9696-7B972DFD7D37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907B5-A00F-4D95-A944-352881DC976F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D666-1070-47A4-93DD-CDEF7BD1F6B1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CCC7-9EDE-420E-93DD-85D8C3590620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E457-A80F-46AA-AB73-6563C30B8F07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94D2-7C33-4737-9BFA-E0AD9F259636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A0A1E-52E8-41CF-B036-B709E3BEEE64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ECB7-59A1-4697-8604-3431EA5C9D9C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824D-C0BA-4384-BF05-F9F894E8B242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E58A-A4F5-4361-A1B6-594D0881072F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4028-4A59-403E-B211-633674C4AE82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1D7D9E-FB29-9D4A-9A84-AC73C8AAA8E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842" y="0"/>
            <a:ext cx="1367045" cy="10469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4425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sz="4000" b="1" dirty="0">
                <a:solidFill>
                  <a:schemeClr val="accent5">
                    <a:lumMod val="50000"/>
                  </a:schemeClr>
                </a:solidFill>
              </a:rPr>
              <a:t>Quick Sort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833816" y="1284843"/>
            <a:ext cx="4518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 Structures and Algorithms</a:t>
            </a:r>
          </a:p>
          <a:p>
            <a:pPr algn="ctr"/>
            <a:r>
              <a:rPr lang="en-US" b="1" dirty="0"/>
              <a:t>(CS221)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50EE2F-8790-CD40-B0BA-946B73EF5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460078-083E-CB4B-BAF1-9579347B14A2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Quick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05A417-E731-C64C-9619-1A45D880D9B4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72390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As its name implies, </a:t>
            </a:r>
            <a:r>
              <a:rPr lang="en-US" altLang="en-US" i="1" dirty="0"/>
              <a:t>quicksort</a:t>
            </a:r>
            <a:r>
              <a:rPr lang="en-US" altLang="en-US" dirty="0"/>
              <a:t> is the fastest known sorting algorithm in practice.</a:t>
            </a:r>
          </a:p>
          <a:p>
            <a:pPr lvl="1"/>
            <a:r>
              <a:rPr lang="en-US" altLang="en-US" dirty="0">
                <a:solidFill>
                  <a:srgbClr val="002060"/>
                </a:solidFill>
              </a:rPr>
              <a:t>It is very fast, mainly due to a very tight and highly optimized inner loop</a:t>
            </a:r>
          </a:p>
          <a:p>
            <a:pPr lvl="1"/>
            <a:r>
              <a:rPr lang="en-US" altLang="en-US" dirty="0">
                <a:solidFill>
                  <a:srgbClr val="002060"/>
                </a:solidFill>
              </a:rPr>
              <a:t>Its average running time is </a:t>
            </a:r>
            <a:r>
              <a:rPr lang="en-US" altLang="en-US" b="1" i="1" dirty="0">
                <a:solidFill>
                  <a:srgbClr val="0000CC"/>
                </a:solidFill>
              </a:rPr>
              <a:t>O</a:t>
            </a:r>
            <a:r>
              <a:rPr lang="en-US" altLang="en-US" b="1" dirty="0">
                <a:solidFill>
                  <a:srgbClr val="0000CC"/>
                </a:solidFill>
              </a:rPr>
              <a:t>(</a:t>
            </a:r>
            <a:r>
              <a:rPr lang="en-US" altLang="en-US" b="1" i="1" dirty="0">
                <a:solidFill>
                  <a:srgbClr val="0000CC"/>
                </a:solidFill>
              </a:rPr>
              <a:t>n </a:t>
            </a:r>
            <a:r>
              <a:rPr lang="en-US" altLang="en-US" b="1" dirty="0">
                <a:solidFill>
                  <a:srgbClr val="0000CC"/>
                </a:solidFill>
              </a:rPr>
              <a:t>log </a:t>
            </a:r>
            <a:r>
              <a:rPr lang="en-US" altLang="en-US" b="1" i="1" dirty="0">
                <a:solidFill>
                  <a:srgbClr val="0000CC"/>
                </a:solidFill>
              </a:rPr>
              <a:t>n</a:t>
            </a:r>
            <a:r>
              <a:rPr lang="en-US" altLang="en-US" b="1" dirty="0">
                <a:solidFill>
                  <a:srgbClr val="0000CC"/>
                </a:solidFill>
              </a:rPr>
              <a:t>)</a:t>
            </a:r>
          </a:p>
          <a:p>
            <a:pPr lvl="1"/>
            <a:r>
              <a:rPr lang="en-US" altLang="en-US" dirty="0">
                <a:solidFill>
                  <a:srgbClr val="002060"/>
                </a:solidFill>
              </a:rPr>
              <a:t>It has </a:t>
            </a:r>
            <a:r>
              <a:rPr lang="en-US" altLang="en-US" b="1" i="1" dirty="0">
                <a:solidFill>
                  <a:srgbClr val="0000CC"/>
                </a:solidFill>
              </a:rPr>
              <a:t>O</a:t>
            </a:r>
            <a:r>
              <a:rPr lang="en-US" altLang="en-US" b="1" dirty="0">
                <a:solidFill>
                  <a:srgbClr val="0000CC"/>
                </a:solidFill>
              </a:rPr>
              <a:t>(</a:t>
            </a:r>
            <a:r>
              <a:rPr lang="en-US" altLang="en-US" b="1" i="1" dirty="0">
                <a:solidFill>
                  <a:srgbClr val="0000CC"/>
                </a:solidFill>
              </a:rPr>
              <a:t>n</a:t>
            </a:r>
            <a:r>
              <a:rPr lang="en-US" altLang="en-US" b="1" baseline="30000" dirty="0">
                <a:solidFill>
                  <a:srgbClr val="0000CC"/>
                </a:solidFill>
              </a:rPr>
              <a:t>2</a:t>
            </a:r>
            <a:r>
              <a:rPr lang="en-US" altLang="en-US" b="1" dirty="0">
                <a:solidFill>
                  <a:srgbClr val="0000CC"/>
                </a:solidFill>
              </a:rPr>
              <a:t>)</a:t>
            </a:r>
            <a:r>
              <a:rPr lang="en-US" altLang="en-US" dirty="0">
                <a:solidFill>
                  <a:srgbClr val="002060"/>
                </a:solidFill>
              </a:rPr>
              <a:t> worst-case performance,</a:t>
            </a:r>
          </a:p>
          <a:p>
            <a:pPr lvl="1"/>
            <a:r>
              <a:rPr lang="en-US" altLang="en-US" dirty="0">
                <a:solidFill>
                  <a:srgbClr val="002060"/>
                </a:solidFill>
              </a:rPr>
              <a:t>The quicksort algorithm is simple to understand and prove correct </a:t>
            </a:r>
          </a:p>
          <a:p>
            <a:pPr lvl="1"/>
            <a:r>
              <a:rPr lang="en-US" altLang="en-US" dirty="0">
                <a:solidFill>
                  <a:srgbClr val="002060"/>
                </a:solidFill>
              </a:rPr>
              <a:t>Like </a:t>
            </a:r>
            <a:r>
              <a:rPr lang="en-US" altLang="en-US" dirty="0" err="1">
                <a:solidFill>
                  <a:srgbClr val="002060"/>
                </a:solidFill>
              </a:rPr>
              <a:t>mergesort</a:t>
            </a:r>
            <a:r>
              <a:rPr lang="en-US" altLang="en-US" dirty="0">
                <a:solidFill>
                  <a:srgbClr val="002060"/>
                </a:solidFill>
              </a:rPr>
              <a:t>, quicksort is a divide-and-conquer recursive algorithm </a:t>
            </a:r>
            <a:endParaRPr lang="en-US" altLang="en-US" dirty="0">
              <a:solidFill>
                <a:srgbClr val="002060"/>
              </a:solidFill>
              <a:latin typeface="Trebuchet MS" panose="020B0703020202090204" pitchFamily="34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6640A4C7-3BCE-A845-9C7F-109D48843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5BFFA69-6D6D-B84D-9268-8B2A63CFC640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035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0E380E-45CC-B341-8DCE-43CE40B83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C9B8E0-B9CD-9244-A01A-58AD22BEF618}"/>
              </a:ext>
            </a:extLst>
          </p:cNvPr>
          <p:cNvSpPr txBox="1">
            <a:spLocks/>
          </p:cNvSpPr>
          <p:nvPr/>
        </p:nvSpPr>
        <p:spPr bwMode="auto">
          <a:xfrm>
            <a:off x="457200" y="225425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Quick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AD0A7C-0F81-7542-B4CC-505ABB03B0FC}"/>
              </a:ext>
            </a:extLst>
          </p:cNvPr>
          <p:cNvSpPr txBox="1">
            <a:spLocks/>
          </p:cNvSpPr>
          <p:nvPr/>
        </p:nvSpPr>
        <p:spPr>
          <a:xfrm>
            <a:off x="457200" y="1216025"/>
            <a:ext cx="73914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The basic algorithm to sort an array </a:t>
            </a:r>
            <a:r>
              <a:rPr lang="en-US" altLang="en-US" i="1" dirty="0"/>
              <a:t>S</a:t>
            </a:r>
            <a:r>
              <a:rPr lang="en-US" altLang="en-US" dirty="0"/>
              <a:t> consists of the following four easy steps:</a:t>
            </a:r>
          </a:p>
          <a:p>
            <a:pPr lvl="1"/>
            <a:r>
              <a:rPr lang="en-US" altLang="en-US" dirty="0">
                <a:solidFill>
                  <a:srgbClr val="002060"/>
                </a:solidFill>
              </a:rPr>
              <a:t>If the number of elements in </a:t>
            </a:r>
            <a:r>
              <a:rPr lang="en-US" altLang="en-US" b="1" i="1" dirty="0">
                <a:solidFill>
                  <a:srgbClr val="0000CC"/>
                </a:solidFill>
              </a:rPr>
              <a:t>S</a:t>
            </a:r>
            <a:r>
              <a:rPr lang="en-US" altLang="en-US" dirty="0">
                <a:solidFill>
                  <a:srgbClr val="002060"/>
                </a:solidFill>
              </a:rPr>
              <a:t> is </a:t>
            </a:r>
            <a:r>
              <a:rPr lang="en-US" altLang="en-US" b="1" dirty="0">
                <a:solidFill>
                  <a:srgbClr val="0000CC"/>
                </a:solidFill>
              </a:rPr>
              <a:t>0</a:t>
            </a:r>
            <a:r>
              <a:rPr lang="en-US" altLang="en-US" dirty="0">
                <a:solidFill>
                  <a:srgbClr val="002060"/>
                </a:solidFill>
              </a:rPr>
              <a:t> or </a:t>
            </a:r>
            <a:r>
              <a:rPr lang="en-US" altLang="en-US" b="1" dirty="0">
                <a:solidFill>
                  <a:srgbClr val="0000CC"/>
                </a:solidFill>
              </a:rPr>
              <a:t>1</a:t>
            </a:r>
            <a:r>
              <a:rPr lang="en-US" altLang="en-US" dirty="0">
                <a:solidFill>
                  <a:srgbClr val="002060"/>
                </a:solidFill>
              </a:rPr>
              <a:t>, then return </a:t>
            </a:r>
          </a:p>
          <a:p>
            <a:pPr lvl="1"/>
            <a:r>
              <a:rPr lang="en-US" altLang="en-US" dirty="0">
                <a:solidFill>
                  <a:srgbClr val="002060"/>
                </a:solidFill>
              </a:rPr>
              <a:t>2. Pick any element </a:t>
            </a:r>
            <a:r>
              <a:rPr lang="en-US" altLang="en-US" b="1" i="1" dirty="0">
                <a:solidFill>
                  <a:srgbClr val="0000CC"/>
                </a:solidFill>
              </a:rPr>
              <a:t>v</a:t>
            </a:r>
            <a:r>
              <a:rPr lang="en-US" altLang="en-US" dirty="0">
                <a:solidFill>
                  <a:srgbClr val="002060"/>
                </a:solidFill>
              </a:rPr>
              <a:t> in </a:t>
            </a:r>
            <a:r>
              <a:rPr lang="en-US" altLang="en-US" b="1" i="1" dirty="0">
                <a:solidFill>
                  <a:srgbClr val="0000CC"/>
                </a:solidFill>
              </a:rPr>
              <a:t>S</a:t>
            </a:r>
            <a:r>
              <a:rPr lang="en-US" altLang="en-US" dirty="0">
                <a:solidFill>
                  <a:srgbClr val="002060"/>
                </a:solidFill>
              </a:rPr>
              <a:t>. This is called the </a:t>
            </a:r>
            <a:r>
              <a:rPr lang="en-US" altLang="en-US" b="1" i="1" dirty="0">
                <a:solidFill>
                  <a:srgbClr val="0000CC"/>
                </a:solidFill>
              </a:rPr>
              <a:t>pivot</a:t>
            </a:r>
            <a:r>
              <a:rPr lang="en-US" altLang="en-US" dirty="0">
                <a:solidFill>
                  <a:srgbClr val="002060"/>
                </a:solidFill>
              </a:rPr>
              <a:t>. </a:t>
            </a:r>
          </a:p>
          <a:p>
            <a:pPr lvl="1"/>
            <a:r>
              <a:rPr lang="en-US" altLang="en-US" dirty="0">
                <a:solidFill>
                  <a:srgbClr val="002060"/>
                </a:solidFill>
              </a:rPr>
              <a:t>3. </a:t>
            </a:r>
            <a:r>
              <a:rPr lang="en-US" altLang="en-US" i="1" dirty="0">
                <a:solidFill>
                  <a:srgbClr val="002060"/>
                </a:solidFill>
              </a:rPr>
              <a:t>Partition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b="1" i="1" dirty="0">
                <a:solidFill>
                  <a:srgbClr val="0000CC"/>
                </a:solidFill>
              </a:rPr>
              <a:t>S</a:t>
            </a:r>
            <a:r>
              <a:rPr lang="en-US" altLang="en-US" b="1" dirty="0">
                <a:solidFill>
                  <a:srgbClr val="0000CC"/>
                </a:solidFill>
              </a:rPr>
              <a:t> - {</a:t>
            </a:r>
            <a:r>
              <a:rPr lang="en-US" altLang="en-US" b="1" i="1" dirty="0">
                <a:solidFill>
                  <a:srgbClr val="0000CC"/>
                </a:solidFill>
              </a:rPr>
              <a:t>v</a:t>
            </a:r>
            <a:r>
              <a:rPr lang="en-US" altLang="en-US" b="1" dirty="0">
                <a:solidFill>
                  <a:srgbClr val="0000CC"/>
                </a:solidFill>
              </a:rPr>
              <a:t>}</a:t>
            </a:r>
            <a:r>
              <a:rPr lang="en-US" altLang="en-US" dirty="0">
                <a:solidFill>
                  <a:srgbClr val="002060"/>
                </a:solidFill>
              </a:rPr>
              <a:t> (the remaining elements in </a:t>
            </a:r>
            <a:r>
              <a:rPr lang="en-US" altLang="en-US" b="1" i="1" dirty="0">
                <a:solidFill>
                  <a:srgbClr val="0000CC"/>
                </a:solidFill>
              </a:rPr>
              <a:t>S</a:t>
            </a:r>
            <a:r>
              <a:rPr lang="en-US" altLang="en-US" dirty="0">
                <a:solidFill>
                  <a:srgbClr val="002060"/>
                </a:solidFill>
              </a:rPr>
              <a:t>) into two disjoint groups:</a:t>
            </a:r>
            <a:r>
              <a:rPr lang="en-US" altLang="en-US" dirty="0"/>
              <a:t> </a:t>
            </a:r>
            <a:r>
              <a:rPr lang="en-US" altLang="en-US" b="1" i="1" dirty="0">
                <a:solidFill>
                  <a:srgbClr val="0000CC"/>
                </a:solidFill>
              </a:rPr>
              <a:t>S</a:t>
            </a:r>
            <a:r>
              <a:rPr lang="en-US" altLang="en-US" b="1" baseline="-25000" dirty="0">
                <a:solidFill>
                  <a:srgbClr val="0000CC"/>
                </a:solidFill>
              </a:rPr>
              <a:t>1</a:t>
            </a:r>
            <a:r>
              <a:rPr lang="en-US" altLang="en-US" b="1" dirty="0">
                <a:solidFill>
                  <a:srgbClr val="0000CC"/>
                </a:solidFill>
              </a:rPr>
              <a:t> = {</a:t>
            </a:r>
            <a:r>
              <a:rPr lang="en-US" altLang="en-US" b="1" i="1" dirty="0">
                <a:solidFill>
                  <a:srgbClr val="0000CC"/>
                </a:solidFill>
              </a:rPr>
              <a:t>x</a:t>
            </a:r>
            <a:r>
              <a:rPr lang="en-US" altLang="en-US" b="1" dirty="0">
                <a:solidFill>
                  <a:srgbClr val="0000CC"/>
                </a:solidFill>
              </a:rPr>
              <a:t> </a:t>
            </a:r>
            <a:r>
              <a:rPr lang="ru-RU" altLang="en-US" b="1" dirty="0">
                <a:solidFill>
                  <a:srgbClr val="0000CC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anose="020B0604020202020204" pitchFamily="34" charset="0"/>
              </a:rPr>
              <a:t>∈</a:t>
            </a:r>
            <a:r>
              <a:rPr lang="en-US" altLang="en-US" b="1" dirty="0">
                <a:solidFill>
                  <a:srgbClr val="0000CC"/>
                </a:solidFill>
              </a:rPr>
              <a:t> </a:t>
            </a:r>
            <a:r>
              <a:rPr lang="en-US" altLang="en-US" b="1" i="1" dirty="0">
                <a:solidFill>
                  <a:srgbClr val="0000CC"/>
                </a:solidFill>
              </a:rPr>
              <a:t>S</a:t>
            </a:r>
            <a:r>
              <a:rPr lang="en-US" altLang="en-US" b="1" dirty="0">
                <a:solidFill>
                  <a:srgbClr val="0000CC"/>
                </a:solidFill>
              </a:rPr>
              <a:t> - {</a:t>
            </a:r>
            <a:r>
              <a:rPr lang="en-US" altLang="en-US" b="1" i="1" dirty="0">
                <a:solidFill>
                  <a:srgbClr val="0000CC"/>
                </a:solidFill>
              </a:rPr>
              <a:t>v</a:t>
            </a:r>
            <a:r>
              <a:rPr lang="en-US" altLang="en-US" b="1" dirty="0">
                <a:solidFill>
                  <a:srgbClr val="0000CC"/>
                </a:solidFill>
              </a:rPr>
              <a:t>}| </a:t>
            </a:r>
            <a:r>
              <a:rPr lang="en-US" altLang="en-US" b="1" i="1" dirty="0">
                <a:solidFill>
                  <a:srgbClr val="0000CC"/>
                </a:solidFill>
              </a:rPr>
              <a:t>x </a:t>
            </a:r>
            <a:r>
              <a:rPr lang="en-US" altLang="en-US" b="1" i="1" dirty="0">
                <a:solidFill>
                  <a:srgbClr val="0000CC"/>
                </a:solidFill>
                <a:cs typeface="Arial" panose="020B0604020202020204" pitchFamily="34" charset="0"/>
              </a:rPr>
              <a:t>≤</a:t>
            </a:r>
            <a:r>
              <a:rPr lang="en-US" altLang="en-US" b="1" dirty="0">
                <a:solidFill>
                  <a:srgbClr val="0000CC"/>
                </a:solidFill>
              </a:rPr>
              <a:t> v</a:t>
            </a:r>
            <a:r>
              <a:rPr lang="en-US" altLang="en-US" b="1" i="1" dirty="0">
                <a:solidFill>
                  <a:srgbClr val="0000CC"/>
                </a:solidFill>
              </a:rPr>
              <a:t>}</a:t>
            </a:r>
            <a:r>
              <a:rPr lang="en-US" altLang="en-US" i="1" dirty="0">
                <a:solidFill>
                  <a:srgbClr val="0000CC"/>
                </a:solidFill>
              </a:rPr>
              <a:t> </a:t>
            </a:r>
            <a:r>
              <a:rPr lang="en-US" altLang="en-US" i="1" dirty="0">
                <a:solidFill>
                  <a:srgbClr val="002060"/>
                </a:solidFill>
              </a:rPr>
              <a:t>and</a:t>
            </a:r>
            <a:r>
              <a:rPr lang="en-US" altLang="en-US" i="1" dirty="0"/>
              <a:t> </a:t>
            </a:r>
            <a:r>
              <a:rPr lang="en-US" altLang="en-US" b="1" dirty="0">
                <a:solidFill>
                  <a:srgbClr val="0000CC"/>
                </a:solidFill>
              </a:rPr>
              <a:t>S</a:t>
            </a:r>
            <a:r>
              <a:rPr lang="en-US" altLang="en-US" b="1" i="1" baseline="-25000" dirty="0">
                <a:solidFill>
                  <a:srgbClr val="0000CC"/>
                </a:solidFill>
              </a:rPr>
              <a:t>2</a:t>
            </a:r>
            <a:r>
              <a:rPr lang="en-US" altLang="en-US" b="1" i="1" dirty="0">
                <a:solidFill>
                  <a:srgbClr val="0000CC"/>
                </a:solidFill>
              </a:rPr>
              <a:t> = </a:t>
            </a:r>
            <a:r>
              <a:rPr lang="en-US" altLang="en-US" b="1" dirty="0">
                <a:solidFill>
                  <a:srgbClr val="0000CC"/>
                </a:solidFill>
              </a:rPr>
              <a:t>{x</a:t>
            </a:r>
            <a:r>
              <a:rPr lang="en-US" altLang="en-US" b="1" i="1" dirty="0">
                <a:solidFill>
                  <a:srgbClr val="0000CC"/>
                </a:solidFill>
              </a:rPr>
              <a:t> </a:t>
            </a:r>
            <a:r>
              <a:rPr lang="ru-RU" altLang="en-US" b="1" dirty="0">
                <a:solidFill>
                  <a:srgbClr val="0000CC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∈</a:t>
            </a:r>
            <a:r>
              <a:rPr lang="en-US" altLang="en-US" b="1" i="1" dirty="0">
                <a:solidFill>
                  <a:srgbClr val="0000CC"/>
                </a:solidFill>
              </a:rPr>
              <a:t> </a:t>
            </a:r>
            <a:r>
              <a:rPr lang="en-US" altLang="en-US" b="1" dirty="0">
                <a:solidFill>
                  <a:srgbClr val="0000CC"/>
                </a:solidFill>
              </a:rPr>
              <a:t>S</a:t>
            </a:r>
            <a:r>
              <a:rPr lang="en-US" altLang="en-US" b="1" i="1" dirty="0">
                <a:solidFill>
                  <a:srgbClr val="0000CC"/>
                </a:solidFill>
              </a:rPr>
              <a:t> - </a:t>
            </a:r>
            <a:r>
              <a:rPr lang="en-US" altLang="en-US" b="1" dirty="0">
                <a:solidFill>
                  <a:srgbClr val="0000CC"/>
                </a:solidFill>
              </a:rPr>
              <a:t>{v}</a:t>
            </a:r>
            <a:r>
              <a:rPr lang="en-US" altLang="en-US" b="1" i="1" dirty="0">
                <a:solidFill>
                  <a:srgbClr val="0000CC"/>
                </a:solidFill>
              </a:rPr>
              <a:t>| </a:t>
            </a:r>
            <a:r>
              <a:rPr lang="en-US" altLang="en-US" b="1" dirty="0">
                <a:solidFill>
                  <a:srgbClr val="0000CC"/>
                </a:solidFill>
              </a:rPr>
              <a:t>x</a:t>
            </a:r>
            <a:r>
              <a:rPr lang="en-US" altLang="en-US" b="1" i="1" dirty="0">
                <a:solidFill>
                  <a:srgbClr val="0000CC"/>
                </a:solidFill>
              </a:rPr>
              <a:t> </a:t>
            </a:r>
            <a:r>
              <a:rPr lang="en-US" altLang="en-US" b="1" i="1" dirty="0">
                <a:solidFill>
                  <a:srgbClr val="0000CC"/>
                </a:solidFill>
                <a:cs typeface="Arial" panose="020B0604020202020204" pitchFamily="34" charset="0"/>
              </a:rPr>
              <a:t>≥</a:t>
            </a:r>
            <a:r>
              <a:rPr lang="en-US" altLang="en-US" b="1" i="1" dirty="0">
                <a:solidFill>
                  <a:srgbClr val="0000CC"/>
                </a:solidFill>
              </a:rPr>
              <a:t> </a:t>
            </a:r>
            <a:r>
              <a:rPr lang="en-US" altLang="en-US" b="1" dirty="0">
                <a:solidFill>
                  <a:srgbClr val="0000CC"/>
                </a:solidFill>
              </a:rPr>
              <a:t>v}</a:t>
            </a:r>
            <a:r>
              <a:rPr lang="en-US" altLang="en-US" dirty="0">
                <a:solidFill>
                  <a:srgbClr val="0000CC"/>
                </a:solidFill>
              </a:rPr>
              <a:t> </a:t>
            </a:r>
          </a:p>
          <a:p>
            <a:pPr lvl="1"/>
            <a:r>
              <a:rPr lang="en-US" altLang="en-US" dirty="0">
                <a:solidFill>
                  <a:srgbClr val="002060"/>
                </a:solidFill>
              </a:rPr>
              <a:t>4.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002060"/>
                </a:solidFill>
              </a:rPr>
              <a:t>Return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002060"/>
                </a:solidFill>
              </a:rPr>
              <a:t>{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00CC"/>
                </a:solidFill>
              </a:rPr>
              <a:t>quicksort(</a:t>
            </a:r>
            <a:r>
              <a:rPr lang="en-US" altLang="en-US" b="1" i="1" dirty="0">
                <a:solidFill>
                  <a:srgbClr val="0000CC"/>
                </a:solidFill>
              </a:rPr>
              <a:t>S</a:t>
            </a:r>
            <a:r>
              <a:rPr lang="en-US" altLang="en-US" b="1" baseline="-25000" dirty="0">
                <a:solidFill>
                  <a:srgbClr val="0000CC"/>
                </a:solidFill>
              </a:rPr>
              <a:t>1</a:t>
            </a:r>
            <a:r>
              <a:rPr lang="en-US" altLang="en-US" b="1" dirty="0">
                <a:solidFill>
                  <a:srgbClr val="0000CC"/>
                </a:solidFill>
              </a:rPr>
              <a:t>)</a:t>
            </a:r>
            <a:r>
              <a:rPr lang="en-US" altLang="en-US" dirty="0">
                <a:solidFill>
                  <a:srgbClr val="0000CC"/>
                </a:solidFill>
              </a:rPr>
              <a:t> </a:t>
            </a:r>
            <a:r>
              <a:rPr lang="en-US" altLang="en-US" dirty="0">
                <a:solidFill>
                  <a:srgbClr val="002060"/>
                </a:solidFill>
              </a:rPr>
              <a:t>followed by</a:t>
            </a:r>
            <a:r>
              <a:rPr lang="en-US" altLang="en-US" dirty="0"/>
              <a:t> </a:t>
            </a:r>
            <a:r>
              <a:rPr lang="en-US" altLang="en-US" b="1" i="1" dirty="0">
                <a:solidFill>
                  <a:srgbClr val="0000CC"/>
                </a:solidFill>
              </a:rPr>
              <a:t>v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002060"/>
                </a:solidFill>
              </a:rPr>
              <a:t>followed by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0000CC"/>
                </a:solidFill>
              </a:rPr>
              <a:t>quicksort(</a:t>
            </a:r>
            <a:r>
              <a:rPr lang="en-US" altLang="en-US" b="1" i="1" dirty="0">
                <a:solidFill>
                  <a:srgbClr val="0000CC"/>
                </a:solidFill>
              </a:rPr>
              <a:t>S</a:t>
            </a:r>
            <a:r>
              <a:rPr lang="en-US" altLang="en-US" b="1" baseline="-25000" dirty="0">
                <a:solidFill>
                  <a:srgbClr val="0000CC"/>
                </a:solidFill>
              </a:rPr>
              <a:t>2</a:t>
            </a:r>
            <a:r>
              <a:rPr lang="en-US" altLang="en-US" b="1" dirty="0">
                <a:solidFill>
                  <a:srgbClr val="0000CC"/>
                </a:solidFill>
              </a:rPr>
              <a:t>)</a:t>
            </a:r>
            <a:r>
              <a:rPr lang="en-US" altLang="en-US" dirty="0">
                <a:solidFill>
                  <a:srgbClr val="002060"/>
                </a:solidFill>
              </a:rPr>
              <a:t> }</a:t>
            </a:r>
            <a:endParaRPr lang="en-US" alt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9BBA672-DB1B-7D4E-9ABF-86D5C8EBB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627813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C0231BE-0349-404A-A3B3-34B47AE0DA79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1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A03808-8C0D-7A4E-8D37-6524E3423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94BAC7-9B9A-D04D-8754-5EA2DE4F7CEA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Quick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AAAD4D-13BE-BA4D-A52C-82235B33870E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72390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Since the partition step ambiguously describes what to do with elements equal to the pivot, this becomes a design decision.</a:t>
            </a:r>
          </a:p>
          <a:p>
            <a:r>
              <a:rPr lang="en-US" altLang="en-US"/>
              <a:t>Part of a good implementation is handling this case as efficiently as possible. </a:t>
            </a:r>
          </a:p>
          <a:p>
            <a:r>
              <a:rPr lang="en-US" altLang="en-US"/>
              <a:t>Intuitively, we would hope that </a:t>
            </a:r>
          </a:p>
          <a:p>
            <a:pPr lvl="1"/>
            <a:r>
              <a:rPr lang="en-US" altLang="en-US">
                <a:solidFill>
                  <a:srgbClr val="002060"/>
                </a:solidFill>
              </a:rPr>
              <a:t>about half the keys that are equal to the pivot go into </a:t>
            </a:r>
            <a:r>
              <a:rPr lang="en-US" altLang="en-US" b="1" i="1">
                <a:solidFill>
                  <a:srgbClr val="0000CC"/>
                </a:solidFill>
              </a:rPr>
              <a:t>S</a:t>
            </a:r>
            <a:r>
              <a:rPr lang="en-US" altLang="en-US" b="1" baseline="-25000">
                <a:solidFill>
                  <a:srgbClr val="0000CC"/>
                </a:solidFill>
              </a:rPr>
              <a:t>1</a:t>
            </a:r>
            <a:r>
              <a:rPr lang="en-US" altLang="en-US">
                <a:solidFill>
                  <a:srgbClr val="002060"/>
                </a:solidFill>
              </a:rPr>
              <a:t> </a:t>
            </a:r>
          </a:p>
          <a:p>
            <a:pPr lvl="1"/>
            <a:r>
              <a:rPr lang="en-US" altLang="en-US">
                <a:solidFill>
                  <a:srgbClr val="002060"/>
                </a:solidFill>
              </a:rPr>
              <a:t>while the other half into </a:t>
            </a:r>
            <a:r>
              <a:rPr lang="en-US" altLang="en-US" b="1" i="1">
                <a:solidFill>
                  <a:srgbClr val="0000CC"/>
                </a:solidFill>
              </a:rPr>
              <a:t>S</a:t>
            </a:r>
            <a:r>
              <a:rPr lang="en-US" altLang="en-US" b="1" baseline="-25000">
                <a:solidFill>
                  <a:srgbClr val="0000CC"/>
                </a:solidFill>
              </a:rPr>
              <a:t>2</a:t>
            </a:r>
            <a:r>
              <a:rPr lang="en-US" altLang="en-US">
                <a:solidFill>
                  <a:srgbClr val="002060"/>
                </a:solidFill>
              </a:rPr>
              <a:t>, much as we like binary search trees to be balanced.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BA17AA8-CCE5-924B-97D2-D8FAE078A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CC09AC0-57ED-7C46-9D74-D6425E5E3D35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195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CE22E0-18FB-724F-8283-0E4138EC7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CC4974F-9C00-DD43-BD7F-36F393EC3091}"/>
              </a:ext>
            </a:extLst>
          </p:cNvPr>
          <p:cNvSpPr txBox="1">
            <a:spLocks/>
          </p:cNvSpPr>
          <p:nvPr/>
        </p:nvSpPr>
        <p:spPr bwMode="auto">
          <a:xfrm>
            <a:off x="390292" y="320676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Quick Sort – Selecting the Pivot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82E2ED8-17F0-3447-B3B3-B0672E57A2DC}"/>
              </a:ext>
            </a:extLst>
          </p:cNvPr>
          <p:cNvSpPr txBox="1">
            <a:spLocks/>
          </p:cNvSpPr>
          <p:nvPr/>
        </p:nvSpPr>
        <p:spPr>
          <a:xfrm>
            <a:off x="237892" y="1189039"/>
            <a:ext cx="7772400" cy="55324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2" charset="2"/>
              <a:buNone/>
            </a:pPr>
            <a:r>
              <a:rPr lang="en-US" altLang="en-US" sz="2400" b="1">
                <a:solidFill>
                  <a:srgbClr val="0000CC"/>
                </a:solidFill>
              </a:rPr>
              <a:t>1- The popular, uninformed choice: </a:t>
            </a:r>
          </a:p>
          <a:p>
            <a:r>
              <a:rPr lang="en-US" altLang="en-US" sz="2200"/>
              <a:t>Use the first element as the pivot</a:t>
            </a:r>
            <a:endParaRPr lang="en-US" altLang="en-US" sz="2200">
              <a:solidFill>
                <a:srgbClr val="002060"/>
              </a:solidFill>
            </a:endParaRPr>
          </a:p>
          <a:p>
            <a:pPr lvl="1"/>
            <a:r>
              <a:rPr lang="en-US" altLang="en-US" sz="2000">
                <a:solidFill>
                  <a:srgbClr val="002060"/>
                </a:solidFill>
              </a:rPr>
              <a:t>This is acceptable if the input is random </a:t>
            </a:r>
          </a:p>
          <a:p>
            <a:pPr lvl="1"/>
            <a:r>
              <a:rPr lang="en-US" altLang="en-US" sz="2000">
                <a:solidFill>
                  <a:srgbClr val="002060"/>
                </a:solidFill>
              </a:rPr>
              <a:t>But, if the input is presorted or in reverse order, then the pivot provides a poor partition, because virtually all the elements go into </a:t>
            </a:r>
            <a:r>
              <a:rPr lang="en-US" altLang="en-US" sz="2000" b="1" i="1">
                <a:solidFill>
                  <a:srgbClr val="0000CC"/>
                </a:solidFill>
              </a:rPr>
              <a:t>S</a:t>
            </a:r>
            <a:r>
              <a:rPr lang="en-US" altLang="en-US" sz="2000" b="1" baseline="-25000">
                <a:solidFill>
                  <a:srgbClr val="0000CC"/>
                </a:solidFill>
              </a:rPr>
              <a:t>1</a:t>
            </a:r>
            <a:r>
              <a:rPr lang="en-US" altLang="en-US" sz="2000">
                <a:solidFill>
                  <a:srgbClr val="002060"/>
                </a:solidFill>
              </a:rPr>
              <a:t> or </a:t>
            </a:r>
            <a:r>
              <a:rPr lang="en-US" altLang="en-US" sz="2000" b="1" i="1">
                <a:solidFill>
                  <a:srgbClr val="0000CC"/>
                </a:solidFill>
              </a:rPr>
              <a:t>S</a:t>
            </a:r>
            <a:r>
              <a:rPr lang="en-US" altLang="en-US" sz="2000" b="1" baseline="-25000">
                <a:solidFill>
                  <a:srgbClr val="0000CC"/>
                </a:solidFill>
              </a:rPr>
              <a:t>2</a:t>
            </a:r>
            <a:endParaRPr lang="en-US" altLang="en-US" sz="2000">
              <a:solidFill>
                <a:srgbClr val="002060"/>
              </a:solidFill>
            </a:endParaRPr>
          </a:p>
          <a:p>
            <a:pPr lvl="1"/>
            <a:r>
              <a:rPr lang="en-US" altLang="en-US" sz="2000">
                <a:solidFill>
                  <a:srgbClr val="002060"/>
                </a:solidFill>
              </a:rPr>
              <a:t>It happens consistently throughout the recursive calls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>
                <a:solidFill>
                  <a:srgbClr val="002060"/>
                </a:solidFill>
                <a:sym typeface="Wingdings" pitchFamily="2" charset="2"/>
              </a:rPr>
              <a:t> </a:t>
            </a:r>
            <a:r>
              <a:rPr lang="en-US" altLang="en-US" sz="2200"/>
              <a:t>Quicksort will take quadratic time to do essentially   nothing at all, which is quite embarrassing</a:t>
            </a:r>
          </a:p>
          <a:p>
            <a:pPr>
              <a:buFont typeface="Wingdings 2" pitchFamily="2" charset="2"/>
              <a:buNone/>
            </a:pPr>
            <a:r>
              <a:rPr lang="en-US" altLang="en-US" sz="2400" b="1">
                <a:solidFill>
                  <a:srgbClr val="0000CC"/>
                </a:solidFill>
              </a:rPr>
              <a:t>2- A Safe Maneuver</a:t>
            </a:r>
          </a:p>
          <a:p>
            <a:r>
              <a:rPr lang="en-US" altLang="en-US" sz="2200"/>
              <a:t>A safe course is merely to choose the pivot randomly </a:t>
            </a:r>
          </a:p>
          <a:p>
            <a:pPr lvl="1"/>
            <a:r>
              <a:rPr lang="en-US" altLang="en-US" sz="2000">
                <a:solidFill>
                  <a:srgbClr val="002060"/>
                </a:solidFill>
              </a:rPr>
              <a:t>This strategy is generally perfectly safe, unless the random number generator has a flaw</a:t>
            </a:r>
          </a:p>
          <a:p>
            <a:r>
              <a:rPr lang="en-US" altLang="en-US" sz="2200">
                <a:solidFill>
                  <a:srgbClr val="002060"/>
                </a:solidFill>
              </a:rPr>
              <a:t>H</a:t>
            </a:r>
            <a:r>
              <a:rPr lang="en-US" altLang="en-US" sz="2200"/>
              <a:t>owever, random number generation is generally an expensive commodity and does not reduce the average running time of the rest of the algorithm at all</a:t>
            </a:r>
            <a:endParaRPr lang="en-US" altLang="en-US" sz="2200" b="1">
              <a:solidFill>
                <a:srgbClr val="0000CC"/>
              </a:solidFill>
            </a:endParaRPr>
          </a:p>
        </p:txBody>
      </p:sp>
      <p:sp>
        <p:nvSpPr>
          <p:cNvPr id="10" name="Slide Number Placeholder 7">
            <a:extLst>
              <a:ext uri="{FF2B5EF4-FFF2-40B4-BE49-F238E27FC236}">
                <a16:creationId xmlns:a16="http://schemas.microsoft.com/office/drawing/2014/main" id="{2DF1ECCD-D1A1-9448-A69F-8DC76035B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267" y="6875464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E2B4156-0F5F-4D46-80CB-537F9AD7C189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539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78CDE3-FD2D-C747-A89B-DD60E340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0C3437-AAE0-7A46-81EE-35B900F43BC9}"/>
              </a:ext>
            </a:extLst>
          </p:cNvPr>
          <p:cNvSpPr txBox="1">
            <a:spLocks/>
          </p:cNvSpPr>
          <p:nvPr/>
        </p:nvSpPr>
        <p:spPr bwMode="auto">
          <a:xfrm>
            <a:off x="190500" y="128588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latin typeface="Trebuchet MS" panose="020B0703020202090204" pitchFamily="34" charset="0"/>
              </a:rPr>
              <a:t>Quick Sort – Selecting the Pivot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891183-1B0A-574C-A8B7-09EBD6973FE7}"/>
              </a:ext>
            </a:extLst>
          </p:cNvPr>
          <p:cNvSpPr txBox="1">
            <a:spLocks/>
          </p:cNvSpPr>
          <p:nvPr/>
        </p:nvSpPr>
        <p:spPr>
          <a:xfrm>
            <a:off x="457200" y="990600"/>
            <a:ext cx="75438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The best choice of pivot would be the median of the file.</a:t>
            </a:r>
          </a:p>
          <a:p>
            <a:pPr lvl="1"/>
            <a:r>
              <a:rPr lang="en-US" altLang="en-US" sz="2400" dirty="0"/>
              <a:t>A good estimate can be obtained by picking three elements randomly and using the median of these three as pivot.</a:t>
            </a:r>
          </a:p>
          <a:p>
            <a:pPr lvl="1"/>
            <a:r>
              <a:rPr lang="en-US" altLang="en-US" sz="2200" dirty="0">
                <a:solidFill>
                  <a:srgbClr val="002060"/>
                </a:solidFill>
              </a:rPr>
              <a:t>The randomness turns out not to help much</a:t>
            </a:r>
          </a:p>
          <a:p>
            <a:r>
              <a:rPr lang="en-US" altLang="en-US" sz="2400" dirty="0">
                <a:solidFill>
                  <a:srgbClr val="0000CC"/>
                </a:solidFill>
              </a:rPr>
              <a:t>So, the common course is to use as pivot the median of the left, right and center elements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C5BD70-B416-5245-96F0-FD3178406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334000"/>
            <a:ext cx="3263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0000CC"/>
                </a:solidFill>
              </a:rPr>
              <a:t>A = {8, 1, 4, 9, 6, 3, 5, 2, 7, 0} </a:t>
            </a: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F8E6DA6B-67CE-5449-8F93-367607AE9C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556736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F30A7D6A-872C-304C-AD1B-2E9D10EB4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0" y="5356225"/>
            <a:ext cx="31210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center = A[</a:t>
            </a:r>
            <a:r>
              <a:rPr lang="en-US" altLang="en-US" sz="1800" i="1" dirty="0"/>
              <a:t>left</a:t>
            </a:r>
            <a:r>
              <a:rPr lang="en-US" altLang="en-US" sz="1800" dirty="0"/>
              <a:t> + </a:t>
            </a:r>
            <a:r>
              <a:rPr lang="en-US" altLang="en-US" sz="1800" i="1" dirty="0"/>
              <a:t>right</a:t>
            </a:r>
            <a:r>
              <a:rPr lang="en-US" altLang="en-US" sz="1800" dirty="0"/>
              <a:t>)/2]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 = A [(0+9)/2] = </a:t>
            </a:r>
            <a:r>
              <a:rPr lang="en-US" altLang="en-US" sz="1800" b="1" dirty="0"/>
              <a:t>A[4] = 6</a:t>
            </a:r>
            <a:r>
              <a:rPr lang="en-US" altLang="en-US" sz="1800" dirty="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pivot</a:t>
            </a:r>
            <a:r>
              <a:rPr lang="en-US" altLang="en-US" sz="1800" dirty="0"/>
              <a:t>: v= median(8, 6, 0) = </a:t>
            </a:r>
            <a:r>
              <a:rPr lang="en-US" altLang="en-US" sz="1800" b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" name="Slide Number Placeholder 7">
            <a:extLst>
              <a:ext uri="{FF2B5EF4-FFF2-40B4-BE49-F238E27FC236}">
                <a16:creationId xmlns:a16="http://schemas.microsoft.com/office/drawing/2014/main" id="{B5120249-0929-2847-A017-8477C4E86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0038A62-CD9F-A645-A465-BFED14B9F7A8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99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624F69-0DCB-9B42-B817-E6422D9DD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4380E2-6911-CC4A-ABE6-21D0273B5E53}"/>
              </a:ext>
            </a:extLst>
          </p:cNvPr>
          <p:cNvSpPr txBox="1">
            <a:spLocks/>
          </p:cNvSpPr>
          <p:nvPr/>
        </p:nvSpPr>
        <p:spPr bwMode="auto">
          <a:xfrm>
            <a:off x="23811" y="223044"/>
            <a:ext cx="7759739" cy="838200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 dirty="0" err="1">
                <a:latin typeface="Trebuchet MS" pitchFamily="34" charset="0"/>
              </a:rPr>
              <a:t>QuickSort</a:t>
            </a:r>
            <a:r>
              <a:rPr lang="en-US" sz="3400" dirty="0">
                <a:latin typeface="Trebuchet MS" pitchFamily="34" charset="0"/>
              </a:rPr>
              <a:t> :Partitioning strategy </a:t>
            </a:r>
            <a:br>
              <a:rPr lang="en-US" sz="3400" dirty="0">
                <a:latin typeface="Trebuchet MS" pitchFamily="34" charset="0"/>
              </a:rPr>
            </a:br>
            <a:r>
              <a:rPr lang="en-US" sz="3400" dirty="0">
                <a:latin typeface="Trebuchet MS" pitchFamily="34" charset="0"/>
              </a:rPr>
              <a:t>Example</a:t>
            </a:r>
          </a:p>
        </p:txBody>
      </p:sp>
      <p:graphicFrame>
        <p:nvGraphicFramePr>
          <p:cNvPr id="4" name="Group 92">
            <a:extLst>
              <a:ext uri="{FF2B5EF4-FFF2-40B4-BE49-F238E27FC236}">
                <a16:creationId xmlns:a16="http://schemas.microsoft.com/office/drawing/2014/main" id="{3E0D7B02-C362-9543-8E72-0F27BB1F0557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2954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Arrow Connector 16">
            <a:extLst>
              <a:ext uri="{FF2B5EF4-FFF2-40B4-BE49-F238E27FC236}">
                <a16:creationId xmlns:a16="http://schemas.microsoft.com/office/drawing/2014/main" id="{5D2953C7-738B-A14A-9A23-23EA2A807E4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57200" y="17526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 Box 93">
            <a:extLst>
              <a:ext uri="{FF2B5EF4-FFF2-40B4-BE49-F238E27FC236}">
                <a16:creationId xmlns:a16="http://schemas.microsoft.com/office/drawing/2014/main" id="{B693725D-B5ED-4E4D-912A-82DA33B41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20685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0B0A44A-7413-5A48-B90D-AE531BD937CE}"/>
              </a:ext>
            </a:extLst>
          </p:cNvPr>
          <p:cNvSpPr>
            <a:spLocks/>
          </p:cNvSpPr>
          <p:nvPr/>
        </p:nvSpPr>
        <p:spPr bwMode="auto">
          <a:xfrm>
            <a:off x="304800" y="2392363"/>
            <a:ext cx="7848600" cy="423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000" dirty="0">
                <a:solidFill>
                  <a:srgbClr val="0000CC"/>
                </a:solidFill>
              </a:rPr>
              <a:t>The basic algorithm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While </a:t>
            </a:r>
            <a:r>
              <a:rPr lang="en-US" altLang="en-US" sz="2000" b="1" i="1" dirty="0" err="1">
                <a:solidFill>
                  <a:srgbClr val="0000CC"/>
                </a:solidFill>
              </a:rPr>
              <a:t>i</a:t>
            </a:r>
            <a:r>
              <a:rPr lang="en-US" altLang="en-US" sz="2000" i="1" dirty="0"/>
              <a:t> </a:t>
            </a:r>
            <a:r>
              <a:rPr lang="en-US" altLang="en-US" sz="2000" dirty="0"/>
              <a:t>is to the left of </a:t>
            </a:r>
            <a:r>
              <a:rPr lang="en-US" altLang="en-US" sz="2000" b="1" i="1" dirty="0">
                <a:solidFill>
                  <a:srgbClr val="0000CC"/>
                </a:solidFill>
              </a:rPr>
              <a:t>j</a:t>
            </a:r>
            <a:r>
              <a:rPr lang="en-US" altLang="en-US" sz="2000" dirty="0"/>
              <a:t>, </a:t>
            </a:r>
          </a:p>
          <a:p>
            <a:pPr lvl="1">
              <a:lnSpc>
                <a:spcPct val="90000"/>
              </a:lnSpc>
            </a:pPr>
            <a:r>
              <a:rPr lang="en-US" altLang="en-US" sz="1900" dirty="0">
                <a:solidFill>
                  <a:srgbClr val="7030A0"/>
                </a:solidFill>
              </a:rPr>
              <a:t>we move</a:t>
            </a:r>
            <a:r>
              <a:rPr lang="en-US" altLang="en-US" sz="1900" dirty="0">
                <a:solidFill>
                  <a:srgbClr val="002060"/>
                </a:solidFill>
              </a:rPr>
              <a:t> </a:t>
            </a:r>
            <a:r>
              <a:rPr lang="en-US" altLang="en-US" sz="1900" b="1" i="1" dirty="0" err="1">
                <a:solidFill>
                  <a:srgbClr val="0000CC"/>
                </a:solidFill>
              </a:rPr>
              <a:t>i</a:t>
            </a:r>
            <a:r>
              <a:rPr lang="en-US" altLang="en-US" sz="1900" dirty="0">
                <a:solidFill>
                  <a:srgbClr val="002060"/>
                </a:solidFill>
              </a:rPr>
              <a:t> </a:t>
            </a:r>
            <a:r>
              <a:rPr lang="en-US" altLang="en-US" sz="1900" dirty="0">
                <a:solidFill>
                  <a:srgbClr val="7030A0"/>
                </a:solidFill>
              </a:rPr>
              <a:t>right, skipping over elements smaller than the pivot</a:t>
            </a:r>
          </a:p>
          <a:p>
            <a:pPr lvl="1">
              <a:lnSpc>
                <a:spcPct val="90000"/>
              </a:lnSpc>
            </a:pPr>
            <a:r>
              <a:rPr lang="en-US" altLang="en-US" sz="1900" dirty="0">
                <a:solidFill>
                  <a:srgbClr val="7030A0"/>
                </a:solidFill>
              </a:rPr>
              <a:t>We move</a:t>
            </a:r>
            <a:r>
              <a:rPr lang="en-US" altLang="en-US" sz="1900" dirty="0">
                <a:solidFill>
                  <a:srgbClr val="002060"/>
                </a:solidFill>
              </a:rPr>
              <a:t> </a:t>
            </a:r>
            <a:r>
              <a:rPr lang="en-US" altLang="en-US" sz="1900" b="1" i="1" dirty="0">
                <a:solidFill>
                  <a:srgbClr val="0000CC"/>
                </a:solidFill>
              </a:rPr>
              <a:t>j</a:t>
            </a:r>
            <a:r>
              <a:rPr lang="en-US" altLang="en-US" sz="1900" dirty="0">
                <a:solidFill>
                  <a:srgbClr val="002060"/>
                </a:solidFill>
              </a:rPr>
              <a:t> </a:t>
            </a:r>
            <a:r>
              <a:rPr lang="en-US" altLang="en-US" sz="1900" dirty="0">
                <a:solidFill>
                  <a:srgbClr val="7030A0"/>
                </a:solidFill>
              </a:rPr>
              <a:t>left, skipping over elements larger than the pivot 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When </a:t>
            </a:r>
            <a:r>
              <a:rPr lang="en-US" altLang="en-US" sz="2000" b="1" i="1" dirty="0" err="1">
                <a:solidFill>
                  <a:srgbClr val="0000CC"/>
                </a:solidFill>
              </a:rPr>
              <a:t>i</a:t>
            </a:r>
            <a:r>
              <a:rPr lang="en-US" altLang="en-US" sz="2000" dirty="0"/>
              <a:t> and </a:t>
            </a:r>
            <a:r>
              <a:rPr lang="en-US" altLang="en-US" sz="2000" b="1" i="1" dirty="0">
                <a:solidFill>
                  <a:srgbClr val="0000CC"/>
                </a:solidFill>
              </a:rPr>
              <a:t>j</a:t>
            </a:r>
            <a:r>
              <a:rPr lang="en-US" altLang="en-US" sz="2000" dirty="0"/>
              <a:t> have stopped, </a:t>
            </a:r>
          </a:p>
          <a:p>
            <a:pPr lvl="1">
              <a:lnSpc>
                <a:spcPct val="90000"/>
              </a:lnSpc>
            </a:pPr>
            <a:r>
              <a:rPr lang="en-US" altLang="en-US" sz="1900" b="1" i="1" dirty="0" err="1">
                <a:solidFill>
                  <a:srgbClr val="0000CC"/>
                </a:solidFill>
              </a:rPr>
              <a:t>i</a:t>
            </a:r>
            <a:r>
              <a:rPr lang="en-US" altLang="en-US" sz="1900" dirty="0"/>
              <a:t> </a:t>
            </a:r>
            <a:r>
              <a:rPr lang="en-US" altLang="en-US" sz="1900" dirty="0">
                <a:solidFill>
                  <a:srgbClr val="430086"/>
                </a:solidFill>
              </a:rPr>
              <a:t>is pointing at a large element, and </a:t>
            </a:r>
          </a:p>
          <a:p>
            <a:pPr lvl="1">
              <a:lnSpc>
                <a:spcPct val="90000"/>
              </a:lnSpc>
            </a:pPr>
            <a:r>
              <a:rPr lang="en-US" altLang="en-US" sz="1900" b="1" i="1" dirty="0">
                <a:solidFill>
                  <a:srgbClr val="0000CC"/>
                </a:solidFill>
              </a:rPr>
              <a:t>j</a:t>
            </a:r>
            <a:r>
              <a:rPr lang="en-US" altLang="en-US" sz="1900" dirty="0"/>
              <a:t> </a:t>
            </a:r>
            <a:r>
              <a:rPr lang="en-US" altLang="en-US" sz="1900" dirty="0">
                <a:solidFill>
                  <a:srgbClr val="7030A0"/>
                </a:solidFill>
              </a:rPr>
              <a:t>is pointing at a small element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If </a:t>
            </a:r>
            <a:r>
              <a:rPr lang="en-US" altLang="en-US" sz="2000" b="1" i="1" dirty="0" err="1">
                <a:solidFill>
                  <a:srgbClr val="0000CC"/>
                </a:solidFill>
              </a:rPr>
              <a:t>i</a:t>
            </a:r>
            <a:r>
              <a:rPr lang="en-US" altLang="en-US" sz="2000" dirty="0"/>
              <a:t> is to the left of </a:t>
            </a:r>
            <a:r>
              <a:rPr lang="en-US" altLang="en-US" sz="2000" b="1" i="1" dirty="0">
                <a:solidFill>
                  <a:srgbClr val="0000CC"/>
                </a:solidFill>
              </a:rPr>
              <a:t>j</a:t>
            </a:r>
            <a:r>
              <a:rPr lang="en-US" altLang="en-US" sz="2000" dirty="0"/>
              <a:t>, </a:t>
            </a:r>
          </a:p>
          <a:p>
            <a:pPr lvl="1">
              <a:lnSpc>
                <a:spcPct val="90000"/>
              </a:lnSpc>
            </a:pPr>
            <a:r>
              <a:rPr lang="en-US" altLang="en-US" sz="1900" dirty="0">
                <a:solidFill>
                  <a:srgbClr val="7030A0"/>
                </a:solidFill>
              </a:rPr>
              <a:t>those elements are swapped </a:t>
            </a:r>
          </a:p>
          <a:p>
            <a:pPr>
              <a:lnSpc>
                <a:spcPct val="90000"/>
              </a:lnSpc>
            </a:pPr>
            <a:r>
              <a:rPr lang="en-US" altLang="en-US" sz="2000" dirty="0"/>
              <a:t>The effect is to </a:t>
            </a:r>
            <a:r>
              <a:rPr lang="en-US" altLang="en-US" sz="2000" dirty="0">
                <a:solidFill>
                  <a:srgbClr val="0000CC"/>
                </a:solidFill>
              </a:rPr>
              <a:t>push a large element to the right</a:t>
            </a:r>
            <a:r>
              <a:rPr lang="en-US" altLang="en-US" sz="2000" dirty="0"/>
              <a:t> and a </a:t>
            </a:r>
            <a:r>
              <a:rPr lang="en-US" altLang="en-US" sz="2000" dirty="0">
                <a:solidFill>
                  <a:srgbClr val="0000CC"/>
                </a:solidFill>
              </a:rPr>
              <a:t>small element to the left</a:t>
            </a:r>
            <a:r>
              <a:rPr lang="en-US" altLang="en-US" sz="2000" dirty="0"/>
              <a:t>. </a:t>
            </a:r>
          </a:p>
        </p:txBody>
      </p:sp>
      <p:cxnSp>
        <p:nvCxnSpPr>
          <p:cNvPr id="8" name="Straight Arrow Connector 16">
            <a:extLst>
              <a:ext uri="{FF2B5EF4-FFF2-40B4-BE49-F238E27FC236}">
                <a16:creationId xmlns:a16="http://schemas.microsoft.com/office/drawing/2014/main" id="{FE5447DD-2047-E543-8F2F-B43D83DE41A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579813" y="16764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 Box 107">
            <a:extLst>
              <a:ext uri="{FF2B5EF4-FFF2-40B4-BE49-F238E27FC236}">
                <a16:creationId xmlns:a16="http://schemas.microsoft.com/office/drawing/2014/main" id="{513B6BD9-FCE8-CD48-B8A4-21EC2CD18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8025" y="1992313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cxnSp>
        <p:nvCxnSpPr>
          <p:cNvPr id="10" name="Straight Arrow Connector 16">
            <a:extLst>
              <a:ext uri="{FF2B5EF4-FFF2-40B4-BE49-F238E27FC236}">
                <a16:creationId xmlns:a16="http://schemas.microsoft.com/office/drawing/2014/main" id="{DD6EE0BF-69CE-AE49-9C32-C173F390C71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396163" y="1724025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 Box 109">
            <a:extLst>
              <a:ext uri="{FF2B5EF4-FFF2-40B4-BE49-F238E27FC236}">
                <a16:creationId xmlns:a16="http://schemas.microsoft.com/office/drawing/2014/main" id="{073F8E29-CD34-FE47-9225-484AD32B0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9800" y="2039938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3" name="Slide Number Placeholder 11">
            <a:extLst>
              <a:ext uri="{FF2B5EF4-FFF2-40B4-BE49-F238E27FC236}">
                <a16:creationId xmlns:a16="http://schemas.microsoft.com/office/drawing/2014/main" id="{3073BD54-8C85-2742-B7AA-BDCB1CBB1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5BEC2D-28A0-A64B-AD5F-DFE400314F44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091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DD01C2-F408-1F4A-A3AF-7655A0FE1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0A5030-9530-0A44-BAA4-94BEC34FF721}"/>
              </a:ext>
            </a:extLst>
          </p:cNvPr>
          <p:cNvSpPr txBox="1">
            <a:spLocks/>
          </p:cNvSpPr>
          <p:nvPr/>
        </p:nvSpPr>
        <p:spPr bwMode="auto">
          <a:xfrm>
            <a:off x="159370" y="224632"/>
            <a:ext cx="7239000" cy="838200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 dirty="0" err="1">
                <a:latin typeface="Trebuchet MS" pitchFamily="34" charset="0"/>
              </a:rPr>
              <a:t>QuickSort</a:t>
            </a:r>
            <a:r>
              <a:rPr lang="en-US" sz="3400" dirty="0">
                <a:latin typeface="Trebuchet MS" pitchFamily="34" charset="0"/>
              </a:rPr>
              <a:t> :Partitioning strategy </a:t>
            </a:r>
            <a:br>
              <a:rPr lang="en-US" sz="3400" dirty="0">
                <a:latin typeface="Trebuchet MS" pitchFamily="34" charset="0"/>
              </a:rPr>
            </a:br>
            <a:r>
              <a:rPr lang="en-US" sz="3400" dirty="0">
                <a:latin typeface="Trebuchet MS" pitchFamily="34" charset="0"/>
              </a:rPr>
              <a:t>Step 1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1DF8F9DA-E32D-ED43-BC12-458EC9ED4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852409"/>
              </p:ext>
            </p:extLst>
          </p:nvPr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Arrow Connector 16">
            <a:extLst>
              <a:ext uri="{FF2B5EF4-FFF2-40B4-BE49-F238E27FC236}">
                <a16:creationId xmlns:a16="http://schemas.microsoft.com/office/drawing/2014/main" id="{30C2871B-EA39-DA41-B972-4D47F49FF5D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57200" y="23622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 Box 28">
            <a:extLst>
              <a:ext uri="{FF2B5EF4-FFF2-40B4-BE49-F238E27FC236}">
                <a16:creationId xmlns:a16="http://schemas.microsoft.com/office/drawing/2014/main" id="{FAA186B1-CCFC-2E44-B8A4-F3F5B2BF3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7" name="Straight Arrow Connector 16">
            <a:extLst>
              <a:ext uri="{FF2B5EF4-FFF2-40B4-BE49-F238E27FC236}">
                <a16:creationId xmlns:a16="http://schemas.microsoft.com/office/drawing/2014/main" id="{09F4E1A0-48DB-9D46-851E-A21FF3BEE5F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591300" y="234315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xt Box 30">
            <a:extLst>
              <a:ext uri="{FF2B5EF4-FFF2-40B4-BE49-F238E27FC236}">
                <a16:creationId xmlns:a16="http://schemas.microsoft.com/office/drawing/2014/main" id="{89F04B24-79BC-0C43-B2A5-111041302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938" y="265906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cxnSp>
        <p:nvCxnSpPr>
          <p:cNvPr id="9" name="Straight Arrow Connector 16">
            <a:extLst>
              <a:ext uri="{FF2B5EF4-FFF2-40B4-BE49-F238E27FC236}">
                <a16:creationId xmlns:a16="http://schemas.microsoft.com/office/drawing/2014/main" id="{2EF9BE95-6FBF-C640-BD50-881CC8FC209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3352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Text Box 33">
            <a:extLst>
              <a:ext uri="{FF2B5EF4-FFF2-40B4-BE49-F238E27FC236}">
                <a16:creationId xmlns:a16="http://schemas.microsoft.com/office/drawing/2014/main" id="{62EFBC23-2EB5-794E-8B20-1C75CA183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11" name="Freeform 184">
            <a:extLst>
              <a:ext uri="{FF2B5EF4-FFF2-40B4-BE49-F238E27FC236}">
                <a16:creationId xmlns:a16="http://schemas.microsoft.com/office/drawing/2014/main" id="{FC29B7B9-DE1E-5241-8CCC-04D2222E14B0}"/>
              </a:ext>
            </a:extLst>
          </p:cNvPr>
          <p:cNvSpPr>
            <a:spLocks/>
          </p:cNvSpPr>
          <p:nvPr/>
        </p:nvSpPr>
        <p:spPr bwMode="auto">
          <a:xfrm flipV="1">
            <a:off x="3486150" y="1581150"/>
            <a:ext cx="3848100" cy="371475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3" name="Slide Number Placeholder 11">
            <a:extLst>
              <a:ext uri="{FF2B5EF4-FFF2-40B4-BE49-F238E27FC236}">
                <a16:creationId xmlns:a16="http://schemas.microsoft.com/office/drawing/2014/main" id="{B5838DC2-7AB6-E946-A435-6603CC5F5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52CC6DE-4FF2-7446-9174-7B9D9E295DD1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05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85AD0B-A655-1F4A-BC2A-B8922A90F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32E081-EA2C-D040-A935-5FB47E44553F}"/>
              </a:ext>
            </a:extLst>
          </p:cNvPr>
          <p:cNvSpPr txBox="1">
            <a:spLocks/>
          </p:cNvSpPr>
          <p:nvPr/>
        </p:nvSpPr>
        <p:spPr bwMode="auto">
          <a:xfrm>
            <a:off x="457200" y="381000"/>
            <a:ext cx="7239000" cy="838200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>
                <a:latin typeface="Trebuchet MS" pitchFamily="34" charset="0"/>
              </a:rPr>
              <a:t>QuickSort :Partitioning strategy </a:t>
            </a:r>
            <a:br>
              <a:rPr lang="en-US" sz="3400">
                <a:latin typeface="Trebuchet MS" pitchFamily="34" charset="0"/>
              </a:rPr>
            </a:br>
            <a:r>
              <a:rPr lang="en-US" sz="3400">
                <a:latin typeface="Trebuchet MS" pitchFamily="34" charset="0"/>
              </a:rPr>
              <a:t> Step 1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32F6586B-62FA-2742-81D3-3D3EEDD8FF00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Arrow Connector 16">
            <a:extLst>
              <a:ext uri="{FF2B5EF4-FFF2-40B4-BE49-F238E27FC236}">
                <a16:creationId xmlns:a16="http://schemas.microsoft.com/office/drawing/2014/main" id="{0E941683-7F8D-CC4D-B77C-2F6370A96CE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57200" y="23622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 Box 28">
            <a:extLst>
              <a:ext uri="{FF2B5EF4-FFF2-40B4-BE49-F238E27FC236}">
                <a16:creationId xmlns:a16="http://schemas.microsoft.com/office/drawing/2014/main" id="{6EDB2327-1002-094C-985A-2270FA43E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7" name="Straight Arrow Connector 16">
            <a:extLst>
              <a:ext uri="{FF2B5EF4-FFF2-40B4-BE49-F238E27FC236}">
                <a16:creationId xmlns:a16="http://schemas.microsoft.com/office/drawing/2014/main" id="{0B148480-5790-2B47-B169-E3394BFD7FA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591300" y="234315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xt Box 30">
            <a:extLst>
              <a:ext uri="{FF2B5EF4-FFF2-40B4-BE49-F238E27FC236}">
                <a16:creationId xmlns:a16="http://schemas.microsoft.com/office/drawing/2014/main" id="{03F2C6D6-BA12-784E-95CA-0135F203F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938" y="265906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CDFBE47-FA8A-DE4E-8531-D764290857E9}"/>
              </a:ext>
            </a:extLst>
          </p:cNvPr>
          <p:cNvSpPr>
            <a:spLocks/>
          </p:cNvSpPr>
          <p:nvPr/>
        </p:nvSpPr>
        <p:spPr bwMode="auto">
          <a:xfrm>
            <a:off x="138113" y="3154363"/>
            <a:ext cx="8001000" cy="118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/>
              <a:t>Start by swapping the </a:t>
            </a:r>
            <a:r>
              <a:rPr lang="en-US" altLang="en-US" sz="2200" i="1">
                <a:solidFill>
                  <a:srgbClr val="0000CC"/>
                </a:solidFill>
              </a:rPr>
              <a:t>pivot</a:t>
            </a:r>
            <a:r>
              <a:rPr lang="en-US" altLang="en-US" sz="2200"/>
              <a:t> with the </a:t>
            </a:r>
            <a:r>
              <a:rPr lang="en-US" altLang="en-US" sz="2200" i="1">
                <a:solidFill>
                  <a:srgbClr val="0000CC"/>
                </a:solidFill>
              </a:rPr>
              <a:t>right</a:t>
            </a:r>
            <a:r>
              <a:rPr lang="en-US" altLang="en-US" sz="2200"/>
              <a:t>, starting 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/>
              <a:t> at </a:t>
            </a:r>
            <a:r>
              <a:rPr lang="en-US" altLang="en-US" sz="2200" i="1">
                <a:solidFill>
                  <a:srgbClr val="0000CC"/>
                </a:solidFill>
              </a:rPr>
              <a:t>right</a:t>
            </a:r>
            <a:r>
              <a:rPr lang="en-US" altLang="en-US" sz="2200">
                <a:solidFill>
                  <a:srgbClr val="0000CC"/>
                </a:solidFill>
              </a:rPr>
              <a:t> -1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8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i</a:t>
            </a:r>
            <a:r>
              <a:rPr lang="en-US" altLang="en-US" sz="2000">
                <a:solidFill>
                  <a:srgbClr val="6C2A5E"/>
                </a:solidFill>
              </a:rPr>
              <a:t> right over here</a:t>
            </a:r>
          </a:p>
        </p:txBody>
      </p:sp>
      <p:cxnSp>
        <p:nvCxnSpPr>
          <p:cNvPr id="10" name="Straight Arrow Connector 16">
            <a:extLst>
              <a:ext uri="{FF2B5EF4-FFF2-40B4-BE49-F238E27FC236}">
                <a16:creationId xmlns:a16="http://schemas.microsoft.com/office/drawing/2014/main" id="{8D93A1C1-5996-9241-8FC4-F51D48C538F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3352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 Box 33">
            <a:extLst>
              <a:ext uri="{FF2B5EF4-FFF2-40B4-BE49-F238E27FC236}">
                <a16:creationId xmlns:a16="http://schemas.microsoft.com/office/drawing/2014/main" id="{9D9ADB7D-2735-F549-B6A1-8FBE82287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12" name="Freeform 184">
            <a:extLst>
              <a:ext uri="{FF2B5EF4-FFF2-40B4-BE49-F238E27FC236}">
                <a16:creationId xmlns:a16="http://schemas.microsoft.com/office/drawing/2014/main" id="{466EC9EA-7E31-5141-B53D-6E2D7FE9D9DA}"/>
              </a:ext>
            </a:extLst>
          </p:cNvPr>
          <p:cNvSpPr>
            <a:spLocks/>
          </p:cNvSpPr>
          <p:nvPr/>
        </p:nvSpPr>
        <p:spPr bwMode="auto">
          <a:xfrm flipV="1">
            <a:off x="3486150" y="1581150"/>
            <a:ext cx="3848100" cy="371475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4" name="Slide Number Placeholder 12">
            <a:extLst>
              <a:ext uri="{FF2B5EF4-FFF2-40B4-BE49-F238E27FC236}">
                <a16:creationId xmlns:a16="http://schemas.microsoft.com/office/drawing/2014/main" id="{69916DBC-C826-E349-A7D4-59E05B34C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967313-2AB0-1B49-851C-B88A8D2FE581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4825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1B256D-027C-DE49-B1C4-7449F0C0F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C6C506-8DCC-C24E-BB73-216C3310DC65}"/>
              </a:ext>
            </a:extLst>
          </p:cNvPr>
          <p:cNvSpPr txBox="1">
            <a:spLocks/>
          </p:cNvSpPr>
          <p:nvPr/>
        </p:nvSpPr>
        <p:spPr bwMode="auto">
          <a:xfrm>
            <a:off x="457200" y="381000"/>
            <a:ext cx="7239000" cy="838200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>
                <a:latin typeface="Trebuchet MS" pitchFamily="34" charset="0"/>
              </a:rPr>
              <a:t>QuickSort :Partitioning strategy </a:t>
            </a:r>
            <a:br>
              <a:rPr lang="en-US" sz="3400">
                <a:latin typeface="Trebuchet MS" pitchFamily="34" charset="0"/>
              </a:rPr>
            </a:br>
            <a:r>
              <a:rPr lang="en-US" sz="3400">
                <a:latin typeface="Trebuchet MS" pitchFamily="34" charset="0"/>
              </a:rPr>
              <a:t> Step 1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FF9064E4-C913-4A41-B96D-9E8F9C676E04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Arrow Connector 16">
            <a:extLst>
              <a:ext uri="{FF2B5EF4-FFF2-40B4-BE49-F238E27FC236}">
                <a16:creationId xmlns:a16="http://schemas.microsoft.com/office/drawing/2014/main" id="{1AF9C73C-7EBC-A946-A5DE-3F540EDFBB9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57200" y="23622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 Box 28">
            <a:extLst>
              <a:ext uri="{FF2B5EF4-FFF2-40B4-BE49-F238E27FC236}">
                <a16:creationId xmlns:a16="http://schemas.microsoft.com/office/drawing/2014/main" id="{C5AA21AD-A377-3445-892C-E627A6577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7" name="Straight Arrow Connector 16">
            <a:extLst>
              <a:ext uri="{FF2B5EF4-FFF2-40B4-BE49-F238E27FC236}">
                <a16:creationId xmlns:a16="http://schemas.microsoft.com/office/drawing/2014/main" id="{2FA754FC-EDAA-E743-9EE4-FBC3D3BE7C9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592888" y="2343150"/>
            <a:ext cx="19050" cy="315913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xt Box 30">
            <a:extLst>
              <a:ext uri="{FF2B5EF4-FFF2-40B4-BE49-F238E27FC236}">
                <a16:creationId xmlns:a16="http://schemas.microsoft.com/office/drawing/2014/main" id="{516D0FEC-8E50-FE43-AF0B-0F255DC2D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938" y="265906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57C414B-F21E-9C48-839A-F05E6CCD99E7}"/>
              </a:ext>
            </a:extLst>
          </p:cNvPr>
          <p:cNvSpPr>
            <a:spLocks/>
          </p:cNvSpPr>
          <p:nvPr/>
        </p:nvSpPr>
        <p:spPr bwMode="auto">
          <a:xfrm>
            <a:off x="304800" y="3154363"/>
            <a:ext cx="7848600" cy="240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7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Left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2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j</a:t>
            </a:r>
            <a:r>
              <a:rPr lang="en-US" altLang="en-US" sz="2000">
                <a:solidFill>
                  <a:srgbClr val="7030A0"/>
                </a:solidFill>
              </a:rPr>
              <a:t> </a:t>
            </a:r>
            <a:r>
              <a:rPr lang="en-US" altLang="en-US" sz="2000">
                <a:solidFill>
                  <a:srgbClr val="6C2A5E"/>
                </a:solidFill>
              </a:rPr>
              <a:t>right over here</a:t>
            </a:r>
          </a:p>
          <a:p>
            <a:pPr>
              <a:lnSpc>
                <a:spcPct val="90000"/>
              </a:lnSpc>
            </a:pPr>
            <a:endParaRPr lang="en-US" altLang="en-US" sz="2000">
              <a:solidFill>
                <a:srgbClr val="0000CC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0000"/>
                </a:solidFill>
              </a:rPr>
              <a:t>Swap </a:t>
            </a:r>
            <a:r>
              <a:rPr lang="en-US" altLang="en-US" sz="2400" i="1">
                <a:solidFill>
                  <a:srgbClr val="FF0000"/>
                </a:solidFill>
              </a:rPr>
              <a:t>A</a:t>
            </a:r>
            <a:r>
              <a:rPr lang="en-US" altLang="en-US" sz="2400">
                <a:solidFill>
                  <a:srgbClr val="FF0000"/>
                </a:solidFill>
              </a:rPr>
              <a:t>[</a:t>
            </a:r>
            <a:r>
              <a:rPr lang="en-US" altLang="en-US" sz="2400" i="1">
                <a:solidFill>
                  <a:srgbClr val="FF0000"/>
                </a:solidFill>
              </a:rPr>
              <a:t>i</a:t>
            </a:r>
            <a:r>
              <a:rPr lang="en-US" altLang="en-US" sz="2400">
                <a:solidFill>
                  <a:srgbClr val="FF0000"/>
                </a:solidFill>
              </a:rPr>
              <a:t>] and </a:t>
            </a:r>
            <a:r>
              <a:rPr lang="en-US" altLang="en-US" sz="2400" i="1">
                <a:solidFill>
                  <a:srgbClr val="FF0000"/>
                </a:solidFill>
              </a:rPr>
              <a:t>A</a:t>
            </a:r>
            <a:r>
              <a:rPr lang="en-US" altLang="en-US" sz="2400">
                <a:solidFill>
                  <a:srgbClr val="FF0000"/>
                </a:solidFill>
              </a:rPr>
              <a:t>[</a:t>
            </a:r>
            <a:r>
              <a:rPr lang="en-US" altLang="en-US" sz="2400" i="1">
                <a:solidFill>
                  <a:srgbClr val="FF0000"/>
                </a:solidFill>
              </a:rPr>
              <a:t>j</a:t>
            </a:r>
            <a:r>
              <a:rPr lang="en-US" altLang="en-US" sz="2400">
                <a:solidFill>
                  <a:srgbClr val="FF0000"/>
                </a:solidFill>
              </a:rPr>
              <a:t>]</a:t>
            </a:r>
          </a:p>
        </p:txBody>
      </p:sp>
      <p:cxnSp>
        <p:nvCxnSpPr>
          <p:cNvPr id="10" name="Straight Arrow Connector 16">
            <a:extLst>
              <a:ext uri="{FF2B5EF4-FFF2-40B4-BE49-F238E27FC236}">
                <a16:creationId xmlns:a16="http://schemas.microsoft.com/office/drawing/2014/main" id="{55FCB87B-A961-1649-B8BC-3531D67B9B5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3352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 Box 33">
            <a:extLst>
              <a:ext uri="{FF2B5EF4-FFF2-40B4-BE49-F238E27FC236}">
                <a16:creationId xmlns:a16="http://schemas.microsoft.com/office/drawing/2014/main" id="{C4B6490E-01E8-6D4F-9690-B38F92489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cxnSp>
        <p:nvCxnSpPr>
          <p:cNvPr id="12" name="Straight Arrow Connector 16">
            <a:extLst>
              <a:ext uri="{FF2B5EF4-FFF2-40B4-BE49-F238E27FC236}">
                <a16:creationId xmlns:a16="http://schemas.microsoft.com/office/drawing/2014/main" id="{30CAF4EF-479C-ED42-AB5A-80AC94DB4C2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900738" y="235743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 Box 36">
            <a:extLst>
              <a:ext uri="{FF2B5EF4-FFF2-40B4-BE49-F238E27FC236}">
                <a16:creationId xmlns:a16="http://schemas.microsoft.com/office/drawing/2014/main" id="{FAB655E1-B4F8-A643-A561-A48E0BC11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75" y="267335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4" name="Freeform 184">
            <a:extLst>
              <a:ext uri="{FF2B5EF4-FFF2-40B4-BE49-F238E27FC236}">
                <a16:creationId xmlns:a16="http://schemas.microsoft.com/office/drawing/2014/main" id="{80167152-4625-DA4A-94B3-EDF1A4802A45}"/>
              </a:ext>
            </a:extLst>
          </p:cNvPr>
          <p:cNvSpPr>
            <a:spLocks/>
          </p:cNvSpPr>
          <p:nvPr/>
        </p:nvSpPr>
        <p:spPr bwMode="auto">
          <a:xfrm flipV="1">
            <a:off x="342900" y="1581150"/>
            <a:ext cx="54483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6" name="Slide Number Placeholder 14">
            <a:extLst>
              <a:ext uri="{FF2B5EF4-FFF2-40B4-BE49-F238E27FC236}">
                <a16:creationId xmlns:a16="http://schemas.microsoft.com/office/drawing/2014/main" id="{9648E9B2-312A-E84B-8FDC-0DEEBF88D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040C8E-2943-7F41-BC15-2454E1508E49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6927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2D8414-B4ED-0448-931B-BDD004961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BE1D3-7AA8-D74E-9423-177967BBCCA0}"/>
              </a:ext>
            </a:extLst>
          </p:cNvPr>
          <p:cNvSpPr txBox="1">
            <a:spLocks/>
          </p:cNvSpPr>
          <p:nvPr/>
        </p:nvSpPr>
        <p:spPr bwMode="auto">
          <a:xfrm>
            <a:off x="457200" y="381000"/>
            <a:ext cx="7239000" cy="838200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>
                <a:latin typeface="Trebuchet MS" pitchFamily="34" charset="0"/>
              </a:rPr>
              <a:t>QuickSort :Partitioning strategy </a:t>
            </a:r>
            <a:br>
              <a:rPr lang="en-US" sz="3400">
                <a:latin typeface="Trebuchet MS" pitchFamily="34" charset="0"/>
              </a:rPr>
            </a:br>
            <a:r>
              <a:rPr lang="en-US" sz="3400">
                <a:latin typeface="Trebuchet MS" pitchFamily="34" charset="0"/>
              </a:rPr>
              <a:t> Step 1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CAF19ABF-08BC-7040-9055-7E6EF846E355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Arrow Connector 16">
            <a:extLst>
              <a:ext uri="{FF2B5EF4-FFF2-40B4-BE49-F238E27FC236}">
                <a16:creationId xmlns:a16="http://schemas.microsoft.com/office/drawing/2014/main" id="{BBDE31E7-A1F7-5A4C-8639-B7286DFE549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57200" y="23622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 Box 28">
            <a:extLst>
              <a:ext uri="{FF2B5EF4-FFF2-40B4-BE49-F238E27FC236}">
                <a16:creationId xmlns:a16="http://schemas.microsoft.com/office/drawing/2014/main" id="{07676D19-A0B7-284E-967A-F46B74B6B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16E5CBB-260C-7A49-8562-CA280BC30799}"/>
              </a:ext>
            </a:extLst>
          </p:cNvPr>
          <p:cNvSpPr>
            <a:spLocks/>
          </p:cNvSpPr>
          <p:nvPr/>
        </p:nvSpPr>
        <p:spPr bwMode="auto">
          <a:xfrm>
            <a:off x="304800" y="3154363"/>
            <a:ext cx="7848600" cy="256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7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2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</a:t>
            </a:r>
            <a:r>
              <a:rPr lang="en-US" altLang="en-US" sz="2000"/>
              <a:t> </a:t>
            </a:r>
            <a:r>
              <a:rPr lang="en-US" altLang="en-US" sz="2000" b="1" i="1">
                <a:solidFill>
                  <a:srgbClr val="0000CC"/>
                </a:solidFill>
              </a:rPr>
              <a:t>j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rgbClr val="6C2A5E"/>
                </a:solidFill>
              </a:rPr>
              <a:t>right over here</a:t>
            </a:r>
          </a:p>
          <a:p>
            <a:pPr>
              <a:lnSpc>
                <a:spcPct val="90000"/>
              </a:lnSpc>
            </a:pPr>
            <a:endParaRPr lang="en-US" altLang="en-US" sz="2000">
              <a:solidFill>
                <a:srgbClr val="0000CC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0000"/>
                </a:solidFill>
              </a:rPr>
              <a:t>Swap </a:t>
            </a:r>
            <a:r>
              <a:rPr lang="en-US" altLang="en-US" sz="2400" i="1">
                <a:solidFill>
                  <a:srgbClr val="FF0000"/>
                </a:solidFill>
              </a:rPr>
              <a:t>A</a:t>
            </a:r>
            <a:r>
              <a:rPr lang="en-US" altLang="en-US" sz="2400">
                <a:solidFill>
                  <a:srgbClr val="FF0000"/>
                </a:solidFill>
              </a:rPr>
              <a:t>[</a:t>
            </a:r>
            <a:r>
              <a:rPr lang="en-US" altLang="en-US" sz="2400" i="1">
                <a:solidFill>
                  <a:srgbClr val="FF0000"/>
                </a:solidFill>
              </a:rPr>
              <a:t>i</a:t>
            </a:r>
            <a:r>
              <a:rPr lang="en-US" altLang="en-US" sz="2400">
                <a:solidFill>
                  <a:srgbClr val="FF0000"/>
                </a:solidFill>
              </a:rPr>
              <a:t>] and </a:t>
            </a:r>
            <a:r>
              <a:rPr lang="en-US" altLang="en-US" sz="2400" i="1">
                <a:solidFill>
                  <a:srgbClr val="FF0000"/>
                </a:solidFill>
              </a:rPr>
              <a:t>A</a:t>
            </a:r>
            <a:r>
              <a:rPr lang="en-US" altLang="en-US" sz="2400">
                <a:solidFill>
                  <a:srgbClr val="FF0000"/>
                </a:solidFill>
              </a:rPr>
              <a:t>[</a:t>
            </a:r>
            <a:r>
              <a:rPr lang="en-US" altLang="en-US" sz="2400" i="1">
                <a:solidFill>
                  <a:srgbClr val="FF0000"/>
                </a:solidFill>
              </a:rPr>
              <a:t>j</a:t>
            </a:r>
            <a:r>
              <a:rPr lang="en-US" altLang="en-US" sz="2400">
                <a:solidFill>
                  <a:srgbClr val="FF0000"/>
                </a:solidFill>
              </a:rPr>
              <a:t>]</a:t>
            </a:r>
          </a:p>
        </p:txBody>
      </p:sp>
      <p:cxnSp>
        <p:nvCxnSpPr>
          <p:cNvPr id="8" name="Straight Arrow Connector 16">
            <a:extLst>
              <a:ext uri="{FF2B5EF4-FFF2-40B4-BE49-F238E27FC236}">
                <a16:creationId xmlns:a16="http://schemas.microsoft.com/office/drawing/2014/main" id="{5CDAFD0D-DD69-904D-83B1-6314D713FC6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3352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 Box 33">
            <a:extLst>
              <a:ext uri="{FF2B5EF4-FFF2-40B4-BE49-F238E27FC236}">
                <a16:creationId xmlns:a16="http://schemas.microsoft.com/office/drawing/2014/main" id="{C9367351-B6B3-AF4F-91E6-E96C10EDB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cxnSp>
        <p:nvCxnSpPr>
          <p:cNvPr id="10" name="Straight Arrow Connector 16">
            <a:extLst>
              <a:ext uri="{FF2B5EF4-FFF2-40B4-BE49-F238E27FC236}">
                <a16:creationId xmlns:a16="http://schemas.microsoft.com/office/drawing/2014/main" id="{2B8FF2D0-4E6B-0841-9E89-F5B296F8A62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900738" y="235743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 Box 35">
            <a:extLst>
              <a:ext uri="{FF2B5EF4-FFF2-40B4-BE49-F238E27FC236}">
                <a16:creationId xmlns:a16="http://schemas.microsoft.com/office/drawing/2014/main" id="{225848E2-51EE-6449-B5A0-C25E1EE9E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75" y="267335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2" name="Freeform 184">
            <a:extLst>
              <a:ext uri="{FF2B5EF4-FFF2-40B4-BE49-F238E27FC236}">
                <a16:creationId xmlns:a16="http://schemas.microsoft.com/office/drawing/2014/main" id="{DA45EF40-FD0B-424C-8706-C7FB13DA0A81}"/>
              </a:ext>
            </a:extLst>
          </p:cNvPr>
          <p:cNvSpPr>
            <a:spLocks/>
          </p:cNvSpPr>
          <p:nvPr/>
        </p:nvSpPr>
        <p:spPr bwMode="auto">
          <a:xfrm flipV="1">
            <a:off x="342900" y="1581150"/>
            <a:ext cx="54483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4" name="Slide Number Placeholder 12">
            <a:extLst>
              <a:ext uri="{FF2B5EF4-FFF2-40B4-BE49-F238E27FC236}">
                <a16:creationId xmlns:a16="http://schemas.microsoft.com/office/drawing/2014/main" id="{C0C91B8C-AB75-E249-BD9D-89614434D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869C5D-0707-BC46-8613-C1BBF4EC9731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776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163CD5-4090-B641-97D4-0A8382771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5B4E57-8092-C044-A936-ECDFD1AB0FC4}"/>
              </a:ext>
            </a:extLst>
          </p:cNvPr>
          <p:cNvSpPr txBox="1">
            <a:spLocks/>
          </p:cNvSpPr>
          <p:nvPr/>
        </p:nvSpPr>
        <p:spPr bwMode="auto">
          <a:xfrm>
            <a:off x="457200" y="454025"/>
            <a:ext cx="7239000" cy="838200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>
                <a:latin typeface="Trebuchet MS" pitchFamily="34" charset="0"/>
              </a:rPr>
              <a:t>QuickSort :Partitioning strategy </a:t>
            </a:r>
            <a:br>
              <a:rPr lang="en-US" sz="3400">
                <a:latin typeface="Trebuchet MS" pitchFamily="34" charset="0"/>
              </a:rPr>
            </a:br>
            <a:r>
              <a:rPr lang="en-US" sz="3400">
                <a:latin typeface="Trebuchet MS" pitchFamily="34" charset="0"/>
              </a:rPr>
              <a:t> Step 2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1D835128-6A63-6D48-B84B-4C1EC97A175E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78025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6956B26-5211-E149-ABD0-C2EB37F222A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57200" y="2435225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 Box 28">
            <a:extLst>
              <a:ext uri="{FF2B5EF4-FFF2-40B4-BE49-F238E27FC236}">
                <a16:creationId xmlns:a16="http://schemas.microsoft.com/office/drawing/2014/main" id="{57F1A531-E1B4-F14F-8CC9-337FDAFCF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2751138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48160B7-804E-9C44-B84D-AC0C3C500732}"/>
              </a:ext>
            </a:extLst>
          </p:cNvPr>
          <p:cNvSpPr>
            <a:spLocks/>
          </p:cNvSpPr>
          <p:nvPr/>
        </p:nvSpPr>
        <p:spPr bwMode="auto">
          <a:xfrm>
            <a:off x="304800" y="3227388"/>
            <a:ext cx="3200400" cy="286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2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1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4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9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i</a:t>
            </a:r>
            <a:r>
              <a:rPr lang="en-US" altLang="en-US" sz="2000">
                <a:solidFill>
                  <a:srgbClr val="6C2A5E"/>
                </a:solidFill>
              </a:rPr>
              <a:t> right over here</a:t>
            </a:r>
          </a:p>
        </p:txBody>
      </p:sp>
      <p:cxnSp>
        <p:nvCxnSpPr>
          <p:cNvPr id="8" name="Straight Arrow Connector 16">
            <a:extLst>
              <a:ext uri="{FF2B5EF4-FFF2-40B4-BE49-F238E27FC236}">
                <a16:creationId xmlns:a16="http://schemas.microsoft.com/office/drawing/2014/main" id="{FC2CB60F-521A-D943-B88B-8556F9BB8F6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40823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 Box 31">
            <a:extLst>
              <a:ext uri="{FF2B5EF4-FFF2-40B4-BE49-F238E27FC236}">
                <a16:creationId xmlns:a16="http://schemas.microsoft.com/office/drawing/2014/main" id="{B68812B4-7F82-9D47-BD2C-EDEAEF95F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2724150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cxnSp>
        <p:nvCxnSpPr>
          <p:cNvPr id="10" name="Straight Arrow Connector 16">
            <a:extLst>
              <a:ext uri="{FF2B5EF4-FFF2-40B4-BE49-F238E27FC236}">
                <a16:creationId xmlns:a16="http://schemas.microsoft.com/office/drawing/2014/main" id="{46BAD8D5-930B-EF44-B240-E4527800F3F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900738" y="243046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 Box 33">
            <a:extLst>
              <a:ext uri="{FF2B5EF4-FFF2-40B4-BE49-F238E27FC236}">
                <a16:creationId xmlns:a16="http://schemas.microsoft.com/office/drawing/2014/main" id="{0AB69D47-FA54-0149-80D9-6D4250BCD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75" y="274637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2" name="Freeform 184">
            <a:extLst>
              <a:ext uri="{FF2B5EF4-FFF2-40B4-BE49-F238E27FC236}">
                <a16:creationId xmlns:a16="http://schemas.microsoft.com/office/drawing/2014/main" id="{C796F63D-0F03-0948-A4E5-C6B5467916D0}"/>
              </a:ext>
            </a:extLst>
          </p:cNvPr>
          <p:cNvSpPr>
            <a:spLocks/>
          </p:cNvSpPr>
          <p:nvPr/>
        </p:nvSpPr>
        <p:spPr bwMode="auto">
          <a:xfrm flipV="1">
            <a:off x="2819400" y="1654175"/>
            <a:ext cx="21336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cxnSp>
        <p:nvCxnSpPr>
          <p:cNvPr id="13" name="Straight Arrow Connector 16">
            <a:extLst>
              <a:ext uri="{FF2B5EF4-FFF2-40B4-BE49-F238E27FC236}">
                <a16:creationId xmlns:a16="http://schemas.microsoft.com/office/drawing/2014/main" id="{03414F19-BC69-1843-8BEB-77FEB1A6750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190625" y="2420938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Text Box 36">
            <a:extLst>
              <a:ext uri="{FF2B5EF4-FFF2-40B4-BE49-F238E27FC236}">
                <a16:creationId xmlns:a16="http://schemas.microsoft.com/office/drawing/2014/main" id="{69D50BF2-2FD9-F042-997C-A9607E210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263" y="273685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15" name="Straight Arrow Connector 16">
            <a:extLst>
              <a:ext uri="{FF2B5EF4-FFF2-40B4-BE49-F238E27FC236}">
                <a16:creationId xmlns:a16="http://schemas.microsoft.com/office/drawing/2014/main" id="{42676355-D657-DD4E-A09A-39FD144C6EF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985963" y="24368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 Box 38">
            <a:extLst>
              <a:ext uri="{FF2B5EF4-FFF2-40B4-BE49-F238E27FC236}">
                <a16:creationId xmlns:a16="http://schemas.microsoft.com/office/drawing/2014/main" id="{5B27E6EE-D98C-3442-9429-D687F31C6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9600" y="27527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9F52AD6-19CA-CC47-AD6D-B13B1AE8D5C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95575" y="2435225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Text Box 40">
            <a:extLst>
              <a:ext uri="{FF2B5EF4-FFF2-40B4-BE49-F238E27FC236}">
                <a16:creationId xmlns:a16="http://schemas.microsoft.com/office/drawing/2014/main" id="{B8C5559F-C8C7-F948-A0E8-EB5B61D6D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9213" y="2751138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D4895464-1455-6D46-BD45-2200D8191E83}"/>
              </a:ext>
            </a:extLst>
          </p:cNvPr>
          <p:cNvSpPr>
            <a:spLocks/>
          </p:cNvSpPr>
          <p:nvPr/>
        </p:nvSpPr>
        <p:spPr bwMode="auto">
          <a:xfrm>
            <a:off x="4419600" y="3227388"/>
            <a:ext cx="3276600" cy="217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8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Left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5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j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rgbClr val="6C2A5E"/>
                </a:solidFill>
              </a:rPr>
              <a:t>right over here</a:t>
            </a:r>
          </a:p>
        </p:txBody>
      </p:sp>
      <p:cxnSp>
        <p:nvCxnSpPr>
          <p:cNvPr id="20" name="Straight Arrow Connector 16">
            <a:extLst>
              <a:ext uri="{FF2B5EF4-FFF2-40B4-BE49-F238E27FC236}">
                <a16:creationId xmlns:a16="http://schemas.microsoft.com/office/drawing/2014/main" id="{68DEC9EB-1FE2-C44E-958B-159CF26ADFC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135563" y="242093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Text Box 43">
            <a:extLst>
              <a:ext uri="{FF2B5EF4-FFF2-40B4-BE49-F238E27FC236}">
                <a16:creationId xmlns:a16="http://schemas.microsoft.com/office/drawing/2014/main" id="{25822394-4234-4942-8A5E-350FACE2D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73685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23" name="Slide Number Placeholder 21">
            <a:extLst>
              <a:ext uri="{FF2B5EF4-FFF2-40B4-BE49-F238E27FC236}">
                <a16:creationId xmlns:a16="http://schemas.microsoft.com/office/drawing/2014/main" id="{9B3C6D78-A5A5-2240-85E5-A6AAE7BDD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627813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0D9BF3C-0512-7E41-ADA9-43E98176258A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62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4" grpId="1"/>
      <p:bldP spid="16" grpId="0"/>
      <p:bldP spid="16" grpId="1"/>
      <p:bldP spid="18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C9DD49-595C-294A-9F4E-B8915B081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FE3B12-CEB3-0E49-B631-85EEF75521AD}"/>
              </a:ext>
            </a:extLst>
          </p:cNvPr>
          <p:cNvSpPr txBox="1">
            <a:spLocks/>
          </p:cNvSpPr>
          <p:nvPr/>
        </p:nvSpPr>
        <p:spPr bwMode="auto">
          <a:xfrm>
            <a:off x="457200" y="381000"/>
            <a:ext cx="7239000" cy="838200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>
                <a:latin typeface="Trebuchet MS" pitchFamily="34" charset="0"/>
              </a:rPr>
              <a:t>QuickSort :Partitioning strategy </a:t>
            </a:r>
            <a:br>
              <a:rPr lang="en-US" sz="3400">
                <a:latin typeface="Trebuchet MS" pitchFamily="34" charset="0"/>
              </a:rPr>
            </a:br>
            <a:r>
              <a:rPr lang="en-US" sz="3400">
                <a:latin typeface="Trebuchet MS" pitchFamily="34" charset="0"/>
              </a:rPr>
              <a:t> Step 2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563A021B-B5E9-0D40-9F9E-9B46B6C77056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Arrow Connector 16">
            <a:extLst>
              <a:ext uri="{FF2B5EF4-FFF2-40B4-BE49-F238E27FC236}">
                <a16:creationId xmlns:a16="http://schemas.microsoft.com/office/drawing/2014/main" id="{8AC6D1DF-47AA-0D4B-835B-048ECFBE0F7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3352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 Box 31">
            <a:extLst>
              <a:ext uri="{FF2B5EF4-FFF2-40B4-BE49-F238E27FC236}">
                <a16:creationId xmlns:a16="http://schemas.microsoft.com/office/drawing/2014/main" id="{E9F2B6EC-5CCF-094F-8ABC-43AED28C6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cxnSp>
        <p:nvCxnSpPr>
          <p:cNvPr id="7" name="Straight Arrow Connector 16">
            <a:extLst>
              <a:ext uri="{FF2B5EF4-FFF2-40B4-BE49-F238E27FC236}">
                <a16:creationId xmlns:a16="http://schemas.microsoft.com/office/drawing/2014/main" id="{CC8749B6-6130-D946-AF4E-5C36F037931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95575" y="23622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xt Box 40">
            <a:extLst>
              <a:ext uri="{FF2B5EF4-FFF2-40B4-BE49-F238E27FC236}">
                <a16:creationId xmlns:a16="http://schemas.microsoft.com/office/drawing/2014/main" id="{FBC2A3DD-DED5-574C-BD33-AC1C715D0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9213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9" name="Straight Arrow Connector 16">
            <a:extLst>
              <a:ext uri="{FF2B5EF4-FFF2-40B4-BE49-F238E27FC236}">
                <a16:creationId xmlns:a16="http://schemas.microsoft.com/office/drawing/2014/main" id="{0580C777-E4A9-1845-8566-22488CB39C5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135563" y="23479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Text Box 43">
            <a:extLst>
              <a:ext uri="{FF2B5EF4-FFF2-40B4-BE49-F238E27FC236}">
                <a16:creationId xmlns:a16="http://schemas.microsoft.com/office/drawing/2014/main" id="{62B6AEEC-47FA-114A-ADC3-435C4D260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6638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1" name="Freeform 184">
            <a:extLst>
              <a:ext uri="{FF2B5EF4-FFF2-40B4-BE49-F238E27FC236}">
                <a16:creationId xmlns:a16="http://schemas.microsoft.com/office/drawing/2014/main" id="{5E64D68C-D7ED-A149-990F-5A2A8F712C2C}"/>
              </a:ext>
            </a:extLst>
          </p:cNvPr>
          <p:cNvSpPr>
            <a:spLocks/>
          </p:cNvSpPr>
          <p:nvPr/>
        </p:nvSpPr>
        <p:spPr bwMode="auto">
          <a:xfrm flipV="1">
            <a:off x="2819400" y="1581150"/>
            <a:ext cx="21336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24F5771-117A-8C44-8721-1BCC2905817A}"/>
              </a:ext>
            </a:extLst>
          </p:cNvPr>
          <p:cNvSpPr>
            <a:spLocks/>
          </p:cNvSpPr>
          <p:nvPr/>
        </p:nvSpPr>
        <p:spPr bwMode="auto">
          <a:xfrm>
            <a:off x="304800" y="3154363"/>
            <a:ext cx="3200400" cy="286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2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1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4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9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i</a:t>
            </a:r>
            <a:r>
              <a:rPr lang="en-US" altLang="en-US" sz="2000">
                <a:solidFill>
                  <a:srgbClr val="6C2A5E"/>
                </a:solidFill>
              </a:rPr>
              <a:t> right over here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BE06399-BF04-324F-827C-F6D24F971BB2}"/>
              </a:ext>
            </a:extLst>
          </p:cNvPr>
          <p:cNvSpPr>
            <a:spLocks/>
          </p:cNvSpPr>
          <p:nvPr/>
        </p:nvSpPr>
        <p:spPr bwMode="auto">
          <a:xfrm>
            <a:off x="4419600" y="3154363"/>
            <a:ext cx="3276600" cy="217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8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Left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5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j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rgbClr val="6C2A5E"/>
                </a:solidFill>
              </a:rPr>
              <a:t>right over here</a:t>
            </a:r>
          </a:p>
          <a:p>
            <a:pPr>
              <a:lnSpc>
                <a:spcPct val="90000"/>
              </a:lnSpc>
            </a:pPr>
            <a:endParaRPr lang="en-US" altLang="en-US" sz="2000">
              <a:solidFill>
                <a:srgbClr val="0000CC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0000"/>
                </a:solidFill>
              </a:rPr>
              <a:t>Swap </a:t>
            </a:r>
            <a:r>
              <a:rPr lang="en-US" altLang="en-US" sz="2400" i="1">
                <a:solidFill>
                  <a:srgbClr val="FF0000"/>
                </a:solidFill>
              </a:rPr>
              <a:t>A</a:t>
            </a:r>
            <a:r>
              <a:rPr lang="en-US" altLang="en-US" sz="2400">
                <a:solidFill>
                  <a:srgbClr val="FF0000"/>
                </a:solidFill>
              </a:rPr>
              <a:t>[</a:t>
            </a:r>
            <a:r>
              <a:rPr lang="en-US" altLang="en-US" sz="2400" i="1">
                <a:solidFill>
                  <a:srgbClr val="FF0000"/>
                </a:solidFill>
              </a:rPr>
              <a:t>i</a:t>
            </a:r>
            <a:r>
              <a:rPr lang="en-US" altLang="en-US" sz="2400">
                <a:solidFill>
                  <a:srgbClr val="FF0000"/>
                </a:solidFill>
              </a:rPr>
              <a:t>] and </a:t>
            </a:r>
            <a:r>
              <a:rPr lang="en-US" altLang="en-US" sz="2400" i="1">
                <a:solidFill>
                  <a:srgbClr val="FF0000"/>
                </a:solidFill>
              </a:rPr>
              <a:t>A</a:t>
            </a:r>
            <a:r>
              <a:rPr lang="en-US" altLang="en-US" sz="2400">
                <a:solidFill>
                  <a:srgbClr val="FF0000"/>
                </a:solidFill>
              </a:rPr>
              <a:t>[</a:t>
            </a:r>
            <a:r>
              <a:rPr lang="en-US" altLang="en-US" sz="2400" i="1">
                <a:solidFill>
                  <a:srgbClr val="FF0000"/>
                </a:solidFill>
              </a:rPr>
              <a:t>j</a:t>
            </a:r>
            <a:r>
              <a:rPr lang="en-US" altLang="en-US" sz="2400">
                <a:solidFill>
                  <a:srgbClr val="FF0000"/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07968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851EE7-9DCE-5F47-A330-BCEFDCDB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E4396B-C307-3A4A-A3B2-255D06DE5F48}"/>
              </a:ext>
            </a:extLst>
          </p:cNvPr>
          <p:cNvSpPr txBox="1">
            <a:spLocks/>
          </p:cNvSpPr>
          <p:nvPr/>
        </p:nvSpPr>
        <p:spPr bwMode="auto">
          <a:xfrm>
            <a:off x="457200" y="381000"/>
            <a:ext cx="7239000" cy="838200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>
                <a:latin typeface="Trebuchet MS" pitchFamily="34" charset="0"/>
              </a:rPr>
              <a:t>QuickSort :Partitioning strategy </a:t>
            </a:r>
            <a:br>
              <a:rPr lang="en-US" sz="3400">
                <a:latin typeface="Trebuchet MS" pitchFamily="34" charset="0"/>
              </a:rPr>
            </a:br>
            <a:r>
              <a:rPr lang="en-US" sz="3400">
                <a:latin typeface="Trebuchet MS" pitchFamily="34" charset="0"/>
              </a:rPr>
              <a:t> Step 3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4525A80B-897B-CE44-875D-8E7EA08C8B45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4A0886D1-7708-374E-932B-962B3F5A4E18}"/>
              </a:ext>
            </a:extLst>
          </p:cNvPr>
          <p:cNvSpPr>
            <a:spLocks/>
          </p:cNvSpPr>
          <p:nvPr/>
        </p:nvSpPr>
        <p:spPr bwMode="auto">
          <a:xfrm>
            <a:off x="304800" y="3154363"/>
            <a:ext cx="3276600" cy="294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5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0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3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9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i</a:t>
            </a:r>
            <a:r>
              <a:rPr lang="en-US" altLang="en-US" sz="2000">
                <a:solidFill>
                  <a:srgbClr val="6C2A5E"/>
                </a:solidFill>
              </a:rPr>
              <a:t> right over here</a:t>
            </a:r>
          </a:p>
        </p:txBody>
      </p:sp>
      <p:cxnSp>
        <p:nvCxnSpPr>
          <p:cNvPr id="6" name="Straight Arrow Connector 16">
            <a:extLst>
              <a:ext uri="{FF2B5EF4-FFF2-40B4-BE49-F238E27FC236}">
                <a16:creationId xmlns:a16="http://schemas.microsoft.com/office/drawing/2014/main" id="{5A043BF5-5A15-CD4F-A059-F77517BA3F0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3352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Text Box 29">
            <a:extLst>
              <a:ext uri="{FF2B5EF4-FFF2-40B4-BE49-F238E27FC236}">
                <a16:creationId xmlns:a16="http://schemas.microsoft.com/office/drawing/2014/main" id="{EFADBCA8-6CDE-0E45-92AF-BDD53755C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cxnSp>
        <p:nvCxnSpPr>
          <p:cNvPr id="8" name="Straight Arrow Connector 16">
            <a:extLst>
              <a:ext uri="{FF2B5EF4-FFF2-40B4-BE49-F238E27FC236}">
                <a16:creationId xmlns:a16="http://schemas.microsoft.com/office/drawing/2014/main" id="{656DF037-9176-CF44-84C2-EE45953D6CA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95575" y="23622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 Box 31">
            <a:extLst>
              <a:ext uri="{FF2B5EF4-FFF2-40B4-BE49-F238E27FC236}">
                <a16:creationId xmlns:a16="http://schemas.microsoft.com/office/drawing/2014/main" id="{5EB95FB1-7D63-134F-8424-D11B05517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9213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10" name="Straight Arrow Connector 16">
            <a:extLst>
              <a:ext uri="{FF2B5EF4-FFF2-40B4-BE49-F238E27FC236}">
                <a16:creationId xmlns:a16="http://schemas.microsoft.com/office/drawing/2014/main" id="{0320F055-889F-1149-AE5B-092FA91FA00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135563" y="23479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 Box 34">
            <a:extLst>
              <a:ext uri="{FF2B5EF4-FFF2-40B4-BE49-F238E27FC236}">
                <a16:creationId xmlns:a16="http://schemas.microsoft.com/office/drawing/2014/main" id="{54EE28C6-9B12-D741-B347-98A9F8574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6638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2" name="Freeform 184">
            <a:extLst>
              <a:ext uri="{FF2B5EF4-FFF2-40B4-BE49-F238E27FC236}">
                <a16:creationId xmlns:a16="http://schemas.microsoft.com/office/drawing/2014/main" id="{3AB0E317-98E5-8449-9EB1-69E6E0952EE2}"/>
              </a:ext>
            </a:extLst>
          </p:cNvPr>
          <p:cNvSpPr>
            <a:spLocks/>
          </p:cNvSpPr>
          <p:nvPr/>
        </p:nvSpPr>
        <p:spPr bwMode="auto">
          <a:xfrm flipV="1">
            <a:off x="2819400" y="1581150"/>
            <a:ext cx="21336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cxnSp>
        <p:nvCxnSpPr>
          <p:cNvPr id="13" name="Straight Arrow Connector 16">
            <a:extLst>
              <a:ext uri="{FF2B5EF4-FFF2-40B4-BE49-F238E27FC236}">
                <a16:creationId xmlns:a16="http://schemas.microsoft.com/office/drawing/2014/main" id="{0856D831-4C75-7E48-A022-AA7EF95CE6F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524250" y="2357438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Text Box 37">
            <a:extLst>
              <a:ext uri="{FF2B5EF4-FFF2-40B4-BE49-F238E27FC236}">
                <a16:creationId xmlns:a16="http://schemas.microsoft.com/office/drawing/2014/main" id="{12312F05-AA59-6240-A798-F5C5D14C9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7888" y="267335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15" name="Straight Arrow Connector 16">
            <a:extLst>
              <a:ext uri="{FF2B5EF4-FFF2-40B4-BE49-F238E27FC236}">
                <a16:creationId xmlns:a16="http://schemas.microsoft.com/office/drawing/2014/main" id="{AEEF3259-8F91-8B4F-99A6-2926AFF66ED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286250" y="2357438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 Box 39">
            <a:extLst>
              <a:ext uri="{FF2B5EF4-FFF2-40B4-BE49-F238E27FC236}">
                <a16:creationId xmlns:a16="http://schemas.microsoft.com/office/drawing/2014/main" id="{6EC0F115-B66B-9541-9858-3DBE4888C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267335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68C401-09C0-2D48-9FC8-E27D916ECA5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1496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Text Box 41">
            <a:extLst>
              <a:ext uri="{FF2B5EF4-FFF2-40B4-BE49-F238E27FC236}">
                <a16:creationId xmlns:a16="http://schemas.microsoft.com/office/drawing/2014/main" id="{5E618E26-F642-C340-BA28-7EF030658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600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20" name="Slide Number Placeholder 18">
            <a:extLst>
              <a:ext uri="{FF2B5EF4-FFF2-40B4-BE49-F238E27FC236}">
                <a16:creationId xmlns:a16="http://schemas.microsoft.com/office/drawing/2014/main" id="{696B6D6D-537A-9D41-97D7-66C23F91B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5D02BB8-760A-1D4A-AD83-9B598A4AF0E9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798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4" grpId="1"/>
      <p:bldP spid="16" grpId="0"/>
      <p:bldP spid="16" grpId="1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55A77D-5A08-BE43-9693-6AAF363C0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AC3016-9D88-8C4B-8DB0-B10BF7452084}"/>
              </a:ext>
            </a:extLst>
          </p:cNvPr>
          <p:cNvSpPr txBox="1">
            <a:spLocks/>
          </p:cNvSpPr>
          <p:nvPr/>
        </p:nvSpPr>
        <p:spPr bwMode="auto">
          <a:xfrm>
            <a:off x="457200" y="381000"/>
            <a:ext cx="7239000" cy="838200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>
                <a:latin typeface="Trebuchet MS" pitchFamily="34" charset="0"/>
              </a:rPr>
              <a:t>QuickSort :Partitioning strategy </a:t>
            </a:r>
            <a:br>
              <a:rPr lang="en-US" sz="3400">
                <a:latin typeface="Trebuchet MS" pitchFamily="34" charset="0"/>
              </a:rPr>
            </a:br>
            <a:r>
              <a:rPr lang="en-US" sz="3400">
                <a:latin typeface="Trebuchet MS" pitchFamily="34" charset="0"/>
              </a:rPr>
              <a:t> Step 3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731CF710-B205-BC4D-AE51-82C839A48E0C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Arrow Connector 16">
            <a:extLst>
              <a:ext uri="{FF2B5EF4-FFF2-40B4-BE49-F238E27FC236}">
                <a16:creationId xmlns:a16="http://schemas.microsoft.com/office/drawing/2014/main" id="{7DC23015-E469-9849-AD03-3227CDBFAD5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3352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 Box 29">
            <a:extLst>
              <a:ext uri="{FF2B5EF4-FFF2-40B4-BE49-F238E27FC236}">
                <a16:creationId xmlns:a16="http://schemas.microsoft.com/office/drawing/2014/main" id="{B67E5C5B-ABA0-204F-9F34-2030369A9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537CCC3-DA01-A14E-80EF-4131A3538246}"/>
              </a:ext>
            </a:extLst>
          </p:cNvPr>
          <p:cNvSpPr>
            <a:spLocks/>
          </p:cNvSpPr>
          <p:nvPr/>
        </p:nvSpPr>
        <p:spPr bwMode="auto">
          <a:xfrm>
            <a:off x="4114800" y="3154363"/>
            <a:ext cx="3886200" cy="294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9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Left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3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j</a:t>
            </a:r>
            <a:r>
              <a:rPr lang="en-US" altLang="en-US" sz="2000">
                <a:solidFill>
                  <a:srgbClr val="6C2A5E"/>
                </a:solidFill>
              </a:rPr>
              <a:t> right over here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 and 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 have crossed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So no swap for</a:t>
            </a:r>
            <a:r>
              <a:rPr lang="en-US" altLang="en-US" sz="2000">
                <a:solidFill>
                  <a:srgbClr val="0000CC"/>
                </a:solidFill>
              </a:rPr>
              <a:t> </a:t>
            </a:r>
            <a:r>
              <a:rPr lang="en-US" altLang="en-US" sz="2000" i="1">
                <a:solidFill>
                  <a:srgbClr val="0000CC"/>
                </a:solidFill>
              </a:rPr>
              <a:t>A</a:t>
            </a:r>
            <a:r>
              <a:rPr lang="en-US" altLang="en-US" sz="2000">
                <a:solidFill>
                  <a:srgbClr val="0000CC"/>
                </a:solidFill>
              </a:rPr>
              <a:t>[</a:t>
            </a:r>
            <a:r>
              <a:rPr lang="en-US" altLang="en-US" sz="2000" i="1">
                <a:solidFill>
                  <a:srgbClr val="0000CC"/>
                </a:solidFill>
              </a:rPr>
              <a:t>i</a:t>
            </a:r>
            <a:r>
              <a:rPr lang="en-US" altLang="en-US" sz="2000">
                <a:solidFill>
                  <a:srgbClr val="0000CC"/>
                </a:solidFill>
              </a:rPr>
              <a:t>] </a:t>
            </a:r>
            <a:r>
              <a:rPr lang="en-US" altLang="en-US" sz="2000">
                <a:solidFill>
                  <a:srgbClr val="6C2A5E"/>
                </a:solidFill>
              </a:rPr>
              <a:t>and </a:t>
            </a:r>
            <a:r>
              <a:rPr lang="en-US" altLang="en-US" sz="2000" i="1">
                <a:solidFill>
                  <a:srgbClr val="0000CC"/>
                </a:solidFill>
              </a:rPr>
              <a:t>A</a:t>
            </a:r>
            <a:r>
              <a:rPr lang="en-US" altLang="en-US" sz="2000">
                <a:solidFill>
                  <a:srgbClr val="0000CC"/>
                </a:solidFill>
              </a:rPr>
              <a:t>[</a:t>
            </a:r>
            <a:r>
              <a:rPr lang="en-US" altLang="en-US" sz="2000" i="1">
                <a:solidFill>
                  <a:srgbClr val="0000CC"/>
                </a:solidFill>
              </a:rPr>
              <a:t>j</a:t>
            </a:r>
            <a:r>
              <a:rPr lang="en-US" altLang="en-US" sz="2000">
                <a:solidFill>
                  <a:srgbClr val="0000CC"/>
                </a:solidFill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altLang="en-US" sz="2000">
                <a:solidFill>
                  <a:srgbClr val="0000CC"/>
                </a:solidFill>
              </a:rPr>
              <a:t>Instead</a:t>
            </a:r>
            <a:r>
              <a:rPr lang="en-US" altLang="en-US" sz="2000">
                <a:solidFill>
                  <a:srgbClr val="FF0000"/>
                </a:solidFill>
              </a:rPr>
              <a:t> Swap </a:t>
            </a:r>
            <a:r>
              <a:rPr lang="en-US" altLang="en-US" sz="2000" i="1">
                <a:solidFill>
                  <a:srgbClr val="FF0000"/>
                </a:solidFill>
              </a:rPr>
              <a:t>A</a:t>
            </a:r>
            <a:r>
              <a:rPr lang="en-US" altLang="en-US" sz="2000">
                <a:solidFill>
                  <a:srgbClr val="FF0000"/>
                </a:solidFill>
              </a:rPr>
              <a:t>[</a:t>
            </a:r>
            <a:r>
              <a:rPr lang="en-US" altLang="en-US" sz="2000" i="1">
                <a:solidFill>
                  <a:srgbClr val="FF0000"/>
                </a:solidFill>
              </a:rPr>
              <a:t>i</a:t>
            </a:r>
            <a:r>
              <a:rPr lang="en-US" altLang="en-US" sz="2000">
                <a:solidFill>
                  <a:srgbClr val="FF0000"/>
                </a:solidFill>
              </a:rPr>
              <a:t>] and </a:t>
            </a:r>
            <a:r>
              <a:rPr lang="en-US" altLang="en-US" sz="2000" i="1">
                <a:solidFill>
                  <a:srgbClr val="FF0000"/>
                </a:solidFill>
              </a:rPr>
              <a:t>A</a:t>
            </a:r>
            <a:r>
              <a:rPr lang="en-US" altLang="en-US" sz="2000">
                <a:solidFill>
                  <a:srgbClr val="FF0000"/>
                </a:solidFill>
              </a:rPr>
              <a:t>[</a:t>
            </a:r>
            <a:r>
              <a:rPr lang="en-US" altLang="en-US" sz="2000" i="1">
                <a:solidFill>
                  <a:srgbClr val="FF0000"/>
                </a:solidFill>
              </a:rPr>
              <a:t>pivot</a:t>
            </a:r>
            <a:r>
              <a:rPr lang="en-US" altLang="en-US" sz="2000">
                <a:solidFill>
                  <a:srgbClr val="FF0000"/>
                </a:solidFill>
              </a:rPr>
              <a:t>]</a:t>
            </a:r>
          </a:p>
        </p:txBody>
      </p:sp>
      <p:cxnSp>
        <p:nvCxnSpPr>
          <p:cNvPr id="8" name="Straight Arrow Connector 16">
            <a:extLst>
              <a:ext uri="{FF2B5EF4-FFF2-40B4-BE49-F238E27FC236}">
                <a16:creationId xmlns:a16="http://schemas.microsoft.com/office/drawing/2014/main" id="{C5D7E207-67B8-4B42-8AA4-6DCCCA86BFA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135563" y="2333625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 Box 34">
            <a:extLst>
              <a:ext uri="{FF2B5EF4-FFF2-40B4-BE49-F238E27FC236}">
                <a16:creationId xmlns:a16="http://schemas.microsoft.com/office/drawing/2014/main" id="{FF80F786-7799-D348-8753-F413E4ACF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649538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0" name="Freeform 184">
            <a:extLst>
              <a:ext uri="{FF2B5EF4-FFF2-40B4-BE49-F238E27FC236}">
                <a16:creationId xmlns:a16="http://schemas.microsoft.com/office/drawing/2014/main" id="{73BADC42-31A4-2446-BCA5-50612F69D835}"/>
              </a:ext>
            </a:extLst>
          </p:cNvPr>
          <p:cNvSpPr>
            <a:spLocks/>
          </p:cNvSpPr>
          <p:nvPr/>
        </p:nvSpPr>
        <p:spPr bwMode="auto">
          <a:xfrm flipH="1" flipV="1">
            <a:off x="4953000" y="1581150"/>
            <a:ext cx="24384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cxnSp>
        <p:nvCxnSpPr>
          <p:cNvPr id="11" name="Straight Arrow Connector 16">
            <a:extLst>
              <a:ext uri="{FF2B5EF4-FFF2-40B4-BE49-F238E27FC236}">
                <a16:creationId xmlns:a16="http://schemas.microsoft.com/office/drawing/2014/main" id="{73BCB3C9-A88B-2344-B0DC-8C159935372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264025" y="232886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Text Box 43">
            <a:extLst>
              <a:ext uri="{FF2B5EF4-FFF2-40B4-BE49-F238E27FC236}">
                <a16:creationId xmlns:a16="http://schemas.microsoft.com/office/drawing/2014/main" id="{2A0F2F5D-8B96-5448-8C15-2D149D837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663" y="264477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cxnSp>
        <p:nvCxnSpPr>
          <p:cNvPr id="13" name="Straight Arrow Connector 16">
            <a:extLst>
              <a:ext uri="{FF2B5EF4-FFF2-40B4-BE49-F238E27FC236}">
                <a16:creationId xmlns:a16="http://schemas.microsoft.com/office/drawing/2014/main" id="{FB0B412A-1707-E346-8EFF-EF046265B6D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1496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Text Box 45">
            <a:extLst>
              <a:ext uri="{FF2B5EF4-FFF2-40B4-BE49-F238E27FC236}">
                <a16:creationId xmlns:a16="http://schemas.microsoft.com/office/drawing/2014/main" id="{0CE68D0A-6A3D-D248-9307-60AB362FB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600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6E3908A-F19F-DA4D-8978-A09239933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B02A5D-DBDB-9A40-8B5C-440E0E70DC17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192D9852-31BC-9443-88C8-23E008789986}"/>
              </a:ext>
            </a:extLst>
          </p:cNvPr>
          <p:cNvSpPr>
            <a:spLocks/>
          </p:cNvSpPr>
          <p:nvPr/>
        </p:nvSpPr>
        <p:spPr bwMode="auto">
          <a:xfrm>
            <a:off x="304800" y="3154363"/>
            <a:ext cx="3276600" cy="294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5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0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3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9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6C2A5E"/>
                </a:solidFill>
              </a:rPr>
              <a:t>i</a:t>
            </a:r>
            <a:r>
              <a:rPr lang="en-US" altLang="en-US" sz="2000">
                <a:solidFill>
                  <a:srgbClr val="6C2A5E"/>
                </a:solidFill>
              </a:rPr>
              <a:t> right over here</a:t>
            </a:r>
          </a:p>
        </p:txBody>
      </p:sp>
    </p:spTree>
    <p:extLst>
      <p:ext uri="{BB962C8B-B14F-4D97-AF65-F5344CB8AC3E}">
        <p14:creationId xmlns:p14="http://schemas.microsoft.com/office/powerpoint/2010/main" val="58102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3ACFC1-7AE1-4143-8745-649AEC9E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AFAEA8-43D1-7449-AE49-4625BC04FC0F}"/>
              </a:ext>
            </a:extLst>
          </p:cNvPr>
          <p:cNvSpPr txBox="1">
            <a:spLocks/>
          </p:cNvSpPr>
          <p:nvPr/>
        </p:nvSpPr>
        <p:spPr bwMode="auto">
          <a:xfrm>
            <a:off x="457200" y="381000"/>
            <a:ext cx="7239000" cy="838200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>
                <a:latin typeface="Trebuchet MS" pitchFamily="34" charset="0"/>
              </a:rPr>
              <a:t>QuickSort :Partitioning strategy </a:t>
            </a:r>
            <a:br>
              <a:rPr lang="en-US" sz="3400">
                <a:latin typeface="Trebuchet MS" pitchFamily="34" charset="0"/>
              </a:rPr>
            </a:br>
            <a:r>
              <a:rPr lang="en-US" sz="3400">
                <a:latin typeface="Trebuchet MS" pitchFamily="34" charset="0"/>
              </a:rPr>
              <a:t> Step 3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4AFA1260-25F3-724E-9A80-DF2407ED8E20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Arrow Connector 16">
            <a:extLst>
              <a:ext uri="{FF2B5EF4-FFF2-40B4-BE49-F238E27FC236}">
                <a16:creationId xmlns:a16="http://schemas.microsoft.com/office/drawing/2014/main" id="{6E418569-5B69-0F4A-8171-4281CA9A1F8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3352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Freeform 184">
            <a:extLst>
              <a:ext uri="{FF2B5EF4-FFF2-40B4-BE49-F238E27FC236}">
                <a16:creationId xmlns:a16="http://schemas.microsoft.com/office/drawing/2014/main" id="{0ABA4A68-70A7-EB4A-94EA-C78F81D1BDBE}"/>
              </a:ext>
            </a:extLst>
          </p:cNvPr>
          <p:cNvSpPr>
            <a:spLocks/>
          </p:cNvSpPr>
          <p:nvPr/>
        </p:nvSpPr>
        <p:spPr bwMode="auto">
          <a:xfrm flipH="1" flipV="1">
            <a:off x="4953000" y="1581150"/>
            <a:ext cx="24384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cxnSp>
        <p:nvCxnSpPr>
          <p:cNvPr id="7" name="Straight Arrow Connector 16">
            <a:extLst>
              <a:ext uri="{FF2B5EF4-FFF2-40B4-BE49-F238E27FC236}">
                <a16:creationId xmlns:a16="http://schemas.microsoft.com/office/drawing/2014/main" id="{583E5CCA-1D9B-BB4D-83D4-E7035382D4C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264025" y="232886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xt Box 35">
            <a:extLst>
              <a:ext uri="{FF2B5EF4-FFF2-40B4-BE49-F238E27FC236}">
                <a16:creationId xmlns:a16="http://schemas.microsoft.com/office/drawing/2014/main" id="{FC707FEE-1119-1C43-B9B3-C0873C3B6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663" y="264477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cxnSp>
        <p:nvCxnSpPr>
          <p:cNvPr id="9" name="Straight Arrow Connector 16">
            <a:extLst>
              <a:ext uri="{FF2B5EF4-FFF2-40B4-BE49-F238E27FC236}">
                <a16:creationId xmlns:a16="http://schemas.microsoft.com/office/drawing/2014/main" id="{D24CF250-E4CD-CB41-8907-737566200A8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41950" y="2308225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8CCC2D49-0C50-1D4B-A4EE-8045497DD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3B73E15-3738-7F42-8B7A-999B5C1C6559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744232A-5096-C842-8A4B-15BC2ED33FD8}"/>
              </a:ext>
            </a:extLst>
          </p:cNvPr>
          <p:cNvSpPr>
            <a:spLocks/>
          </p:cNvSpPr>
          <p:nvPr/>
        </p:nvSpPr>
        <p:spPr bwMode="auto">
          <a:xfrm>
            <a:off x="304800" y="3154363"/>
            <a:ext cx="3276600" cy="294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5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0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3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9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6C2A5E"/>
                </a:solidFill>
              </a:rPr>
              <a:t>i</a:t>
            </a:r>
            <a:r>
              <a:rPr lang="en-US" altLang="en-US" sz="2000">
                <a:solidFill>
                  <a:srgbClr val="6C2A5E"/>
                </a:solidFill>
              </a:rPr>
              <a:t> right over here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182996E-8693-AC43-925D-DBE21F51F616}"/>
              </a:ext>
            </a:extLst>
          </p:cNvPr>
          <p:cNvSpPr>
            <a:spLocks/>
          </p:cNvSpPr>
          <p:nvPr/>
        </p:nvSpPr>
        <p:spPr bwMode="auto">
          <a:xfrm>
            <a:off x="4114800" y="3154363"/>
            <a:ext cx="3886200" cy="294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9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Left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3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j</a:t>
            </a:r>
            <a:r>
              <a:rPr lang="en-US" altLang="en-US" sz="2000">
                <a:solidFill>
                  <a:srgbClr val="6C2A5E"/>
                </a:solidFill>
              </a:rPr>
              <a:t> right over here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 and 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 have crossed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So no swap for</a:t>
            </a:r>
            <a:r>
              <a:rPr lang="en-US" altLang="en-US" sz="2000">
                <a:solidFill>
                  <a:srgbClr val="0000CC"/>
                </a:solidFill>
              </a:rPr>
              <a:t> </a:t>
            </a:r>
            <a:r>
              <a:rPr lang="en-US" altLang="en-US" sz="2000" i="1">
                <a:solidFill>
                  <a:srgbClr val="0000CC"/>
                </a:solidFill>
              </a:rPr>
              <a:t>A</a:t>
            </a:r>
            <a:r>
              <a:rPr lang="en-US" altLang="en-US" sz="2000">
                <a:solidFill>
                  <a:srgbClr val="0000CC"/>
                </a:solidFill>
              </a:rPr>
              <a:t>[</a:t>
            </a:r>
            <a:r>
              <a:rPr lang="en-US" altLang="en-US" sz="2000" i="1">
                <a:solidFill>
                  <a:srgbClr val="0000CC"/>
                </a:solidFill>
              </a:rPr>
              <a:t>i</a:t>
            </a:r>
            <a:r>
              <a:rPr lang="en-US" altLang="en-US" sz="2000">
                <a:solidFill>
                  <a:srgbClr val="0000CC"/>
                </a:solidFill>
              </a:rPr>
              <a:t>] </a:t>
            </a:r>
            <a:r>
              <a:rPr lang="en-US" altLang="en-US" sz="2000">
                <a:solidFill>
                  <a:srgbClr val="6C2A5E"/>
                </a:solidFill>
              </a:rPr>
              <a:t>and </a:t>
            </a:r>
            <a:r>
              <a:rPr lang="en-US" altLang="en-US" sz="2000" i="1">
                <a:solidFill>
                  <a:srgbClr val="0000CC"/>
                </a:solidFill>
              </a:rPr>
              <a:t>A</a:t>
            </a:r>
            <a:r>
              <a:rPr lang="en-US" altLang="en-US" sz="2000">
                <a:solidFill>
                  <a:srgbClr val="0000CC"/>
                </a:solidFill>
              </a:rPr>
              <a:t>[</a:t>
            </a:r>
            <a:r>
              <a:rPr lang="en-US" altLang="en-US" sz="2000" i="1">
                <a:solidFill>
                  <a:srgbClr val="0000CC"/>
                </a:solidFill>
              </a:rPr>
              <a:t>j</a:t>
            </a:r>
            <a:r>
              <a:rPr lang="en-US" altLang="en-US" sz="2000">
                <a:solidFill>
                  <a:srgbClr val="0000CC"/>
                </a:solidFill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altLang="en-US" sz="2000">
                <a:solidFill>
                  <a:srgbClr val="0000CC"/>
                </a:solidFill>
              </a:rPr>
              <a:t>Instead</a:t>
            </a:r>
            <a:r>
              <a:rPr lang="en-US" altLang="en-US" sz="2000">
                <a:solidFill>
                  <a:srgbClr val="FF0000"/>
                </a:solidFill>
              </a:rPr>
              <a:t> Swap </a:t>
            </a:r>
            <a:r>
              <a:rPr lang="en-US" altLang="en-US" sz="2000" i="1">
                <a:solidFill>
                  <a:srgbClr val="FF0000"/>
                </a:solidFill>
              </a:rPr>
              <a:t>A</a:t>
            </a:r>
            <a:r>
              <a:rPr lang="en-US" altLang="en-US" sz="2000">
                <a:solidFill>
                  <a:srgbClr val="FF0000"/>
                </a:solidFill>
              </a:rPr>
              <a:t>[</a:t>
            </a:r>
            <a:r>
              <a:rPr lang="en-US" altLang="en-US" sz="2000" i="1">
                <a:solidFill>
                  <a:srgbClr val="FF0000"/>
                </a:solidFill>
              </a:rPr>
              <a:t>i</a:t>
            </a:r>
            <a:r>
              <a:rPr lang="en-US" altLang="en-US" sz="2000">
                <a:solidFill>
                  <a:srgbClr val="FF0000"/>
                </a:solidFill>
              </a:rPr>
              <a:t>] and </a:t>
            </a:r>
            <a:r>
              <a:rPr lang="en-US" altLang="en-US" sz="2000" i="1">
                <a:solidFill>
                  <a:srgbClr val="FF0000"/>
                </a:solidFill>
              </a:rPr>
              <a:t>A</a:t>
            </a:r>
            <a:r>
              <a:rPr lang="en-US" altLang="en-US" sz="2000">
                <a:solidFill>
                  <a:srgbClr val="FF0000"/>
                </a:solidFill>
              </a:rPr>
              <a:t>[</a:t>
            </a:r>
            <a:r>
              <a:rPr lang="en-US" altLang="en-US" sz="2000" i="1">
                <a:solidFill>
                  <a:srgbClr val="FF0000"/>
                </a:solidFill>
              </a:rPr>
              <a:t>pivot</a:t>
            </a:r>
            <a:r>
              <a:rPr lang="en-US" altLang="en-US" sz="2000">
                <a:solidFill>
                  <a:srgbClr val="FF0000"/>
                </a:solidFill>
              </a:rPr>
              <a:t>]</a:t>
            </a:r>
          </a:p>
        </p:txBody>
      </p:sp>
      <p:sp>
        <p:nvSpPr>
          <p:cNvPr id="14" name="Text Box 45">
            <a:extLst>
              <a:ext uri="{FF2B5EF4-FFF2-40B4-BE49-F238E27FC236}">
                <a16:creationId xmlns:a16="http://schemas.microsoft.com/office/drawing/2014/main" id="{121E6D6B-4984-AF42-97D7-04AFEA9B8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600" y="259080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5" name="Text Box 29">
            <a:extLst>
              <a:ext uri="{FF2B5EF4-FFF2-40B4-BE49-F238E27FC236}">
                <a16:creationId xmlns:a16="http://schemas.microsoft.com/office/drawing/2014/main" id="{9E1B7ADB-9A21-A743-BC62-15C987A1B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2849563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</p:spTree>
    <p:extLst>
      <p:ext uri="{BB962C8B-B14F-4D97-AF65-F5344CB8AC3E}">
        <p14:creationId xmlns:p14="http://schemas.microsoft.com/office/powerpoint/2010/main" val="9196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B21182-84A4-1F41-9DA0-BA8699837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6F65EB-2A81-594A-B482-D0D3C2A76433}"/>
              </a:ext>
            </a:extLst>
          </p:cNvPr>
          <p:cNvSpPr txBox="1">
            <a:spLocks/>
          </p:cNvSpPr>
          <p:nvPr/>
        </p:nvSpPr>
        <p:spPr bwMode="auto">
          <a:xfrm>
            <a:off x="457200" y="381000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QuickSort : Recursive calls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93DDAC2F-55F5-1E4D-8600-8390AA8F6E55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Arrow Connector 16">
            <a:extLst>
              <a:ext uri="{FF2B5EF4-FFF2-40B4-BE49-F238E27FC236}">
                <a16:creationId xmlns:a16="http://schemas.microsoft.com/office/drawing/2014/main" id="{F329891E-4E09-AB45-A9DC-BBC495A066E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21176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6" name="Group 36">
            <a:extLst>
              <a:ext uri="{FF2B5EF4-FFF2-40B4-BE49-F238E27FC236}">
                <a16:creationId xmlns:a16="http://schemas.microsoft.com/office/drawing/2014/main" id="{DC7B71E9-E7F2-EA4B-8887-CCAA644FD03C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38862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16">
            <a:extLst>
              <a:ext uri="{FF2B5EF4-FFF2-40B4-BE49-F238E27FC236}">
                <a16:creationId xmlns:a16="http://schemas.microsoft.com/office/drawing/2014/main" id="{D9549C27-1C33-834D-9653-1C22055AEB4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948363" y="4295775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xt Box 63">
            <a:extLst>
              <a:ext uri="{FF2B5EF4-FFF2-40B4-BE49-F238E27FC236}">
                <a16:creationId xmlns:a16="http://schemas.microsoft.com/office/drawing/2014/main" id="{9695A970-5161-F54B-9103-C36E73875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541838"/>
            <a:ext cx="682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 + 1</a:t>
            </a:r>
          </a:p>
        </p:txBody>
      </p:sp>
      <p:cxnSp>
        <p:nvCxnSpPr>
          <p:cNvPr id="9" name="Straight Arrow Connector 16">
            <a:extLst>
              <a:ext uri="{FF2B5EF4-FFF2-40B4-BE49-F238E27FC236}">
                <a16:creationId xmlns:a16="http://schemas.microsoft.com/office/drawing/2014/main" id="{D176DCE5-34C4-F349-B701-873FB0D0F8F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297363" y="428783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Text Box 65">
            <a:extLst>
              <a:ext uri="{FF2B5EF4-FFF2-40B4-BE49-F238E27FC236}">
                <a16:creationId xmlns:a16="http://schemas.microsoft.com/office/drawing/2014/main" id="{63EF7F9E-D381-0741-B93A-475C24A16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527550"/>
            <a:ext cx="549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 -1</a:t>
            </a:r>
          </a:p>
        </p:txBody>
      </p:sp>
      <p:sp>
        <p:nvSpPr>
          <p:cNvPr id="11" name="Text Box 66">
            <a:extLst>
              <a:ext uri="{FF2B5EF4-FFF2-40B4-BE49-F238E27FC236}">
                <a16:creationId xmlns:a16="http://schemas.microsoft.com/office/drawing/2014/main" id="{6A0DA010-538B-9E45-A78A-1D7ACF981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4576763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2" name="Text Box 67">
            <a:extLst>
              <a:ext uri="{FF2B5EF4-FFF2-40B4-BE49-F238E27FC236}">
                <a16:creationId xmlns:a16="http://schemas.microsoft.com/office/drawing/2014/main" id="{BA099029-D035-A244-B596-1A6345265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4498975"/>
            <a:ext cx="663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N -1</a:t>
            </a:r>
          </a:p>
        </p:txBody>
      </p:sp>
      <p:sp>
        <p:nvSpPr>
          <p:cNvPr id="13" name="Line 68">
            <a:extLst>
              <a:ext uri="{FF2B5EF4-FFF2-40B4-BE49-F238E27FC236}">
                <a16:creationId xmlns:a16="http://schemas.microsoft.com/office/drawing/2014/main" id="{036272B5-3249-EE4F-910C-241DA69C946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2928938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4" name="Straight Arrow Connector 16">
            <a:extLst>
              <a:ext uri="{FF2B5EF4-FFF2-40B4-BE49-F238E27FC236}">
                <a16:creationId xmlns:a16="http://schemas.microsoft.com/office/drawing/2014/main" id="{04802C7D-0382-9247-A92C-0B8E99FA87B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81000" y="43053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Rectangle 70">
            <a:extLst>
              <a:ext uri="{FF2B5EF4-FFF2-40B4-BE49-F238E27FC236}">
                <a16:creationId xmlns:a16="http://schemas.microsoft.com/office/drawing/2014/main" id="{40A99295-AF67-4D4F-855B-7A777652B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688" y="3881438"/>
            <a:ext cx="4710112" cy="3857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" name="Rectangle 71">
            <a:extLst>
              <a:ext uri="{FF2B5EF4-FFF2-40B4-BE49-F238E27FC236}">
                <a16:creationId xmlns:a16="http://schemas.microsoft.com/office/drawing/2014/main" id="{392C26ED-F1C4-0A49-B389-AFB6BFB4F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886200"/>
            <a:ext cx="2362200" cy="3857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D598686-C989-4A40-8C9D-81B437F35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AD606B-A28B-B646-AB18-BEDC76433FA4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cxnSp>
        <p:nvCxnSpPr>
          <p:cNvPr id="19" name="Straight Arrow Connector 16">
            <a:extLst>
              <a:ext uri="{FF2B5EF4-FFF2-40B4-BE49-F238E27FC236}">
                <a16:creationId xmlns:a16="http://schemas.microsoft.com/office/drawing/2014/main" id="{E404C603-CF08-DB42-838A-643D1729AED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4267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 Box 29">
            <a:extLst>
              <a:ext uri="{FF2B5EF4-FFF2-40B4-BE49-F238E27FC236}">
                <a16:creationId xmlns:a16="http://schemas.microsoft.com/office/drawing/2014/main" id="{9514E591-F518-9B46-A6E7-CDB9857C1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1" name="Text Box 45">
            <a:extLst>
              <a:ext uri="{FF2B5EF4-FFF2-40B4-BE49-F238E27FC236}">
                <a16:creationId xmlns:a16="http://schemas.microsoft.com/office/drawing/2014/main" id="{9F98ED53-1365-C646-9F61-F8E7783DE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8413" y="419100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888634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  <p:bldP spid="15" grpId="0" animBg="1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2D91F2-F3C7-0745-8601-1445E7DD4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BB1CE0-F3AE-2240-ABA8-ABDD60BA56F0}"/>
              </a:ext>
            </a:extLst>
          </p:cNvPr>
          <p:cNvSpPr txBox="1">
            <a:spLocks/>
          </p:cNvSpPr>
          <p:nvPr/>
        </p:nvSpPr>
        <p:spPr bwMode="auto">
          <a:xfrm>
            <a:off x="457200" y="381000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QuickSort : Left Recursive call</a:t>
            </a:r>
          </a:p>
        </p:txBody>
      </p:sp>
      <p:graphicFrame>
        <p:nvGraphicFramePr>
          <p:cNvPr id="4" name="Group 60">
            <a:extLst>
              <a:ext uri="{FF2B5EF4-FFF2-40B4-BE49-F238E27FC236}">
                <a16:creationId xmlns:a16="http://schemas.microsoft.com/office/drawing/2014/main" id="{EC077A5E-DFFF-1E42-914A-6A6AE9C9B0FA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04EF511B-97ED-F045-9E40-C6D37E451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4063182-EC31-3E42-8750-9CB52300148F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83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0DB4EE-ABF7-FC4E-ABFE-D1375719F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19</a:t>
            </a:fld>
            <a:endParaRPr lang="zh-CN" altLang="en-US"/>
          </a:p>
        </p:txBody>
      </p:sp>
      <p:graphicFrame>
        <p:nvGraphicFramePr>
          <p:cNvPr id="3" name="Group 60">
            <a:extLst>
              <a:ext uri="{FF2B5EF4-FFF2-40B4-BE49-F238E27FC236}">
                <a16:creationId xmlns:a16="http://schemas.microsoft.com/office/drawing/2014/main" id="{E46F876B-8E80-A64B-849B-1ACB4019F902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" name="Straight Arrow Connector 16">
            <a:extLst>
              <a:ext uri="{FF2B5EF4-FFF2-40B4-BE49-F238E27FC236}">
                <a16:creationId xmlns:a16="http://schemas.microsoft.com/office/drawing/2014/main" id="{F92AFD7F-A421-934B-92FB-FC0545E3AA6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90600" y="23622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" name="Straight Arrow Connector 16">
            <a:extLst>
              <a:ext uri="{FF2B5EF4-FFF2-40B4-BE49-F238E27FC236}">
                <a16:creationId xmlns:a16="http://schemas.microsoft.com/office/drawing/2014/main" id="{AB6F671E-5E9B-804E-AE6A-BF881127D4B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436813" y="238918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Straight Arrow Connector 16">
            <a:extLst>
              <a:ext uri="{FF2B5EF4-FFF2-40B4-BE49-F238E27FC236}">
                <a16:creationId xmlns:a16="http://schemas.microsoft.com/office/drawing/2014/main" id="{56ABB90E-B155-654F-A7F7-606A39D22CF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832350" y="23749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Slide Number Placeholder 10">
            <a:extLst>
              <a:ext uri="{FF2B5EF4-FFF2-40B4-BE49-F238E27FC236}">
                <a16:creationId xmlns:a16="http://schemas.microsoft.com/office/drawing/2014/main" id="{B970548F-FBE5-FF4A-9CEC-43BA044DC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6DA3E20-5B03-8C48-BB63-6B72ECC7ED5C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2CAC0AE-3964-CA4C-BD4E-5820B72FFB06}"/>
              </a:ext>
            </a:extLst>
          </p:cNvPr>
          <p:cNvSpPr txBox="1">
            <a:spLocks/>
          </p:cNvSpPr>
          <p:nvPr/>
        </p:nvSpPr>
        <p:spPr bwMode="auto">
          <a:xfrm>
            <a:off x="457200" y="381000"/>
            <a:ext cx="7239000" cy="838200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>
                <a:latin typeface="Trebuchet MS" pitchFamily="34" charset="0"/>
              </a:rPr>
              <a:t>QuickSort : Left Recursive call</a:t>
            </a:r>
            <a:br>
              <a:rPr lang="en-US" sz="3400">
                <a:latin typeface="Trebuchet MS" pitchFamily="34" charset="0"/>
              </a:rPr>
            </a:br>
            <a:r>
              <a:rPr lang="en-US" sz="3400">
                <a:solidFill>
                  <a:srgbClr val="FF0000"/>
                </a:solidFill>
                <a:latin typeface="Trebuchet MS" pitchFamily="34" charset="0"/>
              </a:rPr>
              <a:t>Pivot Selection</a:t>
            </a:r>
            <a:endParaRPr lang="en-US" sz="3400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93DEB2-9A2E-6645-8C2C-A95C3FB2C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352800"/>
            <a:ext cx="901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/>
              <a:t>2  &gt; 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D0A72B-6FE5-8342-9CF3-82464FCE3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867150"/>
            <a:ext cx="901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/>
              <a:t>2  &gt;  3</a:t>
            </a:r>
          </a:p>
        </p:txBody>
      </p:sp>
      <p:graphicFrame>
        <p:nvGraphicFramePr>
          <p:cNvPr id="12" name="Group 60">
            <a:extLst>
              <a:ext uri="{FF2B5EF4-FFF2-40B4-BE49-F238E27FC236}">
                <a16:creationId xmlns:a16="http://schemas.microsoft.com/office/drawing/2014/main" id="{08A76116-3516-874C-A1A9-2AA2A1225DDF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Multiply 12">
            <a:extLst>
              <a:ext uri="{FF2B5EF4-FFF2-40B4-BE49-F238E27FC236}">
                <a16:creationId xmlns:a16="http://schemas.microsoft.com/office/drawing/2014/main" id="{78AD8995-BF4E-714E-B300-15957FF1E88E}"/>
              </a:ext>
            </a:extLst>
          </p:cNvPr>
          <p:cNvSpPr/>
          <p:nvPr/>
        </p:nvSpPr>
        <p:spPr>
          <a:xfrm>
            <a:off x="2133600" y="3352800"/>
            <a:ext cx="457200" cy="38100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14" name="Multiply 13">
            <a:extLst>
              <a:ext uri="{FF2B5EF4-FFF2-40B4-BE49-F238E27FC236}">
                <a16:creationId xmlns:a16="http://schemas.microsoft.com/office/drawing/2014/main" id="{02410B60-13FD-7346-BED8-38757346ADAF}"/>
              </a:ext>
            </a:extLst>
          </p:cNvPr>
          <p:cNvSpPr/>
          <p:nvPr/>
        </p:nvSpPr>
        <p:spPr>
          <a:xfrm>
            <a:off x="2133600" y="3824288"/>
            <a:ext cx="457200" cy="38100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F53AC4-EA51-9140-9619-D6ECFB205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357688"/>
            <a:ext cx="901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/>
              <a:t>4  &gt;  3</a:t>
            </a:r>
          </a:p>
        </p:txBody>
      </p:sp>
      <p:sp>
        <p:nvSpPr>
          <p:cNvPr id="16" name="Freeform 184">
            <a:extLst>
              <a:ext uri="{FF2B5EF4-FFF2-40B4-BE49-F238E27FC236}">
                <a16:creationId xmlns:a16="http://schemas.microsoft.com/office/drawing/2014/main" id="{95858BFA-D5B9-2540-91CA-E004DDF9BD08}"/>
              </a:ext>
            </a:extLst>
          </p:cNvPr>
          <p:cNvSpPr>
            <a:spLocks/>
          </p:cNvSpPr>
          <p:nvPr/>
        </p:nvSpPr>
        <p:spPr bwMode="auto">
          <a:xfrm flipH="1" flipV="1">
            <a:off x="2514600" y="1581150"/>
            <a:ext cx="24384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845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7A291A-D933-4745-B698-03612FC12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F6F4B4-330B-B04B-A3F4-DB3D39FD13DB}"/>
              </a:ext>
            </a:extLst>
          </p:cNvPr>
          <p:cNvSpPr txBox="1">
            <a:spLocks/>
          </p:cNvSpPr>
          <p:nvPr/>
        </p:nvSpPr>
        <p:spPr bwMode="auto">
          <a:xfrm>
            <a:off x="457200" y="381000"/>
            <a:ext cx="7239000" cy="838200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>
                <a:latin typeface="Trebuchet MS" pitchFamily="34" charset="0"/>
              </a:rPr>
              <a:t>QuickSort : Left Recursive call</a:t>
            </a:r>
            <a:br>
              <a:rPr lang="en-US" sz="3400">
                <a:latin typeface="Trebuchet MS" pitchFamily="34" charset="0"/>
              </a:rPr>
            </a:br>
            <a:r>
              <a:rPr lang="en-US" sz="3400">
                <a:solidFill>
                  <a:srgbClr val="FF0000"/>
                </a:solidFill>
                <a:latin typeface="Trebuchet MS" pitchFamily="34" charset="0"/>
              </a:rPr>
              <a:t>Pivot Swap out</a:t>
            </a:r>
            <a:endParaRPr lang="en-US" sz="3400" dirty="0">
              <a:solidFill>
                <a:srgbClr val="FF0000"/>
              </a:solidFill>
              <a:latin typeface="Trebuchet MS" pitchFamily="34" charset="0"/>
            </a:endParaRP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66E47DB9-912C-7A4C-8698-6B971F1BED05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Arrow Connector 16">
            <a:extLst>
              <a:ext uri="{FF2B5EF4-FFF2-40B4-BE49-F238E27FC236}">
                <a16:creationId xmlns:a16="http://schemas.microsoft.com/office/drawing/2014/main" id="{C2BE402A-4EA0-4A4B-9C4A-4575C71B3D6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90600" y="233521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 Box 20">
            <a:extLst>
              <a:ext uri="{FF2B5EF4-FFF2-40B4-BE49-F238E27FC236}">
                <a16:creationId xmlns:a16="http://schemas.microsoft.com/office/drawing/2014/main" id="{E9D927C7-55FC-9A42-9484-03A7B963A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238" y="26511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2371B6DF-06B9-F14A-B6E0-AC5569165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0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8" name="Text Box 22">
            <a:extLst>
              <a:ext uri="{FF2B5EF4-FFF2-40B4-BE49-F238E27FC236}">
                <a16:creationId xmlns:a16="http://schemas.microsoft.com/office/drawing/2014/main" id="{C8010CB5-7DF8-0E48-A193-79A6D250F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6511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cxnSp>
        <p:nvCxnSpPr>
          <p:cNvPr id="9" name="Straight Arrow Connector 16">
            <a:extLst>
              <a:ext uri="{FF2B5EF4-FFF2-40B4-BE49-F238E27FC236}">
                <a16:creationId xmlns:a16="http://schemas.microsoft.com/office/drawing/2014/main" id="{E099A558-5851-D24F-AF91-1E069B8E6AE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9901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Straight Arrow Connector 16">
            <a:extLst>
              <a:ext uri="{FF2B5EF4-FFF2-40B4-BE49-F238E27FC236}">
                <a16:creationId xmlns:a16="http://schemas.microsoft.com/office/drawing/2014/main" id="{BF81CFDE-4B64-6741-961A-80556AD66BA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019550" y="234791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Freeform 184">
            <a:extLst>
              <a:ext uri="{FF2B5EF4-FFF2-40B4-BE49-F238E27FC236}">
                <a16:creationId xmlns:a16="http://schemas.microsoft.com/office/drawing/2014/main" id="{B30DE779-5B5B-A64A-B957-0D126BE568E1}"/>
              </a:ext>
            </a:extLst>
          </p:cNvPr>
          <p:cNvSpPr>
            <a:spLocks/>
          </p:cNvSpPr>
          <p:nvPr/>
        </p:nvSpPr>
        <p:spPr bwMode="auto">
          <a:xfrm flipH="1" flipV="1">
            <a:off x="2514600" y="1581150"/>
            <a:ext cx="24384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3" name="Slide Number Placeholder 11">
            <a:extLst>
              <a:ext uri="{FF2B5EF4-FFF2-40B4-BE49-F238E27FC236}">
                <a16:creationId xmlns:a16="http://schemas.microsoft.com/office/drawing/2014/main" id="{5532AC59-E932-C14B-BE7E-0C85EED27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7349A20-F96B-2141-9A25-74CADC505E88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94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7ADCDE-6E42-E044-A4F0-48DE5C1AB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EE3A35-1F85-3B44-9358-704CF15FF337}"/>
              </a:ext>
            </a:extLst>
          </p:cNvPr>
          <p:cNvSpPr txBox="1">
            <a:spLocks/>
          </p:cNvSpPr>
          <p:nvPr/>
        </p:nvSpPr>
        <p:spPr bwMode="auto">
          <a:xfrm>
            <a:off x="457200" y="381000"/>
            <a:ext cx="7239000" cy="838200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>
                <a:latin typeface="Trebuchet MS" pitchFamily="34" charset="0"/>
              </a:rPr>
              <a:t>QuickSort : Left Recursive call</a:t>
            </a:r>
            <a:br>
              <a:rPr lang="en-US" sz="3400">
                <a:latin typeface="Trebuchet MS" pitchFamily="34" charset="0"/>
              </a:rPr>
            </a:br>
            <a:r>
              <a:rPr lang="en-US" sz="3400">
                <a:solidFill>
                  <a:srgbClr val="FF0000"/>
                </a:solidFill>
                <a:latin typeface="Trebuchet MS" pitchFamily="34" charset="0"/>
              </a:rPr>
              <a:t>Movements</a:t>
            </a:r>
            <a:endParaRPr lang="en-US" sz="3400" dirty="0">
              <a:solidFill>
                <a:srgbClr val="FF0000"/>
              </a:solidFill>
              <a:latin typeface="Trebuchet MS" pitchFamily="34" charset="0"/>
            </a:endParaRP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54433311-9334-3349-9E79-DC2A03292C73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B785B5C-33FB-7549-A385-24788DBAA42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90600" y="233521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 Box 20">
            <a:extLst>
              <a:ext uri="{FF2B5EF4-FFF2-40B4-BE49-F238E27FC236}">
                <a16:creationId xmlns:a16="http://schemas.microsoft.com/office/drawing/2014/main" id="{BD0BDB86-1B20-5147-A8FA-C618ED369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238" y="26511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92AD5D6E-9627-A741-A958-591127B62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0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8" name="Text Box 22">
            <a:extLst>
              <a:ext uri="{FF2B5EF4-FFF2-40B4-BE49-F238E27FC236}">
                <a16:creationId xmlns:a16="http://schemas.microsoft.com/office/drawing/2014/main" id="{FB69A60C-DD12-0B49-8242-4BB87E2C5F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6511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cxnSp>
        <p:nvCxnSpPr>
          <p:cNvPr id="9" name="Straight Arrow Connector 16">
            <a:extLst>
              <a:ext uri="{FF2B5EF4-FFF2-40B4-BE49-F238E27FC236}">
                <a16:creationId xmlns:a16="http://schemas.microsoft.com/office/drawing/2014/main" id="{19B2088F-9EDF-FF42-9FFC-96FC6B89BEB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9901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Straight Arrow Connector 16">
            <a:extLst>
              <a:ext uri="{FF2B5EF4-FFF2-40B4-BE49-F238E27FC236}">
                <a16:creationId xmlns:a16="http://schemas.microsoft.com/office/drawing/2014/main" id="{27034F94-798D-3440-8890-38BC2A43312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019550" y="234791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C4107461-7B98-674D-97F2-3CA2CA3C5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EAA18CF-DDDB-A248-B5C6-E684EBE82794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3875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07031E-6 L 0.175 0.00393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50" y="18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0.00416 L 0.17274 0.00255 " pathEditMode="relative" rAng="0" ptsTypes="AA">
                                      <p:cBhvr>
                                        <p:cTn id="8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28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821126-CE26-BB4D-8C64-2C93AB610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3ECA41-AD1C-D74B-8BEA-8A60434BCE0C}"/>
              </a:ext>
            </a:extLst>
          </p:cNvPr>
          <p:cNvSpPr txBox="1">
            <a:spLocks/>
          </p:cNvSpPr>
          <p:nvPr/>
        </p:nvSpPr>
        <p:spPr bwMode="auto">
          <a:xfrm>
            <a:off x="457200" y="381000"/>
            <a:ext cx="7239000" cy="838200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>
                <a:latin typeface="Trebuchet MS" pitchFamily="34" charset="0"/>
              </a:rPr>
              <a:t>QuickSort : Left Recursive call</a:t>
            </a:r>
            <a:br>
              <a:rPr lang="en-US" sz="3400">
                <a:latin typeface="Trebuchet MS" pitchFamily="34" charset="0"/>
              </a:rPr>
            </a:br>
            <a:r>
              <a:rPr lang="en-US" sz="3400">
                <a:solidFill>
                  <a:srgbClr val="FF0000"/>
                </a:solidFill>
                <a:latin typeface="Trebuchet MS" pitchFamily="34" charset="0"/>
              </a:rPr>
              <a:t>Swap</a:t>
            </a:r>
            <a:endParaRPr lang="en-US" sz="3400" dirty="0">
              <a:solidFill>
                <a:srgbClr val="FF0000"/>
              </a:solidFill>
              <a:latin typeface="Trebuchet MS" pitchFamily="34" charset="0"/>
            </a:endParaRP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8B853BA1-DE5D-E841-84DC-E73D09E60384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Arrow Connector 16">
            <a:extLst>
              <a:ext uri="{FF2B5EF4-FFF2-40B4-BE49-F238E27FC236}">
                <a16:creationId xmlns:a16="http://schemas.microsoft.com/office/drawing/2014/main" id="{EED320BB-B431-3242-94AC-CB2795DCC81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544763" y="236378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 Box 20">
            <a:extLst>
              <a:ext uri="{FF2B5EF4-FFF2-40B4-BE49-F238E27FC236}">
                <a16:creationId xmlns:a16="http://schemas.microsoft.com/office/drawing/2014/main" id="{FEDE167A-5C16-E44F-A03D-404F994DF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67970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57E13190-3FAC-CD44-A39F-5A9670F76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0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8" name="Text Box 22">
            <a:extLst>
              <a:ext uri="{FF2B5EF4-FFF2-40B4-BE49-F238E27FC236}">
                <a16:creationId xmlns:a16="http://schemas.microsoft.com/office/drawing/2014/main" id="{7FC9C5F8-A734-AF4D-A5CC-367D71B53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6511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cxnSp>
        <p:nvCxnSpPr>
          <p:cNvPr id="9" name="Straight Arrow Connector 16">
            <a:extLst>
              <a:ext uri="{FF2B5EF4-FFF2-40B4-BE49-F238E27FC236}">
                <a16:creationId xmlns:a16="http://schemas.microsoft.com/office/drawing/2014/main" id="{C53D62C8-65E5-0444-9F08-A93BFD5C486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9901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Straight Arrow Connector 16">
            <a:extLst>
              <a:ext uri="{FF2B5EF4-FFF2-40B4-BE49-F238E27FC236}">
                <a16:creationId xmlns:a16="http://schemas.microsoft.com/office/drawing/2014/main" id="{DD8F6A4A-88F3-D74A-97EE-44EFC979F3B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019550" y="234791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Freeform 184">
            <a:extLst>
              <a:ext uri="{FF2B5EF4-FFF2-40B4-BE49-F238E27FC236}">
                <a16:creationId xmlns:a16="http://schemas.microsoft.com/office/drawing/2014/main" id="{80ADFDA1-A725-0844-847E-DB913512ABFC}"/>
              </a:ext>
            </a:extLst>
          </p:cNvPr>
          <p:cNvSpPr>
            <a:spLocks/>
          </p:cNvSpPr>
          <p:nvPr/>
        </p:nvSpPr>
        <p:spPr bwMode="auto">
          <a:xfrm flipH="1" flipV="1">
            <a:off x="2514600" y="1624013"/>
            <a:ext cx="1524000" cy="357187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3" name="Slide Number Placeholder 11">
            <a:extLst>
              <a:ext uri="{FF2B5EF4-FFF2-40B4-BE49-F238E27FC236}">
                <a16:creationId xmlns:a16="http://schemas.microsoft.com/office/drawing/2014/main" id="{21B6E6C3-23F6-7D4C-BB35-6085A8AB5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4D8AC8A-A521-D94D-83D3-765CD1D09CAA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135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2DD3BC-E2F4-9B4D-9C5F-0659AD368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7FD2CB-F47A-0A40-BBE2-9C1789F84C6E}"/>
              </a:ext>
            </a:extLst>
          </p:cNvPr>
          <p:cNvSpPr txBox="1">
            <a:spLocks/>
          </p:cNvSpPr>
          <p:nvPr/>
        </p:nvSpPr>
        <p:spPr bwMode="auto">
          <a:xfrm>
            <a:off x="457200" y="381000"/>
            <a:ext cx="7239000" cy="838200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>
                <a:latin typeface="Trebuchet MS" pitchFamily="34" charset="0"/>
              </a:rPr>
              <a:t>QuickSort : Left Recursive call</a:t>
            </a:r>
            <a:br>
              <a:rPr lang="en-US" sz="3400">
                <a:latin typeface="Trebuchet MS" pitchFamily="34" charset="0"/>
              </a:rPr>
            </a:br>
            <a:r>
              <a:rPr lang="en-US" sz="3400">
                <a:latin typeface="Trebuchet MS" pitchFamily="34" charset="0"/>
              </a:rPr>
              <a:t>Step 1: Swap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133406B6-64E1-B14E-8AD0-783CC8085EA3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Arrow Connector 16">
            <a:extLst>
              <a:ext uri="{FF2B5EF4-FFF2-40B4-BE49-F238E27FC236}">
                <a16:creationId xmlns:a16="http://schemas.microsoft.com/office/drawing/2014/main" id="{ED3168CD-1313-8645-A8C8-FA7B3183A29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544763" y="236378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 Box 20">
            <a:extLst>
              <a:ext uri="{FF2B5EF4-FFF2-40B4-BE49-F238E27FC236}">
                <a16:creationId xmlns:a16="http://schemas.microsoft.com/office/drawing/2014/main" id="{10ECF03A-2117-F94B-BE97-F10DE1C27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67970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1DB538D8-2EA9-C54A-A911-44311664F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0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8" name="Text Box 22">
            <a:extLst>
              <a:ext uri="{FF2B5EF4-FFF2-40B4-BE49-F238E27FC236}">
                <a16:creationId xmlns:a16="http://schemas.microsoft.com/office/drawing/2014/main" id="{BF55DF86-D588-C540-BEEC-C4FD6FD76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6511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cxnSp>
        <p:nvCxnSpPr>
          <p:cNvPr id="9" name="Straight Arrow Connector 16">
            <a:extLst>
              <a:ext uri="{FF2B5EF4-FFF2-40B4-BE49-F238E27FC236}">
                <a16:creationId xmlns:a16="http://schemas.microsoft.com/office/drawing/2014/main" id="{2CEB4738-8DA4-4F40-9983-2E173CD4638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9901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Straight Arrow Connector 16">
            <a:extLst>
              <a:ext uri="{FF2B5EF4-FFF2-40B4-BE49-F238E27FC236}">
                <a16:creationId xmlns:a16="http://schemas.microsoft.com/office/drawing/2014/main" id="{9316B4FF-23D9-9C43-8B65-F814CE43793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019550" y="234791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Freeform 184">
            <a:extLst>
              <a:ext uri="{FF2B5EF4-FFF2-40B4-BE49-F238E27FC236}">
                <a16:creationId xmlns:a16="http://schemas.microsoft.com/office/drawing/2014/main" id="{1B775E81-C223-D64F-9C79-B93EF063D110}"/>
              </a:ext>
            </a:extLst>
          </p:cNvPr>
          <p:cNvSpPr>
            <a:spLocks/>
          </p:cNvSpPr>
          <p:nvPr/>
        </p:nvSpPr>
        <p:spPr bwMode="auto">
          <a:xfrm flipH="1" flipV="1">
            <a:off x="2514600" y="1624013"/>
            <a:ext cx="1524000" cy="357187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3" name="Slide Number Placeholder 11">
            <a:extLst>
              <a:ext uri="{FF2B5EF4-FFF2-40B4-BE49-F238E27FC236}">
                <a16:creationId xmlns:a16="http://schemas.microsoft.com/office/drawing/2014/main" id="{EECC431E-D3DD-EB43-84BA-5F0AA6ABA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050A67A-2F90-7347-9D76-3C04701AD428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772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CFBDD4-98C5-4F48-81AE-8596A484E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762FAF-53DC-824E-AA01-1E10F0F0E8ED}"/>
              </a:ext>
            </a:extLst>
          </p:cNvPr>
          <p:cNvSpPr txBox="1">
            <a:spLocks/>
          </p:cNvSpPr>
          <p:nvPr/>
        </p:nvSpPr>
        <p:spPr bwMode="auto">
          <a:xfrm>
            <a:off x="457200" y="381000"/>
            <a:ext cx="7239000" cy="838200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>
                <a:latin typeface="Trebuchet MS" pitchFamily="34" charset="0"/>
              </a:rPr>
              <a:t>QuickSort : Left Recursive call</a:t>
            </a:r>
            <a:br>
              <a:rPr lang="en-US" sz="3400">
                <a:latin typeface="Trebuchet MS" pitchFamily="34" charset="0"/>
              </a:rPr>
            </a:br>
            <a:r>
              <a:rPr lang="en-US" sz="3400">
                <a:solidFill>
                  <a:srgbClr val="FF0000"/>
                </a:solidFill>
                <a:latin typeface="Trebuchet MS" pitchFamily="34" charset="0"/>
              </a:rPr>
              <a:t>Movements</a:t>
            </a:r>
            <a:endParaRPr lang="en-US" sz="3400" dirty="0">
              <a:latin typeface="Trebuchet MS" pitchFamily="34" charset="0"/>
            </a:endParaRP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F31CC890-F71F-BE40-A758-E85CDA5A1F39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Arrow Connector 16">
            <a:extLst>
              <a:ext uri="{FF2B5EF4-FFF2-40B4-BE49-F238E27FC236}">
                <a16:creationId xmlns:a16="http://schemas.microsoft.com/office/drawing/2014/main" id="{CD38906F-44CA-3647-A9A0-353575F6FF7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544763" y="236378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 Box 20">
            <a:extLst>
              <a:ext uri="{FF2B5EF4-FFF2-40B4-BE49-F238E27FC236}">
                <a16:creationId xmlns:a16="http://schemas.microsoft.com/office/drawing/2014/main" id="{E4D96747-730D-E640-9D24-141D724E4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67970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FDDA81DF-97B6-7448-A8D1-CD04E7D85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0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8" name="Text Box 22">
            <a:extLst>
              <a:ext uri="{FF2B5EF4-FFF2-40B4-BE49-F238E27FC236}">
                <a16:creationId xmlns:a16="http://schemas.microsoft.com/office/drawing/2014/main" id="{B5076D18-E3B8-D54E-9885-DAEC30A4C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6511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cxnSp>
        <p:nvCxnSpPr>
          <p:cNvPr id="9" name="Straight Arrow Connector 16">
            <a:extLst>
              <a:ext uri="{FF2B5EF4-FFF2-40B4-BE49-F238E27FC236}">
                <a16:creationId xmlns:a16="http://schemas.microsoft.com/office/drawing/2014/main" id="{37A318A3-076D-144D-BAB2-61B9CAD2E10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9901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Straight Arrow Connector 16">
            <a:extLst>
              <a:ext uri="{FF2B5EF4-FFF2-40B4-BE49-F238E27FC236}">
                <a16:creationId xmlns:a16="http://schemas.microsoft.com/office/drawing/2014/main" id="{F48B6AC7-4061-5E4D-989F-D0874252B9D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019550" y="234791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9469B47-9FC2-3B4A-B01A-5743FE3CA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F55B95-30FC-DE4F-83C5-C49B772BA065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FFC3AC-65ED-D249-A909-29A06CDE4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581400"/>
            <a:ext cx="1581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latin typeface="Times" pitchFamily="2" charset="0"/>
              </a:rPr>
              <a:t>i &amp; j crossed</a:t>
            </a:r>
          </a:p>
        </p:txBody>
      </p:sp>
    </p:spTree>
    <p:extLst>
      <p:ext uri="{BB962C8B-B14F-4D97-AF65-F5344CB8AC3E}">
        <p14:creationId xmlns:p14="http://schemas.microsoft.com/office/powerpoint/2010/main" val="2709483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1.25809E-6 L 0.08003 -0.0002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93" y="-2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30342E-6 L 0.07777 0.00254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89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17 0.00671 L -0.16059 0.00232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44" y="-23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04 0.00024 L -0.16129 0.00232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13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6FC8FD-C766-3949-8771-2083A5E2B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39473A-7F3C-E348-85D5-44DB66C8838F}"/>
              </a:ext>
            </a:extLst>
          </p:cNvPr>
          <p:cNvSpPr txBox="1">
            <a:spLocks/>
          </p:cNvSpPr>
          <p:nvPr/>
        </p:nvSpPr>
        <p:spPr bwMode="auto">
          <a:xfrm>
            <a:off x="457200" y="381000"/>
            <a:ext cx="7239000" cy="838200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>
                <a:latin typeface="Trebuchet MS" pitchFamily="34" charset="0"/>
              </a:rPr>
              <a:t>QuickSort : Left Recursive call</a:t>
            </a:r>
            <a:br>
              <a:rPr lang="en-US" sz="3400">
                <a:latin typeface="Trebuchet MS" pitchFamily="34" charset="0"/>
              </a:rPr>
            </a:br>
            <a:r>
              <a:rPr lang="en-US" sz="3400">
                <a:solidFill>
                  <a:srgbClr val="FF0000"/>
                </a:solidFill>
                <a:latin typeface="Trebuchet MS" pitchFamily="34" charset="0"/>
              </a:rPr>
              <a:t>Swap with the pivot</a:t>
            </a:r>
            <a:endParaRPr lang="en-US" sz="3400" dirty="0">
              <a:solidFill>
                <a:srgbClr val="FF0000"/>
              </a:solidFill>
              <a:latin typeface="Trebuchet MS" pitchFamily="34" charset="0"/>
            </a:endParaRP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55554E9E-7430-4141-92C7-FDFB73621C1B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Arrow Connector 16">
            <a:extLst>
              <a:ext uri="{FF2B5EF4-FFF2-40B4-BE49-F238E27FC236}">
                <a16:creationId xmlns:a16="http://schemas.microsoft.com/office/drawing/2014/main" id="{8D8E8FC5-6FF7-1F49-A96F-2E767F68768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205163" y="236378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 Box 20">
            <a:extLst>
              <a:ext uri="{FF2B5EF4-FFF2-40B4-BE49-F238E27FC236}">
                <a16:creationId xmlns:a16="http://schemas.microsoft.com/office/drawing/2014/main" id="{7C5369F7-9B6E-2745-B8C1-97CFB76E6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8800" y="267970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FAF85876-3725-4646-8141-768C287A0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0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cxnSp>
        <p:nvCxnSpPr>
          <p:cNvPr id="8" name="Straight Arrow Connector 16">
            <a:extLst>
              <a:ext uri="{FF2B5EF4-FFF2-40B4-BE49-F238E27FC236}">
                <a16:creationId xmlns:a16="http://schemas.microsoft.com/office/drawing/2014/main" id="{C8755BEB-66F6-C541-818D-8041540620A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9901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Freeform 184">
            <a:extLst>
              <a:ext uri="{FF2B5EF4-FFF2-40B4-BE49-F238E27FC236}">
                <a16:creationId xmlns:a16="http://schemas.microsoft.com/office/drawing/2014/main" id="{BE14221B-B5DA-A048-8C1D-D30B051C8402}"/>
              </a:ext>
            </a:extLst>
          </p:cNvPr>
          <p:cNvSpPr>
            <a:spLocks/>
          </p:cNvSpPr>
          <p:nvPr/>
        </p:nvSpPr>
        <p:spPr bwMode="auto">
          <a:xfrm flipH="1" flipV="1">
            <a:off x="3352800" y="1627188"/>
            <a:ext cx="1600200" cy="34766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8C43A599-90B0-5E45-BF0E-A1C4A3D3E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0594D80-10C0-5845-A0DB-5C645383DBEF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743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610B5F-2E66-F846-83BE-F6645D6E1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70A87C-6A25-4F42-A03F-0A7C93AEA479}"/>
              </a:ext>
            </a:extLst>
          </p:cNvPr>
          <p:cNvSpPr txBox="1">
            <a:spLocks/>
          </p:cNvSpPr>
          <p:nvPr/>
        </p:nvSpPr>
        <p:spPr bwMode="auto">
          <a:xfrm>
            <a:off x="457200" y="381000"/>
            <a:ext cx="7239000" cy="838200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>
                <a:latin typeface="Trebuchet MS" pitchFamily="34" charset="0"/>
              </a:rPr>
              <a:t>QuickSort : Left Recursive call</a:t>
            </a:r>
            <a:br>
              <a:rPr lang="en-US" sz="3400">
                <a:latin typeface="Trebuchet MS" pitchFamily="34" charset="0"/>
              </a:rPr>
            </a:br>
            <a:r>
              <a:rPr lang="en-US" sz="3400">
                <a:solidFill>
                  <a:srgbClr val="FF0000"/>
                </a:solidFill>
                <a:latin typeface="Trebuchet MS" pitchFamily="34" charset="0"/>
              </a:rPr>
              <a:t>Swap with the pivot</a:t>
            </a:r>
            <a:endParaRPr lang="en-US" sz="3400" dirty="0">
              <a:latin typeface="Trebuchet MS" pitchFamily="34" charset="0"/>
            </a:endParaRP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941E3814-D547-9946-B3FD-EF89CB8C2805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Arrow Connector 16">
            <a:extLst>
              <a:ext uri="{FF2B5EF4-FFF2-40B4-BE49-F238E27FC236}">
                <a16:creationId xmlns:a16="http://schemas.microsoft.com/office/drawing/2014/main" id="{AF363E49-A566-8A46-A1E3-DE9AB7DBFBD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205163" y="236378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 Box 20">
            <a:extLst>
              <a:ext uri="{FF2B5EF4-FFF2-40B4-BE49-F238E27FC236}">
                <a16:creationId xmlns:a16="http://schemas.microsoft.com/office/drawing/2014/main" id="{D21082F8-CA43-B542-9973-3D9F371C7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8800" y="267970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804DA742-11FA-7241-B78E-DD56C25F0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032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cxnSp>
        <p:nvCxnSpPr>
          <p:cNvPr id="8" name="Straight Arrow Connector 16">
            <a:extLst>
              <a:ext uri="{FF2B5EF4-FFF2-40B4-BE49-F238E27FC236}">
                <a16:creationId xmlns:a16="http://schemas.microsoft.com/office/drawing/2014/main" id="{87A37E70-1D48-1B4E-B7BD-80ABF57D8E7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9901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Freeform 184">
            <a:extLst>
              <a:ext uri="{FF2B5EF4-FFF2-40B4-BE49-F238E27FC236}">
                <a16:creationId xmlns:a16="http://schemas.microsoft.com/office/drawing/2014/main" id="{5447B058-7E70-2D4E-90E8-9C62D2B1D459}"/>
              </a:ext>
            </a:extLst>
          </p:cNvPr>
          <p:cNvSpPr>
            <a:spLocks/>
          </p:cNvSpPr>
          <p:nvPr/>
        </p:nvSpPr>
        <p:spPr bwMode="auto">
          <a:xfrm flipH="1" flipV="1">
            <a:off x="3352800" y="1627188"/>
            <a:ext cx="1600200" cy="34766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1B70DAC-885D-E944-B2D4-4AAD6EA62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5FB25F3-82C4-DD49-994A-67E5F74B45C4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224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F68805-BAD1-C040-A603-5462B5196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AA9B26-7C7B-E14F-ADB4-FAAE3E33118D}"/>
              </a:ext>
            </a:extLst>
          </p:cNvPr>
          <p:cNvSpPr txBox="1">
            <a:spLocks/>
          </p:cNvSpPr>
          <p:nvPr/>
        </p:nvSpPr>
        <p:spPr bwMode="auto">
          <a:xfrm>
            <a:off x="457200" y="381000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QuickSort :Recursive Calls</a:t>
            </a:r>
            <a:endParaRPr lang="en-US" altLang="en-US">
              <a:solidFill>
                <a:srgbClr val="FF0000"/>
              </a:solidFill>
              <a:latin typeface="Trebuchet MS" panose="020B0703020202090204" pitchFamily="34" charset="0"/>
            </a:endParaRPr>
          </a:p>
        </p:txBody>
      </p:sp>
      <p:graphicFrame>
        <p:nvGraphicFramePr>
          <p:cNvPr id="4" name="Group 28">
            <a:extLst>
              <a:ext uri="{FF2B5EF4-FFF2-40B4-BE49-F238E27FC236}">
                <a16:creationId xmlns:a16="http://schemas.microsoft.com/office/drawing/2014/main" id="{781A8CE6-3492-F940-B913-6D5B83A0D44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4314825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 Box 46">
            <a:extLst>
              <a:ext uri="{FF2B5EF4-FFF2-40B4-BE49-F238E27FC236}">
                <a16:creationId xmlns:a16="http://schemas.microsoft.com/office/drawing/2014/main" id="{7C8F9FD6-1740-604C-A110-11C974047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013325"/>
            <a:ext cx="549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 -1</a:t>
            </a:r>
          </a:p>
        </p:txBody>
      </p:sp>
      <p:sp>
        <p:nvSpPr>
          <p:cNvPr id="6" name="Text Box 47">
            <a:extLst>
              <a:ext uri="{FF2B5EF4-FFF2-40B4-BE49-F238E27FC236}">
                <a16:creationId xmlns:a16="http://schemas.microsoft.com/office/drawing/2014/main" id="{4F380586-CD91-7549-952F-4B81E4BA8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013325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0</a:t>
            </a:r>
          </a:p>
        </p:txBody>
      </p:sp>
      <p:cxnSp>
        <p:nvCxnSpPr>
          <p:cNvPr id="7" name="Straight Arrow Connector 16">
            <a:extLst>
              <a:ext uri="{FF2B5EF4-FFF2-40B4-BE49-F238E27FC236}">
                <a16:creationId xmlns:a16="http://schemas.microsoft.com/office/drawing/2014/main" id="{43F46B54-E289-1042-A975-3FEA6E5C8F7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49538" y="47101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Straight Arrow Connector 16">
            <a:extLst>
              <a:ext uri="{FF2B5EF4-FFF2-40B4-BE49-F238E27FC236}">
                <a16:creationId xmlns:a16="http://schemas.microsoft.com/office/drawing/2014/main" id="{77772CDC-B08F-3640-B3FB-DFA1CAA9710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076325" y="47244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Arrow Connector 16">
            <a:extLst>
              <a:ext uri="{FF2B5EF4-FFF2-40B4-BE49-F238E27FC236}">
                <a16:creationId xmlns:a16="http://schemas.microsoft.com/office/drawing/2014/main" id="{50F273FB-484E-4242-97A5-7F0497F4BB5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325938" y="4648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Text Box 51">
            <a:extLst>
              <a:ext uri="{FF2B5EF4-FFF2-40B4-BE49-F238E27FC236}">
                <a16:creationId xmlns:a16="http://schemas.microsoft.com/office/drawing/2014/main" id="{2687FECA-0125-1E49-A083-081236344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7150" y="4964113"/>
            <a:ext cx="682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 + 1</a:t>
            </a:r>
          </a:p>
        </p:txBody>
      </p:sp>
      <p:cxnSp>
        <p:nvCxnSpPr>
          <p:cNvPr id="11" name="Straight Arrow Connector 16">
            <a:extLst>
              <a:ext uri="{FF2B5EF4-FFF2-40B4-BE49-F238E27FC236}">
                <a16:creationId xmlns:a16="http://schemas.microsoft.com/office/drawing/2014/main" id="{C2364870-9BB2-7342-8CE3-42B1A8C79B4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332413" y="4648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Rectangle 53">
            <a:extLst>
              <a:ext uri="{FF2B5EF4-FFF2-40B4-BE49-F238E27FC236}">
                <a16:creationId xmlns:a16="http://schemas.microsoft.com/office/drawing/2014/main" id="{A06985CE-4D81-3D41-9D0A-85B78FDF6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4967288"/>
            <a:ext cx="831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Right</a:t>
            </a:r>
            <a:r>
              <a:rPr lang="en-US" altLang="en-US" sz="1800"/>
              <a:t> </a:t>
            </a:r>
          </a:p>
        </p:txBody>
      </p:sp>
      <p:sp>
        <p:nvSpPr>
          <p:cNvPr id="14" name="Slide Number Placeholder 15">
            <a:extLst>
              <a:ext uri="{FF2B5EF4-FFF2-40B4-BE49-F238E27FC236}">
                <a16:creationId xmlns:a16="http://schemas.microsoft.com/office/drawing/2014/main" id="{0921606B-91DA-7E45-90A4-463057F2E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6853A8-71C8-FE4F-8120-EE94EECE6F43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graphicFrame>
        <p:nvGraphicFramePr>
          <p:cNvPr id="15" name="Group 3">
            <a:extLst>
              <a:ext uri="{FF2B5EF4-FFF2-40B4-BE49-F238E27FC236}">
                <a16:creationId xmlns:a16="http://schemas.microsoft.com/office/drawing/2014/main" id="{A7615E8F-2ACB-D64F-AF29-F8143AFF0880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6" name="Straight Arrow Connector 16">
            <a:extLst>
              <a:ext uri="{FF2B5EF4-FFF2-40B4-BE49-F238E27FC236}">
                <a16:creationId xmlns:a16="http://schemas.microsoft.com/office/drawing/2014/main" id="{8216353F-A979-2446-84DF-A38811160D0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205163" y="236378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AFD2BD3-6D36-7F4E-8E5B-051C514C419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9901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Freeform 184">
            <a:extLst>
              <a:ext uri="{FF2B5EF4-FFF2-40B4-BE49-F238E27FC236}">
                <a16:creationId xmlns:a16="http://schemas.microsoft.com/office/drawing/2014/main" id="{DF56977B-D2DA-B244-A529-2FD60D344A22}"/>
              </a:ext>
            </a:extLst>
          </p:cNvPr>
          <p:cNvSpPr>
            <a:spLocks/>
          </p:cNvSpPr>
          <p:nvPr/>
        </p:nvSpPr>
        <p:spPr bwMode="auto">
          <a:xfrm flipH="1" flipV="1">
            <a:off x="3352800" y="1627188"/>
            <a:ext cx="1600200" cy="34766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9" name="Text Box 20">
            <a:extLst>
              <a:ext uri="{FF2B5EF4-FFF2-40B4-BE49-F238E27FC236}">
                <a16:creationId xmlns:a16="http://schemas.microsoft.com/office/drawing/2014/main" id="{5020226B-F7AD-EC4F-B361-98DB5C31A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8800" y="267970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15F58520-ED79-BE4A-A32E-4C6973F06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032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1" name="Text Box 21">
            <a:extLst>
              <a:ext uri="{FF2B5EF4-FFF2-40B4-BE49-F238E27FC236}">
                <a16:creationId xmlns:a16="http://schemas.microsoft.com/office/drawing/2014/main" id="{5AF838FA-1911-6E41-B487-9CC5BB77B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962400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2" name="Text Box 20">
            <a:extLst>
              <a:ext uri="{FF2B5EF4-FFF2-40B4-BE49-F238E27FC236}">
                <a16:creationId xmlns:a16="http://schemas.microsoft.com/office/drawing/2014/main" id="{34669110-8AD3-8B45-B323-45947C0FB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1200" y="459105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2203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2B0FB9-452B-2346-9651-4566C580B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46E951-4C60-2A41-A0F2-D81B3230C557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517525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>
                <a:latin typeface="Trebuchet MS" pitchFamily="34" charset="0"/>
              </a:rPr>
              <a:t>QuickSort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E67FB9-5B3E-3E40-883A-CE9D798228DA}"/>
              </a:ext>
            </a:extLst>
          </p:cNvPr>
          <p:cNvSpPr txBox="1">
            <a:spLocks/>
          </p:cNvSpPr>
          <p:nvPr/>
        </p:nvSpPr>
        <p:spPr>
          <a:xfrm>
            <a:off x="457200" y="1066800"/>
            <a:ext cx="74676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2" charset="2"/>
              <a:buNone/>
            </a:pPr>
            <a:r>
              <a:rPr lang="en-US" altLang="en-US" dirty="0">
                <a:solidFill>
                  <a:srgbClr val="0000CC"/>
                </a:solidFill>
              </a:rPr>
              <a:t>void</a:t>
            </a:r>
            <a:r>
              <a:rPr lang="en-US" altLang="en-US" dirty="0"/>
              <a:t> </a:t>
            </a:r>
            <a:r>
              <a:rPr lang="en-US" altLang="en-US" dirty="0" err="1"/>
              <a:t>quick_sort</a:t>
            </a:r>
            <a:r>
              <a:rPr lang="en-US" altLang="en-US" dirty="0"/>
              <a:t>( </a:t>
            </a:r>
            <a:r>
              <a:rPr lang="en-US" altLang="en-US" dirty="0" err="1"/>
              <a:t>input_type</a:t>
            </a:r>
            <a:r>
              <a:rPr lang="en-US" altLang="en-US" dirty="0"/>
              <a:t> a[ ], unsigned </a:t>
            </a:r>
            <a:r>
              <a:rPr lang="en-US" altLang="en-US" dirty="0" err="1"/>
              <a:t>int</a:t>
            </a:r>
            <a:r>
              <a:rPr lang="en-US" altLang="en-US" dirty="0"/>
              <a:t> n ) </a:t>
            </a:r>
          </a:p>
          <a:p>
            <a:pPr>
              <a:buFont typeface="Wingdings 2" pitchFamily="2" charset="2"/>
              <a:buNone/>
            </a:pPr>
            <a:r>
              <a:rPr lang="en-US" altLang="en-US" dirty="0"/>
              <a:t>    { </a:t>
            </a:r>
          </a:p>
          <a:p>
            <a:pPr>
              <a:buFont typeface="Wingdings 2" pitchFamily="2" charset="2"/>
              <a:buNone/>
            </a:pPr>
            <a:r>
              <a:rPr lang="en-US" altLang="en-US" dirty="0"/>
              <a:t>    </a:t>
            </a:r>
            <a:r>
              <a:rPr lang="en-US" altLang="en-US" dirty="0" err="1"/>
              <a:t>q_sort</a:t>
            </a:r>
            <a:r>
              <a:rPr lang="en-US" altLang="en-US" dirty="0"/>
              <a:t>( a, 0, n-1 ); </a:t>
            </a:r>
          </a:p>
          <a:p>
            <a:pPr>
              <a:buFont typeface="Wingdings 2" pitchFamily="2" charset="2"/>
              <a:buNone/>
            </a:pPr>
            <a:r>
              <a:rPr lang="en-US" altLang="en-US" dirty="0"/>
              <a:t>   }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F2FE566A-2E7E-C54B-905A-028FC32C7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0504A8-1C1E-1A4A-A8DD-9C7B75106609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9081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308094-4E46-2644-A9BD-EC3921323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D2C597-8F69-0346-A4BE-9DF5DD032996}"/>
              </a:ext>
            </a:extLst>
          </p:cNvPr>
          <p:cNvSpPr txBox="1">
            <a:spLocks/>
          </p:cNvSpPr>
          <p:nvPr/>
        </p:nvSpPr>
        <p:spPr bwMode="auto">
          <a:xfrm>
            <a:off x="434897" y="442332"/>
            <a:ext cx="7239000" cy="517525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latin typeface="Trebuchet MS" pitchFamily="34" charset="0"/>
              </a:rPr>
              <a:t>QuickSort: Core Function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76BB95-9AEF-D742-AC94-46B10EE5C12B}"/>
              </a:ext>
            </a:extLst>
          </p:cNvPr>
          <p:cNvSpPr txBox="1">
            <a:spLocks/>
          </p:cNvSpPr>
          <p:nvPr/>
        </p:nvSpPr>
        <p:spPr>
          <a:xfrm>
            <a:off x="434897" y="1158295"/>
            <a:ext cx="7467600" cy="484663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q_sort</a:t>
            </a: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alt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input_type</a:t>
            </a: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a[], </a:t>
            </a:r>
            <a:r>
              <a:rPr lang="en-US" alt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left, </a:t>
            </a:r>
            <a:r>
              <a:rPr lang="en-US" alt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right )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 err="1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, j;  </a:t>
            </a:r>
            <a:r>
              <a:rPr lang="en-US" altLang="en-US" sz="1700" dirty="0" err="1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pivot;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( left + CUTOFF </a:t>
            </a:r>
            <a:r>
              <a:rPr lang="en-US" altLang="en-US" sz="1700" b="1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= right )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   {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    pivot = median3( a, left, right );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alt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= left; j = right - 1;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for </a:t>
            </a: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( ; ; )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            { </a:t>
            </a:r>
          </a:p>
          <a:p>
            <a:pPr marL="742950" lvl="1" indent="-285750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altLang="en-US" sz="1800" dirty="0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altLang="en-US" sz="1800" dirty="0">
                <a:solidFill>
                  <a:srgbClr val="6C2A5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a[++</a:t>
            </a:r>
            <a:r>
              <a:rPr lang="en-US" altLang="en-US" sz="1800" dirty="0" err="1">
                <a:solidFill>
                  <a:srgbClr val="6C2A5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1800" dirty="0">
                <a:solidFill>
                  <a:srgbClr val="6C2A5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</a:t>
            </a:r>
            <a:r>
              <a:rPr lang="en-US" altLang="en-US" sz="1800" b="1" dirty="0">
                <a:solidFill>
                  <a:srgbClr val="6C2A5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en-US" sz="1800" dirty="0">
                <a:solidFill>
                  <a:srgbClr val="6C2A5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pivot ); </a:t>
            </a:r>
          </a:p>
          <a:p>
            <a:pPr marL="742950" lvl="1" indent="-285750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800" dirty="0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while</a:t>
            </a:r>
            <a:r>
              <a:rPr lang="en-US" altLang="en-US" sz="1800" dirty="0">
                <a:solidFill>
                  <a:srgbClr val="6C2A5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a[--j] </a:t>
            </a:r>
            <a:r>
              <a:rPr lang="en-US" altLang="en-US" sz="1800" b="1" dirty="0">
                <a:solidFill>
                  <a:srgbClr val="6C2A5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altLang="en-US" sz="1800" dirty="0">
                <a:solidFill>
                  <a:srgbClr val="6C2A5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pivot ); </a:t>
            </a:r>
          </a:p>
          <a:p>
            <a:pPr marL="742950" lvl="1" indent="-285750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800" dirty="0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if</a:t>
            </a:r>
            <a:r>
              <a:rPr lang="en-US" altLang="en-US" sz="1800" dirty="0">
                <a:solidFill>
                  <a:srgbClr val="6C2A5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altLang="en-US" sz="1800" dirty="0" err="1">
                <a:solidFill>
                  <a:srgbClr val="6C2A5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1800" dirty="0">
                <a:solidFill>
                  <a:srgbClr val="6C2A5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en-US" sz="1800" b="1" dirty="0">
                <a:solidFill>
                  <a:srgbClr val="6C2A5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en-US" sz="1800" dirty="0">
                <a:solidFill>
                  <a:srgbClr val="6C2A5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j ) </a:t>
            </a:r>
          </a:p>
          <a:p>
            <a:pPr marL="742950" lvl="1" indent="-285750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800" dirty="0">
                <a:solidFill>
                  <a:srgbClr val="6C2A5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swap( &amp;a[</a:t>
            </a:r>
            <a:r>
              <a:rPr lang="en-US" altLang="en-US" sz="1800" dirty="0" err="1">
                <a:solidFill>
                  <a:srgbClr val="6C2A5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1800" dirty="0">
                <a:solidFill>
                  <a:srgbClr val="6C2A5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&amp;a[j] ); </a:t>
            </a:r>
          </a:p>
          <a:p>
            <a:pPr marL="742950" lvl="1" indent="-285750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en-US" sz="1800" dirty="0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742950" lvl="1" indent="-285750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800" dirty="0">
                <a:solidFill>
                  <a:srgbClr val="6C2A5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break; </a:t>
            </a:r>
          </a:p>
          <a:p>
            <a:pPr marL="742950" lvl="1" indent="-285750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800" dirty="0">
                <a:solidFill>
                  <a:srgbClr val="6C2A5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} </a:t>
            </a:r>
            <a:r>
              <a:rPr lang="en-US" altLang="en-US" sz="1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//end for loop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    swap( &amp;a[</a:t>
            </a:r>
            <a:r>
              <a:rPr lang="en-US" alt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], &amp;a[right-1] ); </a:t>
            </a:r>
            <a:r>
              <a:rPr lang="en-US" altLang="en-US" sz="17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/*restore pivot*/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q_sort</a:t>
            </a: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( a, left, </a:t>
            </a:r>
            <a:r>
              <a:rPr lang="en-US" alt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-1 ); </a:t>
            </a:r>
            <a:r>
              <a:rPr lang="en-US" altLang="en-US" sz="17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left recursive call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q_sort</a:t>
            </a: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( a, </a:t>
            </a:r>
            <a:r>
              <a:rPr lang="en-US" altLang="en-US" sz="17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 +1, right ); </a:t>
            </a:r>
            <a:r>
              <a:rPr lang="en-US" altLang="en-US" sz="17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altLang="en-US" sz="17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lright</a:t>
            </a:r>
            <a:r>
              <a:rPr lang="en-US" altLang="en-US" sz="17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recursive call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9D4634B-D616-2745-A83E-BD2E76F65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1872" y="6844720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3DBA6D6-047B-054D-AF91-B41DFDB3DC3B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436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C7DF61-DBF2-7943-B759-77807F542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93AA54-B293-1443-A3C3-6AF89470FD20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517525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latin typeface="Trebuchet MS" pitchFamily="34" charset="0"/>
              </a:rPr>
              <a:t>QuickSort: Medians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81A84F-B28B-FD42-AF50-26F6B0F36B3F}"/>
              </a:ext>
            </a:extLst>
          </p:cNvPr>
          <p:cNvSpPr txBox="1">
            <a:spLocks/>
          </p:cNvSpPr>
          <p:nvPr/>
        </p:nvSpPr>
        <p:spPr>
          <a:xfrm>
            <a:off x="457200" y="1410495"/>
            <a:ext cx="74676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/* Return median of left, center, and right. */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/* Order these and hide pivot */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 err="1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median3( </a:t>
            </a:r>
            <a:r>
              <a:rPr lang="en-US" altLang="en-US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input_type</a:t>
            </a:r>
            <a:r>
              <a:rPr lang="en-US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a[], </a:t>
            </a:r>
            <a:r>
              <a:rPr lang="en-US" altLang="en-US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left, </a:t>
            </a:r>
            <a:r>
              <a:rPr lang="en-US" altLang="en-US" sz="21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right )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 err="1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center;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center = (left + right) / 2;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( a[left] </a:t>
            </a:r>
            <a:r>
              <a:rPr lang="en-US" altLang="en-US" sz="2100" b="1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a[center] )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    swap( &amp;a[left], &amp;a[center] );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( a[left] </a:t>
            </a:r>
            <a:r>
              <a:rPr lang="en-US" altLang="en-US" sz="2100" b="1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a[right] )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    swap( &amp;a[left], &amp;a[right] );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( a[center] </a:t>
            </a:r>
            <a:r>
              <a:rPr lang="en-US" altLang="en-US" sz="2100" b="1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a[right] )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    swap( &amp;a[center], &amp;a[right] );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a[left] </a:t>
            </a:r>
            <a:r>
              <a:rPr lang="en-US" altLang="en-US" sz="2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en-US" sz="21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a[center] </a:t>
            </a:r>
            <a:r>
              <a:rPr lang="en-US" altLang="en-US" sz="21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en-US" sz="21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a[right] */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swap( &amp;a[center], &amp;a[right-1] ); </a:t>
            </a:r>
            <a:endParaRPr lang="en-US" altLang="en-US" sz="21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>
                <a:solidFill>
                  <a:srgbClr val="0000C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a[right-1]; /* return pivot */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5FC1E89C-CA84-2747-91B6-6EE429A46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6554788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66AE1C0-F042-4642-852D-2BE1216F8829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505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8A2AB1-FE7D-2D43-AD41-487DA64D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C52AE0-B9E6-A745-B03D-0048698D9193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517525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latin typeface="Trebuchet MS" pitchFamily="34" charset="0"/>
              </a:rPr>
              <a:t>QuickSort: Medians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277640-F708-434B-B84D-499022E330A0}"/>
              </a:ext>
            </a:extLst>
          </p:cNvPr>
          <p:cNvSpPr txBox="1">
            <a:spLocks/>
          </p:cNvSpPr>
          <p:nvPr/>
        </p:nvSpPr>
        <p:spPr>
          <a:xfrm>
            <a:off x="457200" y="1066800"/>
            <a:ext cx="74676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/>
              <a:t>/* Return median of left, center, and right. */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/>
              <a:t>/* Order these and hide pivot */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 err="1">
                <a:solidFill>
                  <a:srgbClr val="0000CC"/>
                </a:solidFill>
              </a:rPr>
              <a:t>int</a:t>
            </a:r>
            <a:r>
              <a:rPr lang="en-US" altLang="en-US" sz="2100" dirty="0"/>
              <a:t> median3( </a:t>
            </a:r>
            <a:r>
              <a:rPr lang="en-US" altLang="en-US" sz="2100" dirty="0" err="1"/>
              <a:t>input_type</a:t>
            </a:r>
            <a:r>
              <a:rPr lang="en-US" altLang="en-US" sz="2100" dirty="0"/>
              <a:t> a[], </a:t>
            </a:r>
            <a:r>
              <a:rPr lang="en-US" altLang="en-US" sz="2100" dirty="0" err="1"/>
              <a:t>int</a:t>
            </a:r>
            <a:r>
              <a:rPr lang="en-US" altLang="en-US" sz="2100" dirty="0"/>
              <a:t> left, </a:t>
            </a:r>
            <a:r>
              <a:rPr lang="en-US" altLang="en-US" sz="2100" dirty="0" err="1"/>
              <a:t>int</a:t>
            </a:r>
            <a:r>
              <a:rPr lang="en-US" altLang="en-US" sz="2100" dirty="0"/>
              <a:t> right )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/>
              <a:t>{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 err="1">
                <a:solidFill>
                  <a:srgbClr val="0000CC"/>
                </a:solidFill>
              </a:rPr>
              <a:t>int</a:t>
            </a:r>
            <a:r>
              <a:rPr lang="en-US" altLang="en-US" sz="2100" dirty="0"/>
              <a:t> center;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/>
              <a:t>center = (left + right) / 2;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>
                <a:solidFill>
                  <a:srgbClr val="0000CC"/>
                </a:solidFill>
              </a:rPr>
              <a:t>if </a:t>
            </a:r>
            <a:r>
              <a:rPr lang="en-US" altLang="en-US" sz="2100" dirty="0"/>
              <a:t>( a[left] </a:t>
            </a:r>
            <a:r>
              <a:rPr lang="en-US" altLang="en-US" sz="2100" b="1" dirty="0"/>
              <a:t>&gt;</a:t>
            </a:r>
            <a:r>
              <a:rPr lang="en-US" altLang="en-US" sz="2100" dirty="0"/>
              <a:t> a[center] )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/>
              <a:t>      swap( &amp;a[left], &amp;a[center] );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>
                <a:solidFill>
                  <a:srgbClr val="0000CC"/>
                </a:solidFill>
              </a:rPr>
              <a:t>if </a:t>
            </a:r>
            <a:r>
              <a:rPr lang="en-US" altLang="en-US" sz="2100" dirty="0"/>
              <a:t>( a[left] </a:t>
            </a:r>
            <a:r>
              <a:rPr lang="en-US" altLang="en-US" sz="2100" b="1" dirty="0"/>
              <a:t>&gt;</a:t>
            </a:r>
            <a:r>
              <a:rPr lang="en-US" altLang="en-US" sz="2100" dirty="0"/>
              <a:t> a[right] )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/>
              <a:t>      swap( &amp;a[left], &amp;a[right] );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>
                <a:solidFill>
                  <a:srgbClr val="0000CC"/>
                </a:solidFill>
              </a:rPr>
              <a:t>if </a:t>
            </a:r>
            <a:r>
              <a:rPr lang="en-US" altLang="en-US" sz="2100" dirty="0"/>
              <a:t>( a[center] </a:t>
            </a:r>
            <a:r>
              <a:rPr lang="en-US" altLang="en-US" sz="2100" b="1" dirty="0"/>
              <a:t>&gt;</a:t>
            </a:r>
            <a:r>
              <a:rPr lang="en-US" altLang="en-US" sz="2100" dirty="0"/>
              <a:t> a[right] )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/>
              <a:t>      swap( &amp;a[center], &amp;a[right] );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>
                <a:solidFill>
                  <a:srgbClr val="FF0000"/>
                </a:solidFill>
              </a:rPr>
              <a:t>/* a[left] </a:t>
            </a:r>
            <a:r>
              <a:rPr lang="en-US" altLang="en-US" sz="2100" b="1" dirty="0">
                <a:solidFill>
                  <a:srgbClr val="FF0000"/>
                </a:solidFill>
              </a:rPr>
              <a:t>&lt;</a:t>
            </a:r>
            <a:r>
              <a:rPr lang="en-US" altLang="en-US" sz="2100" dirty="0">
                <a:solidFill>
                  <a:srgbClr val="FF0000"/>
                </a:solidFill>
              </a:rPr>
              <a:t>= a[center] </a:t>
            </a:r>
            <a:r>
              <a:rPr lang="en-US" altLang="en-US" sz="2100" b="1" dirty="0">
                <a:solidFill>
                  <a:srgbClr val="FF0000"/>
                </a:solidFill>
              </a:rPr>
              <a:t>&lt;</a:t>
            </a:r>
            <a:r>
              <a:rPr lang="en-US" altLang="en-US" sz="2100" dirty="0">
                <a:solidFill>
                  <a:srgbClr val="FF0000"/>
                </a:solidFill>
              </a:rPr>
              <a:t>= a[right] */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/>
              <a:t>swap( &amp;a[center], &amp;a[right-1] ); </a:t>
            </a:r>
            <a:endParaRPr lang="en-US" altLang="en-US" sz="2100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>
                <a:solidFill>
                  <a:srgbClr val="0000CC"/>
                </a:solidFill>
              </a:rPr>
              <a:t>return</a:t>
            </a:r>
            <a:r>
              <a:rPr lang="en-US" altLang="en-US" sz="2100" dirty="0"/>
              <a:t> a[right-1]; </a:t>
            </a:r>
            <a:r>
              <a:rPr lang="en-US" altLang="en-US" sz="2100" dirty="0">
                <a:solidFill>
                  <a:srgbClr val="FF0000"/>
                </a:solidFill>
              </a:rPr>
              <a:t>/* return pivot */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dirty="0"/>
              <a:t>} 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EFE6B83-A9C4-C14A-8B13-3705B642A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7513" y="6553200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B3546AF-5F54-D044-878D-065920158F22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graphicFrame>
        <p:nvGraphicFramePr>
          <p:cNvPr id="7" name="Group 92">
            <a:extLst>
              <a:ext uri="{FF2B5EF4-FFF2-40B4-BE49-F238E27FC236}">
                <a16:creationId xmlns:a16="http://schemas.microsoft.com/office/drawing/2014/main" id="{A87C639F-9213-884F-9062-E4BB8D9C1BAA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6002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 Box 93">
            <a:extLst>
              <a:ext uri="{FF2B5EF4-FFF2-40B4-BE49-F238E27FC236}">
                <a16:creationId xmlns:a16="http://schemas.microsoft.com/office/drawing/2014/main" id="{7E2798B3-075F-5E46-904B-E9FFC5DA6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2373313"/>
            <a:ext cx="1749425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left</a:t>
            </a:r>
          </a:p>
        </p:txBody>
      </p:sp>
      <p:cxnSp>
        <p:nvCxnSpPr>
          <p:cNvPr id="9" name="Straight Arrow Connector 16">
            <a:extLst>
              <a:ext uri="{FF2B5EF4-FFF2-40B4-BE49-F238E27FC236}">
                <a16:creationId xmlns:a16="http://schemas.microsoft.com/office/drawing/2014/main" id="{55EC8168-BB4B-B444-B96B-1A950752FEB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32213" y="1981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Text Box 107">
            <a:extLst>
              <a:ext uri="{FF2B5EF4-FFF2-40B4-BE49-F238E27FC236}">
                <a16:creationId xmlns:a16="http://schemas.microsoft.com/office/drawing/2014/main" id="{DE25816F-4793-E749-9322-077A6FB48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0425" y="2297113"/>
            <a:ext cx="1443038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center</a:t>
            </a:r>
          </a:p>
        </p:txBody>
      </p:sp>
      <p:cxnSp>
        <p:nvCxnSpPr>
          <p:cNvPr id="11" name="Straight Arrow Connector 16">
            <a:extLst>
              <a:ext uri="{FF2B5EF4-FFF2-40B4-BE49-F238E27FC236}">
                <a16:creationId xmlns:a16="http://schemas.microsoft.com/office/drawing/2014/main" id="{F2E59077-D768-C54E-858E-58596D11F28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8563" y="2028825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Text Box 109">
            <a:extLst>
              <a:ext uri="{FF2B5EF4-FFF2-40B4-BE49-F238E27FC236}">
                <a16:creationId xmlns:a16="http://schemas.microsoft.com/office/drawing/2014/main" id="{1CE5CE9B-F8ED-344F-BCBB-9B135F4B1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2344738"/>
            <a:ext cx="982663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right</a:t>
            </a:r>
          </a:p>
        </p:txBody>
      </p:sp>
      <p:cxnSp>
        <p:nvCxnSpPr>
          <p:cNvPr id="13" name="Straight Arrow Connector 16">
            <a:extLst>
              <a:ext uri="{FF2B5EF4-FFF2-40B4-BE49-F238E27FC236}">
                <a16:creationId xmlns:a16="http://schemas.microsoft.com/office/drawing/2014/main" id="{B035F3CE-29BA-9341-B94D-12B55518E61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60413" y="20574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091940C-B2BE-D540-BBCF-D1EF71AE6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3663" y="2924175"/>
            <a:ext cx="8778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8 &gt; 6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37508F4-586A-6C45-B41F-66899B5397FF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6002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376292A-30B9-7D41-AC37-D6E81C55F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2713" y="3700463"/>
            <a:ext cx="8778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6 &gt; 0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DA199F3-7818-4A4B-A16F-4F4902040BD6}"/>
              </a:ext>
            </a:extLst>
          </p:cNvPr>
          <p:cNvGraphicFramePr>
            <a:graphicFrameLocks noGrp="1"/>
          </p:cNvGraphicFramePr>
          <p:nvPr/>
        </p:nvGraphicFramePr>
        <p:xfrm>
          <a:off x="7377113" y="160655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0E9DC58-D199-A343-9CF4-AE1BE1665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3663" y="4343400"/>
            <a:ext cx="8778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8 &gt; 6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7B2B5A5-B639-A24E-83F1-F6555FE85FE6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16002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085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0.00555 L 0.34201 4.34783E-7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14" y="-27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1 -0.00416 L -0.34253 0.00139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22" y="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4409 0.00139 L 0.429 0.00139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646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3 -0.00416 L -0.77031 -4.6346E-6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681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826 0.00624 L 0.7717 0.00069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63" y="-278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2431 0.00763 L 0.00243 0.00069 " pathEditMode="relative" rAng="0" ptsTypes="AA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94" y="-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/>
      <p:bldP spid="16" grpId="0"/>
      <p:bldP spid="1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CEE15C-6C57-3D4E-8832-81EEB7270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51722A-C26D-C94F-906D-F5D69C812234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517525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latin typeface="Trebuchet MS" pitchFamily="34" charset="0"/>
              </a:rPr>
              <a:t>QuickSort: Medians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F0C348-BFB3-0C44-B8F1-6DFE2C6BE825}"/>
              </a:ext>
            </a:extLst>
          </p:cNvPr>
          <p:cNvSpPr txBox="1">
            <a:spLocks/>
          </p:cNvSpPr>
          <p:nvPr/>
        </p:nvSpPr>
        <p:spPr>
          <a:xfrm>
            <a:off x="457200" y="1066800"/>
            <a:ext cx="74676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/>
              <a:t>/* Return median of left, center, and right. */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/>
              <a:t>/* Order these and hide pivot */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int</a:t>
            </a:r>
            <a:r>
              <a:rPr lang="en-US" altLang="en-US" sz="2100"/>
              <a:t> median3( input_type a[], int left, int right )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/>
              <a:t>{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int</a:t>
            </a:r>
            <a:r>
              <a:rPr lang="en-US" altLang="en-US" sz="2100"/>
              <a:t> center;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/>
              <a:t>center = (left + right) / 2;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if </a:t>
            </a:r>
            <a:r>
              <a:rPr lang="en-US" altLang="en-US" sz="2100"/>
              <a:t>( a[left] </a:t>
            </a:r>
            <a:r>
              <a:rPr lang="en-US" altLang="en-US" sz="2100" b="1"/>
              <a:t>&gt;</a:t>
            </a:r>
            <a:r>
              <a:rPr lang="en-US" altLang="en-US" sz="2100"/>
              <a:t> a[center] )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/>
              <a:t>      swap( &amp;a[left], &amp;a[center] );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if </a:t>
            </a:r>
            <a:r>
              <a:rPr lang="en-US" altLang="en-US" sz="2100"/>
              <a:t>( a[left] </a:t>
            </a:r>
            <a:r>
              <a:rPr lang="en-US" altLang="en-US" sz="2100" b="1"/>
              <a:t>&gt;</a:t>
            </a:r>
            <a:r>
              <a:rPr lang="en-US" altLang="en-US" sz="2100"/>
              <a:t> a[right] )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/>
              <a:t>      swap( &amp;a[left], &amp;a[right] );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if </a:t>
            </a:r>
            <a:r>
              <a:rPr lang="en-US" altLang="en-US" sz="2100"/>
              <a:t>( a[center] </a:t>
            </a:r>
            <a:r>
              <a:rPr lang="en-US" altLang="en-US" sz="2100" b="1"/>
              <a:t>&gt;</a:t>
            </a:r>
            <a:r>
              <a:rPr lang="en-US" altLang="en-US" sz="2100"/>
              <a:t> a[right] )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/>
              <a:t>      swap( &amp;a[center], &amp;a[right] );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>
                <a:solidFill>
                  <a:srgbClr val="FF0000"/>
                </a:solidFill>
              </a:rPr>
              <a:t>/* a[left] </a:t>
            </a:r>
            <a:r>
              <a:rPr lang="en-US" altLang="en-US" sz="2100" b="1">
                <a:solidFill>
                  <a:srgbClr val="FF0000"/>
                </a:solidFill>
              </a:rPr>
              <a:t>&lt;</a:t>
            </a:r>
            <a:r>
              <a:rPr lang="en-US" altLang="en-US" sz="2100">
                <a:solidFill>
                  <a:srgbClr val="FF0000"/>
                </a:solidFill>
              </a:rPr>
              <a:t>= a[center] </a:t>
            </a:r>
            <a:r>
              <a:rPr lang="en-US" altLang="en-US" sz="2100" b="1">
                <a:solidFill>
                  <a:srgbClr val="FF0000"/>
                </a:solidFill>
              </a:rPr>
              <a:t>&lt;</a:t>
            </a:r>
            <a:r>
              <a:rPr lang="en-US" altLang="en-US" sz="2100">
                <a:solidFill>
                  <a:srgbClr val="FF0000"/>
                </a:solidFill>
              </a:rPr>
              <a:t>= a[right] */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 b="1">
                <a:solidFill>
                  <a:srgbClr val="4B0096"/>
                </a:solidFill>
              </a:rPr>
              <a:t>swap( &amp;a[center], &amp;a[right-1] );</a:t>
            </a:r>
            <a:r>
              <a:rPr lang="en-US" altLang="en-US" sz="2100" b="1"/>
              <a:t> </a:t>
            </a:r>
            <a:endParaRPr lang="en-US" altLang="en-US" sz="2100" b="1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return</a:t>
            </a:r>
            <a:r>
              <a:rPr lang="en-US" altLang="en-US" sz="2100"/>
              <a:t> a[right-1]; </a:t>
            </a:r>
            <a:endParaRPr lang="en-US" altLang="en-US" sz="210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100"/>
              <a:t>} 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7278670-659D-6844-AA65-6178416F7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7513" y="6553200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51AE7F-E214-784A-B20B-70D7B9D9B988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graphicFrame>
        <p:nvGraphicFramePr>
          <p:cNvPr id="7" name="Group 92">
            <a:extLst>
              <a:ext uri="{FF2B5EF4-FFF2-40B4-BE49-F238E27FC236}">
                <a16:creationId xmlns:a16="http://schemas.microsoft.com/office/drawing/2014/main" id="{087E0234-3A4B-1542-B547-7BF633483736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6002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" name="Straight Arrow Connector 16">
            <a:extLst>
              <a:ext uri="{FF2B5EF4-FFF2-40B4-BE49-F238E27FC236}">
                <a16:creationId xmlns:a16="http://schemas.microsoft.com/office/drawing/2014/main" id="{46D5A39D-76D7-6641-B92D-7D0250EA5C5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32213" y="1981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Text Box 107">
            <a:extLst>
              <a:ext uri="{FF2B5EF4-FFF2-40B4-BE49-F238E27FC236}">
                <a16:creationId xmlns:a16="http://schemas.microsoft.com/office/drawing/2014/main" id="{ABE2087D-9B8F-3040-AC5C-C65140ED6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0425" y="2297113"/>
            <a:ext cx="1443038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center</a:t>
            </a:r>
          </a:p>
        </p:txBody>
      </p:sp>
      <p:cxnSp>
        <p:nvCxnSpPr>
          <p:cNvPr id="10" name="Straight Arrow Connector 16">
            <a:extLst>
              <a:ext uri="{FF2B5EF4-FFF2-40B4-BE49-F238E27FC236}">
                <a16:creationId xmlns:a16="http://schemas.microsoft.com/office/drawing/2014/main" id="{9B55673B-E75B-2246-967D-148EF4CB8A2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862763" y="2028825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 Box 109">
            <a:extLst>
              <a:ext uri="{FF2B5EF4-FFF2-40B4-BE49-F238E27FC236}">
                <a16:creationId xmlns:a16="http://schemas.microsoft.com/office/drawing/2014/main" id="{A9AE42B0-176E-B143-81E7-F07194D12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344738"/>
            <a:ext cx="106680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right -1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6B14753-6923-8048-8BF6-8EE126C1A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3663" y="2924175"/>
            <a:ext cx="8778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8 &gt; 6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50C0F99-A111-C94E-A784-EE85927FB196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6002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TextBox 16">
            <a:extLst>
              <a:ext uri="{FF2B5EF4-FFF2-40B4-BE49-F238E27FC236}">
                <a16:creationId xmlns:a16="http://schemas.microsoft.com/office/drawing/2014/main" id="{6066E134-6263-9049-9F1C-39944BD1F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2713" y="3700463"/>
            <a:ext cx="8778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6 &gt; 0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7F724BC-BD83-674A-98AF-2493A79E732E}"/>
              </a:ext>
            </a:extLst>
          </p:cNvPr>
          <p:cNvGraphicFramePr>
            <a:graphicFrameLocks noGrp="1"/>
          </p:cNvGraphicFramePr>
          <p:nvPr/>
        </p:nvGraphicFramePr>
        <p:xfrm>
          <a:off x="7377113" y="160655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8">
            <a:extLst>
              <a:ext uri="{FF2B5EF4-FFF2-40B4-BE49-F238E27FC236}">
                <a16:creationId xmlns:a16="http://schemas.microsoft.com/office/drawing/2014/main" id="{54D2AFD4-EA9B-D24F-BFA8-9318B47FB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3663" y="4343400"/>
            <a:ext cx="8778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8 &gt; 6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CBCE493-0251-F649-9991-6D74B8B22976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16002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1115B994-C587-C547-A734-C7262B24D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3888" y="5345113"/>
            <a:ext cx="1946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/* hide pivot */ </a:t>
            </a:r>
            <a:endParaRPr lang="en-US" altLang="en-US" sz="2000" b="1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7F04158-8DD9-FF47-8335-E4DD361ADB5E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16002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74BAD3F-BE04-6641-8BB7-1DA663180DFA}"/>
              </a:ext>
            </a:extLst>
          </p:cNvPr>
          <p:cNvGraphicFramePr>
            <a:graphicFrameLocks noGrp="1"/>
          </p:cNvGraphicFramePr>
          <p:nvPr/>
        </p:nvGraphicFramePr>
        <p:xfrm>
          <a:off x="6578600" y="16002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16">
            <a:extLst>
              <a:ext uri="{FF2B5EF4-FFF2-40B4-BE49-F238E27FC236}">
                <a16:creationId xmlns:a16="http://schemas.microsoft.com/office/drawing/2014/main" id="{142D89CE-E665-8746-B8B9-6D8306A8782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862763" y="28194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Text Box 109">
            <a:extLst>
              <a:ext uri="{FF2B5EF4-FFF2-40B4-BE49-F238E27FC236}">
                <a16:creationId xmlns:a16="http://schemas.microsoft.com/office/drawing/2014/main" id="{AA35D884-32A4-9547-8C2B-32AC4CC5A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135313"/>
            <a:ext cx="83820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5C1BB9-7FA3-F04B-B536-CE7542911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7463" y="5710238"/>
            <a:ext cx="2159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/* return pivot */ </a:t>
            </a:r>
            <a:endParaRPr lang="en-US" altLang="en-US" sz="2000" b="1"/>
          </a:p>
        </p:txBody>
      </p:sp>
    </p:spTree>
    <p:extLst>
      <p:ext uri="{BB962C8B-B14F-4D97-AF65-F5344CB8AC3E}">
        <p14:creationId xmlns:p14="http://schemas.microsoft.com/office/powerpoint/2010/main" val="1457102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3 0.00416 L 0.34358 -0.00139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14" y="-278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5 -0.00347 L -0.34341 0.00208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92" y="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 animBg="1"/>
      <p:bldP spid="2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F36869-506C-3246-BADD-271F7C524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94769806-106A-1A42-BF8F-CB35EC785B42}"/>
              </a:ext>
            </a:extLst>
          </p:cNvPr>
          <p:cNvSpPr txBox="1">
            <a:spLocks/>
          </p:cNvSpPr>
          <p:nvPr/>
        </p:nvSpPr>
        <p:spPr bwMode="auto">
          <a:xfrm>
            <a:off x="390292" y="442332"/>
            <a:ext cx="7239000" cy="517525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latin typeface="Trebuchet MS" pitchFamily="34" charset="0"/>
              </a:rPr>
              <a:t>QuickSort: Core Function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EBE5201E-535C-6146-9C9A-BA6C2C512D68}"/>
              </a:ext>
            </a:extLst>
          </p:cNvPr>
          <p:cNvSpPr txBox="1">
            <a:spLocks/>
          </p:cNvSpPr>
          <p:nvPr/>
        </p:nvSpPr>
        <p:spPr>
          <a:xfrm>
            <a:off x="390292" y="1269808"/>
            <a:ext cx="7467600" cy="484663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solidFill>
                  <a:srgbClr val="0000CC"/>
                </a:solidFill>
              </a:rPr>
              <a:t>void</a:t>
            </a:r>
            <a:r>
              <a:rPr lang="en-US" altLang="en-US" sz="1700" dirty="0"/>
              <a:t> </a:t>
            </a:r>
            <a:r>
              <a:rPr lang="en-US" altLang="en-US" sz="1700" dirty="0" err="1"/>
              <a:t>q_sort</a:t>
            </a:r>
            <a:r>
              <a:rPr lang="en-US" altLang="en-US" sz="1700" dirty="0"/>
              <a:t>( </a:t>
            </a:r>
            <a:r>
              <a:rPr lang="en-US" altLang="en-US" sz="1700" dirty="0" err="1"/>
              <a:t>input_type</a:t>
            </a:r>
            <a:r>
              <a:rPr lang="en-US" altLang="en-US" sz="1700" dirty="0"/>
              <a:t> a[], </a:t>
            </a:r>
            <a:r>
              <a:rPr lang="en-US" altLang="en-US" sz="1700" dirty="0" err="1"/>
              <a:t>int</a:t>
            </a:r>
            <a:r>
              <a:rPr lang="en-US" altLang="en-US" sz="1700" dirty="0"/>
              <a:t> left, </a:t>
            </a:r>
            <a:r>
              <a:rPr lang="en-US" altLang="en-US" sz="1700" dirty="0" err="1"/>
              <a:t>int</a:t>
            </a:r>
            <a:r>
              <a:rPr lang="en-US" altLang="en-US" sz="1700" dirty="0"/>
              <a:t> right )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/>
              <a:t>{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 err="1">
                <a:solidFill>
                  <a:srgbClr val="0000CC"/>
                </a:solidFill>
              </a:rPr>
              <a:t>int</a:t>
            </a:r>
            <a:r>
              <a:rPr lang="en-US" altLang="en-US" sz="1700" dirty="0"/>
              <a:t> </a:t>
            </a:r>
            <a:r>
              <a:rPr lang="en-US" altLang="en-US" sz="1700" dirty="0" err="1"/>
              <a:t>i</a:t>
            </a:r>
            <a:r>
              <a:rPr lang="en-US" altLang="en-US" sz="1700" dirty="0"/>
              <a:t>, j;  </a:t>
            </a:r>
            <a:r>
              <a:rPr lang="en-US" altLang="en-US" sz="1700" dirty="0" err="1">
                <a:solidFill>
                  <a:srgbClr val="0000CC"/>
                </a:solidFill>
              </a:rPr>
              <a:t>int</a:t>
            </a:r>
            <a:r>
              <a:rPr lang="en-US" altLang="en-US" sz="1700" dirty="0"/>
              <a:t> pivot;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solidFill>
                  <a:srgbClr val="0000CC"/>
                </a:solidFill>
              </a:rPr>
              <a:t>if</a:t>
            </a:r>
            <a:r>
              <a:rPr lang="en-US" altLang="en-US" sz="1700" dirty="0"/>
              <a:t>( left + CUTOFF </a:t>
            </a:r>
            <a:r>
              <a:rPr lang="en-US" altLang="en-US" sz="1700" b="1" dirty="0"/>
              <a:t>&lt;</a:t>
            </a:r>
            <a:r>
              <a:rPr lang="en-US" altLang="en-US" sz="1700" dirty="0"/>
              <a:t>= right )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/>
              <a:t>    {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/>
              <a:t>     pivot = median3( a, left, right );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/>
              <a:t>     </a:t>
            </a:r>
            <a:r>
              <a:rPr lang="en-US" altLang="en-US" sz="1700" dirty="0" err="1"/>
              <a:t>i</a:t>
            </a:r>
            <a:r>
              <a:rPr lang="en-US" altLang="en-US" sz="1700" dirty="0"/>
              <a:t>=left; j=right-1;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solidFill>
                  <a:srgbClr val="0000CC"/>
                </a:solidFill>
              </a:rPr>
              <a:t>     for </a:t>
            </a:r>
            <a:r>
              <a:rPr lang="en-US" altLang="en-US" sz="1700" dirty="0"/>
              <a:t>( ; ; )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/>
              <a:t>             { </a:t>
            </a:r>
          </a:p>
          <a:p>
            <a:pPr marL="742950" lvl="1" indent="-285750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600" dirty="0"/>
              <a:t>     </a:t>
            </a:r>
            <a:r>
              <a:rPr lang="en-US" altLang="en-US" sz="1800" dirty="0">
                <a:solidFill>
                  <a:srgbClr val="0000CC"/>
                </a:solidFill>
              </a:rPr>
              <a:t>while </a:t>
            </a:r>
            <a:r>
              <a:rPr lang="en-US" altLang="en-US" sz="1800" dirty="0">
                <a:solidFill>
                  <a:srgbClr val="6C2A5E"/>
                </a:solidFill>
              </a:rPr>
              <a:t>( a[++</a:t>
            </a:r>
            <a:r>
              <a:rPr lang="en-US" altLang="en-US" sz="1800" dirty="0" err="1">
                <a:solidFill>
                  <a:srgbClr val="6C2A5E"/>
                </a:solidFill>
              </a:rPr>
              <a:t>i</a:t>
            </a:r>
            <a:r>
              <a:rPr lang="en-US" altLang="en-US" sz="1800" dirty="0">
                <a:solidFill>
                  <a:srgbClr val="6C2A5E"/>
                </a:solidFill>
              </a:rPr>
              <a:t>] </a:t>
            </a:r>
            <a:r>
              <a:rPr lang="en-US" altLang="en-US" sz="1800" b="1" dirty="0">
                <a:solidFill>
                  <a:srgbClr val="6C2A5E"/>
                </a:solidFill>
              </a:rPr>
              <a:t>&lt;</a:t>
            </a:r>
            <a:r>
              <a:rPr lang="en-US" altLang="en-US" sz="1800" dirty="0">
                <a:solidFill>
                  <a:srgbClr val="6C2A5E"/>
                </a:solidFill>
              </a:rPr>
              <a:t> pivot );</a:t>
            </a:r>
            <a:r>
              <a:rPr lang="en-US" altLang="en-US" sz="1800" dirty="0"/>
              <a:t> </a:t>
            </a:r>
          </a:p>
          <a:p>
            <a:pPr marL="742950" lvl="1" indent="-285750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800" dirty="0">
                <a:solidFill>
                  <a:srgbClr val="0000CC"/>
                </a:solidFill>
              </a:rPr>
              <a:t>     while </a:t>
            </a:r>
            <a:r>
              <a:rPr lang="en-US" altLang="en-US" sz="1800" dirty="0">
                <a:solidFill>
                  <a:srgbClr val="6C2A5E"/>
                </a:solidFill>
              </a:rPr>
              <a:t>( a[--j] </a:t>
            </a:r>
            <a:r>
              <a:rPr lang="en-US" altLang="en-US" sz="1800" b="1" dirty="0">
                <a:solidFill>
                  <a:srgbClr val="6C2A5E"/>
                </a:solidFill>
              </a:rPr>
              <a:t>&gt;</a:t>
            </a:r>
            <a:r>
              <a:rPr lang="en-US" altLang="en-US" sz="1800" dirty="0">
                <a:solidFill>
                  <a:srgbClr val="6C2A5E"/>
                </a:solidFill>
              </a:rPr>
              <a:t> pivot ); </a:t>
            </a:r>
          </a:p>
          <a:p>
            <a:pPr marL="742950" lvl="1" indent="-285750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800" dirty="0">
                <a:solidFill>
                  <a:srgbClr val="0000CC"/>
                </a:solidFill>
              </a:rPr>
              <a:t>      if </a:t>
            </a:r>
            <a:r>
              <a:rPr lang="en-US" altLang="en-US" sz="1800" dirty="0">
                <a:solidFill>
                  <a:srgbClr val="6C2A5E"/>
                </a:solidFill>
              </a:rPr>
              <a:t>( </a:t>
            </a:r>
            <a:r>
              <a:rPr lang="en-US" altLang="en-US" sz="1800" dirty="0" err="1">
                <a:solidFill>
                  <a:srgbClr val="6C2A5E"/>
                </a:solidFill>
              </a:rPr>
              <a:t>i</a:t>
            </a:r>
            <a:r>
              <a:rPr lang="en-US" altLang="en-US" sz="1800" dirty="0">
                <a:solidFill>
                  <a:srgbClr val="6C2A5E"/>
                </a:solidFill>
              </a:rPr>
              <a:t> </a:t>
            </a:r>
            <a:r>
              <a:rPr lang="en-US" altLang="en-US" sz="1800" b="1" dirty="0">
                <a:solidFill>
                  <a:srgbClr val="6C2A5E"/>
                </a:solidFill>
              </a:rPr>
              <a:t>&lt;</a:t>
            </a:r>
            <a:r>
              <a:rPr lang="en-US" altLang="en-US" sz="1800" dirty="0">
                <a:solidFill>
                  <a:srgbClr val="6C2A5E"/>
                </a:solidFill>
              </a:rPr>
              <a:t> j ) </a:t>
            </a:r>
          </a:p>
          <a:p>
            <a:pPr marL="742950" lvl="1" indent="-285750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800" dirty="0"/>
              <a:t>          </a:t>
            </a:r>
            <a:r>
              <a:rPr lang="en-US" altLang="en-US" sz="1800" dirty="0">
                <a:solidFill>
                  <a:srgbClr val="6C2A5E"/>
                </a:solidFill>
              </a:rPr>
              <a:t>swap( &amp;a[</a:t>
            </a:r>
            <a:r>
              <a:rPr lang="en-US" altLang="en-US" sz="1800" dirty="0" err="1">
                <a:solidFill>
                  <a:srgbClr val="6C2A5E"/>
                </a:solidFill>
              </a:rPr>
              <a:t>i</a:t>
            </a:r>
            <a:r>
              <a:rPr lang="en-US" altLang="en-US" sz="1800" dirty="0">
                <a:solidFill>
                  <a:srgbClr val="6C2A5E"/>
                </a:solidFill>
              </a:rPr>
              <a:t>], &amp;a[j] </a:t>
            </a:r>
            <a:r>
              <a:rPr lang="en-US" altLang="en-US" sz="1800" dirty="0"/>
              <a:t>); </a:t>
            </a:r>
          </a:p>
          <a:p>
            <a:pPr marL="742950" lvl="1" indent="-285750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800" dirty="0"/>
              <a:t>      </a:t>
            </a:r>
            <a:r>
              <a:rPr lang="en-US" altLang="en-US" sz="1800" dirty="0">
                <a:solidFill>
                  <a:srgbClr val="0000CC"/>
                </a:solidFill>
              </a:rPr>
              <a:t>else</a:t>
            </a:r>
            <a:r>
              <a:rPr lang="en-US" altLang="en-US" sz="1800" dirty="0"/>
              <a:t> </a:t>
            </a:r>
          </a:p>
          <a:p>
            <a:pPr marL="742950" lvl="1" indent="-285750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800" dirty="0">
                <a:solidFill>
                  <a:srgbClr val="6C2A5E"/>
                </a:solidFill>
              </a:rPr>
              <a:t>           break; </a:t>
            </a:r>
          </a:p>
          <a:p>
            <a:pPr marL="742950" lvl="1" indent="-285750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800" dirty="0"/>
              <a:t>      } </a:t>
            </a:r>
            <a:r>
              <a:rPr lang="en-US" altLang="en-US" sz="1800" dirty="0">
                <a:solidFill>
                  <a:srgbClr val="FF0000"/>
                </a:solidFill>
              </a:rPr>
              <a:t>//end for loop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/>
              <a:t>     swap( &amp;a[</a:t>
            </a:r>
            <a:r>
              <a:rPr lang="en-US" altLang="en-US" sz="1700" dirty="0" err="1"/>
              <a:t>i</a:t>
            </a:r>
            <a:r>
              <a:rPr lang="en-US" altLang="en-US" sz="1700" dirty="0"/>
              <a:t>], &amp;a[right-1] ); </a:t>
            </a:r>
            <a:endParaRPr lang="en-US" altLang="en-US" sz="1700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/>
              <a:t>      </a:t>
            </a:r>
            <a:r>
              <a:rPr lang="en-US" altLang="en-US" sz="1700" dirty="0" err="1"/>
              <a:t>q_sort</a:t>
            </a:r>
            <a:r>
              <a:rPr lang="en-US" altLang="en-US" sz="1700" dirty="0"/>
              <a:t>( a, left, i-1 ); </a:t>
            </a:r>
            <a:endParaRPr lang="en-US" altLang="en-US" sz="1700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/>
              <a:t>      </a:t>
            </a:r>
            <a:r>
              <a:rPr lang="en-US" altLang="en-US" sz="1700" dirty="0" err="1"/>
              <a:t>q_sort</a:t>
            </a:r>
            <a:r>
              <a:rPr lang="en-US" altLang="en-US" sz="1700" dirty="0"/>
              <a:t>( a, i+1, right ); </a:t>
            </a:r>
            <a:endParaRPr lang="en-US" altLang="en-US" sz="1700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solidFill>
                  <a:srgbClr val="FF0000"/>
                </a:solidFill>
              </a:rPr>
              <a:t>    </a:t>
            </a:r>
            <a:r>
              <a:rPr lang="en-US" altLang="en-US" sz="1700" dirty="0"/>
              <a:t>}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/>
              <a:t>} </a:t>
            </a:r>
          </a:p>
        </p:txBody>
      </p:sp>
      <p:sp>
        <p:nvSpPr>
          <p:cNvPr id="26" name="Slide Number Placeholder 4">
            <a:extLst>
              <a:ext uri="{FF2B5EF4-FFF2-40B4-BE49-F238E27FC236}">
                <a16:creationId xmlns:a16="http://schemas.microsoft.com/office/drawing/2014/main" id="{517D0D0D-6E61-ED44-9F6C-70AE527C4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267" y="6844720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BF5C1C-7BCA-E74C-A2DB-151FCFC8BC7D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graphicFrame>
        <p:nvGraphicFramePr>
          <p:cNvPr id="27" name="Group 92">
            <a:extLst>
              <a:ext uri="{FF2B5EF4-FFF2-40B4-BE49-F238E27FC236}">
                <a16:creationId xmlns:a16="http://schemas.microsoft.com/office/drawing/2014/main" id="{9EFC9F52-7089-984D-9595-AE94AE221C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494858"/>
              </p:ext>
            </p:extLst>
          </p:nvPr>
        </p:nvGraphicFramePr>
        <p:xfrm>
          <a:off x="237892" y="1432932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Text Box 93">
            <a:extLst>
              <a:ext uri="{FF2B5EF4-FFF2-40B4-BE49-F238E27FC236}">
                <a16:creationId xmlns:a16="http://schemas.microsoft.com/office/drawing/2014/main" id="{C13DD52B-8468-D14F-ADF2-679BF9E8D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05" y="1842507"/>
            <a:ext cx="2960687" cy="646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endParaRPr lang="en-US" b="1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b="1" dirty="0" err="1">
                <a:solidFill>
                  <a:srgbClr val="FF0000"/>
                </a:solidFill>
                <a:latin typeface="+mj-lt"/>
                <a:cs typeface="Times New Roman" pitchFamily="18" charset="0"/>
              </a:rPr>
              <a:t>i</a:t>
            </a:r>
            <a:r>
              <a:rPr lang="en-US" b="1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 = left</a:t>
            </a:r>
          </a:p>
        </p:txBody>
      </p:sp>
      <p:sp>
        <p:nvSpPr>
          <p:cNvPr id="29" name="Text Box 109">
            <a:extLst>
              <a:ext uri="{FF2B5EF4-FFF2-40B4-BE49-F238E27FC236}">
                <a16:creationId xmlns:a16="http://schemas.microsoft.com/office/drawing/2014/main" id="{892EF21E-4852-4341-8B34-5AC816DB0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3892" y="1980620"/>
            <a:ext cx="1447800" cy="3698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b="1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j = right -1</a:t>
            </a:r>
          </a:p>
        </p:txBody>
      </p:sp>
      <p:cxnSp>
        <p:nvCxnSpPr>
          <p:cNvPr id="30" name="Straight Arrow Connector 16">
            <a:extLst>
              <a:ext uri="{FF2B5EF4-FFF2-40B4-BE49-F238E27FC236}">
                <a16:creationId xmlns:a16="http://schemas.microsoft.com/office/drawing/2014/main" id="{C3087358-AE2D-B94F-A8EA-07C2D0DEF44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93505" y="1890132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E17781E1-6FB2-814B-8DDD-3420C4699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082645"/>
              </p:ext>
            </p:extLst>
          </p:nvPr>
        </p:nvGraphicFramePr>
        <p:xfrm>
          <a:off x="237892" y="1432932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1242AC8A-BE0D-D249-B48F-F25778DD4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619832"/>
              </p:ext>
            </p:extLst>
          </p:nvPr>
        </p:nvGraphicFramePr>
        <p:xfrm>
          <a:off x="7310205" y="1439282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76ED615D-41FB-4E47-9104-F2CB1F5DCA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280013"/>
              </p:ext>
            </p:extLst>
          </p:nvPr>
        </p:nvGraphicFramePr>
        <p:xfrm>
          <a:off x="3362092" y="1432932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" name="Text Box 109">
            <a:extLst>
              <a:ext uri="{FF2B5EF4-FFF2-40B4-BE49-F238E27FC236}">
                <a16:creationId xmlns:a16="http://schemas.microsoft.com/office/drawing/2014/main" id="{54550F54-BE87-194C-8B5E-C94B234BA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8692" y="2499732"/>
            <a:ext cx="838200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F572739-949D-7B4F-9908-EB1D742DF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492" y="3014082"/>
            <a:ext cx="457200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 /*</a:t>
            </a:r>
            <a:r>
              <a:rPr lang="en-US" altLang="en-US" sz="1800">
                <a:solidFill>
                  <a:srgbClr val="FF0000"/>
                </a:solidFill>
              </a:rPr>
              <a:t>  while </a:t>
            </a: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i="1">
                <a:solidFill>
                  <a:srgbClr val="FF0000"/>
                </a:solidFill>
              </a:rPr>
              <a:t> </a:t>
            </a:r>
            <a:r>
              <a:rPr lang="en-US" altLang="en-US" sz="1800">
                <a:solidFill>
                  <a:srgbClr val="FF0000"/>
                </a:solidFill>
              </a:rPr>
              <a:t>is to the </a:t>
            </a:r>
            <a:r>
              <a:rPr lang="en-US" altLang="en-US" sz="1800">
                <a:solidFill>
                  <a:srgbClr val="0000CC"/>
                </a:solidFill>
              </a:rPr>
              <a:t>left</a:t>
            </a:r>
            <a:r>
              <a:rPr lang="en-US" altLang="en-US" sz="1800">
                <a:solidFill>
                  <a:srgbClr val="FF0000"/>
                </a:solidFill>
              </a:rPr>
              <a:t> of </a:t>
            </a:r>
            <a:r>
              <a:rPr lang="en-US" altLang="en-US" sz="1800" b="1" i="1">
                <a:solidFill>
                  <a:srgbClr val="0000CC"/>
                </a:solidFill>
              </a:rPr>
              <a:t>j</a:t>
            </a:r>
            <a:r>
              <a:rPr lang="en-US" altLang="en-US" sz="1800">
                <a:solidFill>
                  <a:srgbClr val="0000CC"/>
                </a:solidFill>
              </a:rPr>
              <a:t>,</a:t>
            </a:r>
            <a:r>
              <a:rPr lang="en-US" altLang="en-US" sz="1800">
                <a:solidFill>
                  <a:srgbClr val="FF0000"/>
                </a:solidFill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en-US" sz="1800">
                <a:solidFill>
                  <a:srgbClr val="FF0000"/>
                </a:solidFill>
              </a:rPr>
              <a:t>move </a:t>
            </a: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>
                <a:solidFill>
                  <a:srgbClr val="FF0000"/>
                </a:solidFill>
              </a:rPr>
              <a:t> </a:t>
            </a:r>
            <a:r>
              <a:rPr lang="en-US" altLang="en-US" sz="1800" b="1">
                <a:solidFill>
                  <a:srgbClr val="FF0000"/>
                </a:solidFill>
              </a:rPr>
              <a:t>right</a:t>
            </a:r>
            <a:r>
              <a:rPr lang="en-US" altLang="en-US" sz="1800">
                <a:solidFill>
                  <a:srgbClr val="FF0000"/>
                </a:solidFill>
              </a:rPr>
              <a:t>, skipping over elements </a:t>
            </a:r>
            <a:r>
              <a:rPr lang="en-US" altLang="en-US" sz="1800" b="1">
                <a:solidFill>
                  <a:srgbClr val="FF0000"/>
                </a:solidFill>
              </a:rPr>
              <a:t>smaller</a:t>
            </a:r>
            <a:r>
              <a:rPr lang="en-US" altLang="en-US" sz="1800">
                <a:solidFill>
                  <a:srgbClr val="FF0000"/>
                </a:solidFill>
              </a:rPr>
              <a:t> than the </a:t>
            </a:r>
            <a:r>
              <a:rPr lang="en-US" altLang="en-US" sz="1800">
                <a:solidFill>
                  <a:srgbClr val="0000CC"/>
                </a:solidFill>
              </a:rPr>
              <a:t>pivot</a:t>
            </a:r>
          </a:p>
          <a:p>
            <a:pPr lvl="1">
              <a:lnSpc>
                <a:spcPct val="90000"/>
              </a:lnSpc>
            </a:pPr>
            <a:r>
              <a:rPr lang="en-US" altLang="en-US" sz="1800">
                <a:solidFill>
                  <a:srgbClr val="FF0000"/>
                </a:solidFill>
              </a:rPr>
              <a:t>move </a:t>
            </a:r>
            <a:r>
              <a:rPr lang="en-US" altLang="en-US" sz="1800" b="1" i="1">
                <a:solidFill>
                  <a:srgbClr val="0000CC"/>
                </a:solidFill>
              </a:rPr>
              <a:t>j</a:t>
            </a:r>
            <a:r>
              <a:rPr lang="en-US" altLang="en-US" sz="1800">
                <a:solidFill>
                  <a:srgbClr val="FF0000"/>
                </a:solidFill>
              </a:rPr>
              <a:t> </a:t>
            </a:r>
            <a:r>
              <a:rPr lang="en-US" altLang="en-US" sz="1800" b="1">
                <a:solidFill>
                  <a:srgbClr val="FF0000"/>
                </a:solidFill>
              </a:rPr>
              <a:t>left</a:t>
            </a:r>
            <a:r>
              <a:rPr lang="en-US" altLang="en-US" sz="1800">
                <a:solidFill>
                  <a:srgbClr val="FF0000"/>
                </a:solidFill>
              </a:rPr>
              <a:t>, skipping over elements </a:t>
            </a:r>
            <a:r>
              <a:rPr lang="en-US" altLang="en-US" sz="1800" b="1">
                <a:solidFill>
                  <a:srgbClr val="FF0000"/>
                </a:solidFill>
              </a:rPr>
              <a:t>larger</a:t>
            </a:r>
            <a:r>
              <a:rPr lang="en-US" altLang="en-US" sz="1800">
                <a:solidFill>
                  <a:srgbClr val="FF0000"/>
                </a:solidFill>
              </a:rPr>
              <a:t> than the </a:t>
            </a:r>
            <a:r>
              <a:rPr lang="en-US" altLang="en-US" sz="1800">
                <a:solidFill>
                  <a:srgbClr val="0000CC"/>
                </a:solidFill>
              </a:rPr>
              <a:t>pivot</a:t>
            </a:r>
            <a:r>
              <a:rPr lang="en-US" altLang="en-US" sz="1800"/>
              <a:t>.    </a:t>
            </a:r>
            <a:r>
              <a:rPr lang="en-US" altLang="en-US" sz="1800" b="1">
                <a:solidFill>
                  <a:srgbClr val="FF0000"/>
                </a:solidFill>
              </a:rPr>
              <a:t>*/</a:t>
            </a:r>
          </a:p>
        </p:txBody>
      </p:sp>
      <p:cxnSp>
        <p:nvCxnSpPr>
          <p:cNvPr id="36" name="Straight Arrow Connector 16">
            <a:extLst>
              <a:ext uri="{FF2B5EF4-FFF2-40B4-BE49-F238E27FC236}">
                <a16:creationId xmlns:a16="http://schemas.microsoft.com/office/drawing/2014/main" id="{EC1BDFC4-FCC3-9C4C-AFA3-34F43F62FC7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789505" y="1813932"/>
            <a:ext cx="1587" cy="2286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Straight Arrow Connector 16">
            <a:extLst>
              <a:ext uri="{FF2B5EF4-FFF2-40B4-BE49-F238E27FC236}">
                <a16:creationId xmlns:a16="http://schemas.microsoft.com/office/drawing/2014/main" id="{681E42CD-C3F9-2645-84BA-9A3EC21975A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024455" y="2323520"/>
            <a:ext cx="1587" cy="2286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55CE1FCE-454C-8644-BCE9-24EE82B06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6892" y="4574595"/>
            <a:ext cx="3962400" cy="66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/* If </a:t>
            </a: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>
                <a:solidFill>
                  <a:srgbClr val="FF0000"/>
                </a:solidFill>
              </a:rPr>
              <a:t> is to the left of </a:t>
            </a:r>
            <a:r>
              <a:rPr lang="en-US" altLang="en-US" sz="1800" b="1" i="1">
                <a:solidFill>
                  <a:srgbClr val="0000CC"/>
                </a:solidFill>
              </a:rPr>
              <a:t>j</a:t>
            </a:r>
            <a:r>
              <a:rPr lang="en-US" altLang="en-US" sz="1800">
                <a:solidFill>
                  <a:srgbClr val="FF0000"/>
                </a:solidFill>
              </a:rPr>
              <a:t>, </a:t>
            </a:r>
          </a:p>
          <a:p>
            <a:pPr lvl="1">
              <a:lnSpc>
                <a:spcPct val="90000"/>
              </a:lnSpc>
            </a:pPr>
            <a:r>
              <a:rPr lang="en-US" altLang="en-US" sz="1800">
                <a:solidFill>
                  <a:srgbClr val="FF0000"/>
                </a:solidFill>
              </a:rPr>
              <a:t>those elements are swapped  */ </a:t>
            </a:r>
          </a:p>
        </p:txBody>
      </p:sp>
      <p:cxnSp>
        <p:nvCxnSpPr>
          <p:cNvPr id="39" name="Straight Arrow Connector 16">
            <a:extLst>
              <a:ext uri="{FF2B5EF4-FFF2-40B4-BE49-F238E27FC236}">
                <a16:creationId xmlns:a16="http://schemas.microsoft.com/office/drawing/2014/main" id="{3D051F23-0A98-EA4B-AED8-C2DD7285CCB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665305" y="1825045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Text Box 107">
            <a:extLst>
              <a:ext uri="{FF2B5EF4-FFF2-40B4-BE49-F238E27FC236}">
                <a16:creationId xmlns:a16="http://schemas.microsoft.com/office/drawing/2014/main" id="{44380674-829D-7241-8B30-F5E5AAFB3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517" y="2063170"/>
            <a:ext cx="1443038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center</a:t>
            </a: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6FC5FA34-62F5-6240-9F48-5C23D91E92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311852"/>
              </p:ext>
            </p:extLst>
          </p:nvPr>
        </p:nvGraphicFramePr>
        <p:xfrm>
          <a:off x="3362092" y="1432932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5CA0B876-BAB2-C34D-B39D-679EF6CAB1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317492"/>
              </p:ext>
            </p:extLst>
          </p:nvPr>
        </p:nvGraphicFramePr>
        <p:xfrm>
          <a:off x="6525980" y="1432932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9860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4" grpId="0" animBg="1"/>
      <p:bldP spid="35" grpId="0"/>
      <p:bldP spid="38" grpId="0"/>
      <p:bldP spid="4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944BE8-39E4-FE45-B45B-B4B1E25A1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2AD110-4282-A549-ACF1-3E6665CFCF8A}"/>
              </a:ext>
            </a:extLst>
          </p:cNvPr>
          <p:cNvSpPr txBox="1">
            <a:spLocks/>
          </p:cNvSpPr>
          <p:nvPr/>
        </p:nvSpPr>
        <p:spPr bwMode="auto">
          <a:xfrm>
            <a:off x="412595" y="420029"/>
            <a:ext cx="7239000" cy="517525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latin typeface="Trebuchet MS" pitchFamily="34" charset="0"/>
              </a:rPr>
              <a:t>QuickSort: Core Function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7BC1AF-B4F4-ED45-8BF2-36F1DB47EC50}"/>
              </a:ext>
            </a:extLst>
          </p:cNvPr>
          <p:cNvSpPr txBox="1">
            <a:spLocks/>
          </p:cNvSpPr>
          <p:nvPr/>
        </p:nvSpPr>
        <p:spPr>
          <a:xfrm>
            <a:off x="412595" y="1277666"/>
            <a:ext cx="7467600" cy="484663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solidFill>
                  <a:srgbClr val="0000CC"/>
                </a:solidFill>
              </a:rPr>
              <a:t>void</a:t>
            </a:r>
            <a:r>
              <a:rPr lang="en-US" altLang="en-US" sz="1700" dirty="0"/>
              <a:t> </a:t>
            </a:r>
            <a:r>
              <a:rPr lang="en-US" altLang="en-US" sz="1700" dirty="0" err="1"/>
              <a:t>q_sort</a:t>
            </a:r>
            <a:r>
              <a:rPr lang="en-US" altLang="en-US" sz="1700" dirty="0"/>
              <a:t>( </a:t>
            </a:r>
            <a:r>
              <a:rPr lang="en-US" altLang="en-US" sz="1700" dirty="0" err="1"/>
              <a:t>input_type</a:t>
            </a:r>
            <a:r>
              <a:rPr lang="en-US" altLang="en-US" sz="1700" dirty="0"/>
              <a:t> a[], </a:t>
            </a:r>
            <a:r>
              <a:rPr lang="en-US" altLang="en-US" sz="1700" dirty="0" err="1"/>
              <a:t>int</a:t>
            </a:r>
            <a:r>
              <a:rPr lang="en-US" altLang="en-US" sz="1700" dirty="0"/>
              <a:t> left, </a:t>
            </a:r>
            <a:r>
              <a:rPr lang="en-US" altLang="en-US" sz="1700" dirty="0" err="1"/>
              <a:t>int</a:t>
            </a:r>
            <a:r>
              <a:rPr lang="en-US" altLang="en-US" sz="1700" dirty="0"/>
              <a:t> right )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/>
              <a:t>{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 err="1">
                <a:solidFill>
                  <a:srgbClr val="0000CC"/>
                </a:solidFill>
              </a:rPr>
              <a:t>int</a:t>
            </a:r>
            <a:r>
              <a:rPr lang="en-US" altLang="en-US" sz="1700" dirty="0"/>
              <a:t> </a:t>
            </a:r>
            <a:r>
              <a:rPr lang="en-US" altLang="en-US" sz="1700" dirty="0" err="1"/>
              <a:t>i</a:t>
            </a:r>
            <a:r>
              <a:rPr lang="en-US" altLang="en-US" sz="1700" dirty="0"/>
              <a:t>, j;  </a:t>
            </a:r>
            <a:r>
              <a:rPr lang="en-US" altLang="en-US" sz="1700" dirty="0" err="1">
                <a:solidFill>
                  <a:srgbClr val="0000CC"/>
                </a:solidFill>
              </a:rPr>
              <a:t>int</a:t>
            </a:r>
            <a:r>
              <a:rPr lang="en-US" altLang="en-US" sz="1700" dirty="0"/>
              <a:t> pivot;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solidFill>
                  <a:srgbClr val="0000CC"/>
                </a:solidFill>
              </a:rPr>
              <a:t>if</a:t>
            </a:r>
            <a:r>
              <a:rPr lang="en-US" altLang="en-US" sz="1700" dirty="0"/>
              <a:t>( left + CUTOFF </a:t>
            </a:r>
            <a:r>
              <a:rPr lang="en-US" altLang="en-US" sz="1700" b="1" dirty="0"/>
              <a:t>&lt;</a:t>
            </a:r>
            <a:r>
              <a:rPr lang="en-US" altLang="en-US" sz="1700" dirty="0"/>
              <a:t>= right )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/>
              <a:t>    {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/>
              <a:t>     pivot = median3( a, left, right );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/>
              <a:t>     </a:t>
            </a:r>
            <a:r>
              <a:rPr lang="en-US" altLang="en-US" sz="1700" dirty="0" err="1"/>
              <a:t>i</a:t>
            </a:r>
            <a:r>
              <a:rPr lang="en-US" altLang="en-US" sz="1700" dirty="0"/>
              <a:t>=left; j=right-1;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solidFill>
                  <a:srgbClr val="0000CC"/>
                </a:solidFill>
              </a:rPr>
              <a:t>     for </a:t>
            </a:r>
            <a:r>
              <a:rPr lang="en-US" altLang="en-US" sz="1700" dirty="0"/>
              <a:t>( ; ; )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/>
              <a:t>             { </a:t>
            </a:r>
          </a:p>
          <a:p>
            <a:pPr marL="742950" lvl="1" indent="-285750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600" dirty="0"/>
              <a:t>     </a:t>
            </a:r>
            <a:r>
              <a:rPr lang="en-US" altLang="en-US" sz="1800" dirty="0">
                <a:solidFill>
                  <a:srgbClr val="0000CC"/>
                </a:solidFill>
              </a:rPr>
              <a:t>while </a:t>
            </a:r>
            <a:r>
              <a:rPr lang="en-US" altLang="en-US" sz="1800" dirty="0">
                <a:solidFill>
                  <a:srgbClr val="6C2A5E"/>
                </a:solidFill>
              </a:rPr>
              <a:t>( a[++</a:t>
            </a:r>
            <a:r>
              <a:rPr lang="en-US" altLang="en-US" sz="1800" dirty="0" err="1">
                <a:solidFill>
                  <a:srgbClr val="6C2A5E"/>
                </a:solidFill>
              </a:rPr>
              <a:t>i</a:t>
            </a:r>
            <a:r>
              <a:rPr lang="en-US" altLang="en-US" sz="1800" dirty="0">
                <a:solidFill>
                  <a:srgbClr val="6C2A5E"/>
                </a:solidFill>
              </a:rPr>
              <a:t>] </a:t>
            </a:r>
            <a:r>
              <a:rPr lang="en-US" altLang="en-US" sz="1800" b="1" dirty="0">
                <a:solidFill>
                  <a:srgbClr val="6C2A5E"/>
                </a:solidFill>
              </a:rPr>
              <a:t>&lt;</a:t>
            </a:r>
            <a:r>
              <a:rPr lang="en-US" altLang="en-US" sz="1800" dirty="0">
                <a:solidFill>
                  <a:srgbClr val="6C2A5E"/>
                </a:solidFill>
              </a:rPr>
              <a:t> pivot ); </a:t>
            </a:r>
          </a:p>
          <a:p>
            <a:pPr marL="742950" lvl="1" indent="-285750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800" dirty="0">
                <a:solidFill>
                  <a:srgbClr val="0000CC"/>
                </a:solidFill>
              </a:rPr>
              <a:t>     while</a:t>
            </a:r>
            <a:r>
              <a:rPr lang="en-US" altLang="en-US" sz="1800" dirty="0">
                <a:solidFill>
                  <a:srgbClr val="6C2A5E"/>
                </a:solidFill>
              </a:rPr>
              <a:t> ( a[--j] </a:t>
            </a:r>
            <a:r>
              <a:rPr lang="en-US" altLang="en-US" sz="1800" b="1" dirty="0">
                <a:solidFill>
                  <a:srgbClr val="6C2A5E"/>
                </a:solidFill>
              </a:rPr>
              <a:t>&gt;</a:t>
            </a:r>
            <a:r>
              <a:rPr lang="en-US" altLang="en-US" sz="1800" dirty="0">
                <a:solidFill>
                  <a:srgbClr val="6C2A5E"/>
                </a:solidFill>
              </a:rPr>
              <a:t> pivot ); </a:t>
            </a:r>
          </a:p>
          <a:p>
            <a:pPr marL="742950" lvl="1" indent="-285750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800" dirty="0">
                <a:solidFill>
                  <a:srgbClr val="0000CC"/>
                </a:solidFill>
              </a:rPr>
              <a:t>      if </a:t>
            </a:r>
            <a:r>
              <a:rPr lang="en-US" altLang="en-US" sz="1800" dirty="0">
                <a:solidFill>
                  <a:srgbClr val="6C2A5E"/>
                </a:solidFill>
              </a:rPr>
              <a:t>( </a:t>
            </a:r>
            <a:r>
              <a:rPr lang="en-US" altLang="en-US" sz="1800" dirty="0" err="1">
                <a:solidFill>
                  <a:srgbClr val="6C2A5E"/>
                </a:solidFill>
              </a:rPr>
              <a:t>i</a:t>
            </a:r>
            <a:r>
              <a:rPr lang="en-US" altLang="en-US" sz="1800" dirty="0">
                <a:solidFill>
                  <a:srgbClr val="6C2A5E"/>
                </a:solidFill>
              </a:rPr>
              <a:t> </a:t>
            </a:r>
            <a:r>
              <a:rPr lang="en-US" altLang="en-US" sz="1800" b="1" dirty="0">
                <a:solidFill>
                  <a:srgbClr val="6C2A5E"/>
                </a:solidFill>
              </a:rPr>
              <a:t>&lt;</a:t>
            </a:r>
            <a:r>
              <a:rPr lang="en-US" altLang="en-US" sz="1800" dirty="0">
                <a:solidFill>
                  <a:srgbClr val="6C2A5E"/>
                </a:solidFill>
              </a:rPr>
              <a:t> j ) </a:t>
            </a:r>
          </a:p>
          <a:p>
            <a:pPr marL="742950" lvl="1" indent="-285750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800" dirty="0"/>
              <a:t>          </a:t>
            </a:r>
            <a:r>
              <a:rPr lang="en-US" altLang="en-US" sz="1800" dirty="0">
                <a:solidFill>
                  <a:srgbClr val="6C2A5E"/>
                </a:solidFill>
              </a:rPr>
              <a:t>swap( &amp;a[</a:t>
            </a:r>
            <a:r>
              <a:rPr lang="en-US" altLang="en-US" sz="1800" dirty="0" err="1">
                <a:solidFill>
                  <a:srgbClr val="6C2A5E"/>
                </a:solidFill>
              </a:rPr>
              <a:t>i</a:t>
            </a:r>
            <a:r>
              <a:rPr lang="en-US" altLang="en-US" sz="1800" dirty="0">
                <a:solidFill>
                  <a:srgbClr val="6C2A5E"/>
                </a:solidFill>
              </a:rPr>
              <a:t>], &amp;a[j] ); </a:t>
            </a:r>
          </a:p>
          <a:p>
            <a:pPr marL="742950" lvl="1" indent="-285750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800" dirty="0"/>
              <a:t>      </a:t>
            </a:r>
            <a:r>
              <a:rPr lang="en-US" altLang="en-US" sz="1800" dirty="0">
                <a:solidFill>
                  <a:srgbClr val="0000CC"/>
                </a:solidFill>
              </a:rPr>
              <a:t>else</a:t>
            </a:r>
            <a:r>
              <a:rPr lang="en-US" altLang="en-US" sz="1800" dirty="0"/>
              <a:t> </a:t>
            </a:r>
          </a:p>
          <a:p>
            <a:pPr marL="742950" lvl="1" indent="-285750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800" dirty="0">
                <a:solidFill>
                  <a:srgbClr val="6C2A5E"/>
                </a:solidFill>
              </a:rPr>
              <a:t>           break; </a:t>
            </a:r>
          </a:p>
          <a:p>
            <a:pPr marL="742950" lvl="1" indent="-285750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800" dirty="0"/>
              <a:t>      </a:t>
            </a:r>
            <a:r>
              <a:rPr lang="en-US" altLang="en-US" sz="1800" dirty="0">
                <a:solidFill>
                  <a:srgbClr val="6C2A5E"/>
                </a:solidFill>
              </a:rPr>
              <a:t>} </a:t>
            </a:r>
            <a:r>
              <a:rPr lang="en-US" altLang="en-US" sz="1800" dirty="0">
                <a:solidFill>
                  <a:srgbClr val="FF0000"/>
                </a:solidFill>
              </a:rPr>
              <a:t>//end for loop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/>
              <a:t>     swap( &amp;a[</a:t>
            </a:r>
            <a:r>
              <a:rPr lang="en-US" altLang="en-US" sz="1700" dirty="0" err="1"/>
              <a:t>i</a:t>
            </a:r>
            <a:r>
              <a:rPr lang="en-US" altLang="en-US" sz="1700" dirty="0"/>
              <a:t>], &amp;a[right-1] ); </a:t>
            </a:r>
            <a:endParaRPr lang="en-US" altLang="en-US" sz="1700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/>
              <a:t>      </a:t>
            </a:r>
            <a:r>
              <a:rPr lang="en-US" altLang="en-US" sz="1700" dirty="0" err="1"/>
              <a:t>q_sort</a:t>
            </a:r>
            <a:r>
              <a:rPr lang="en-US" altLang="en-US" sz="1700" dirty="0"/>
              <a:t>( a, left, i-1 ); </a:t>
            </a:r>
            <a:endParaRPr lang="en-US" altLang="en-US" sz="1700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/>
              <a:t>      </a:t>
            </a:r>
            <a:r>
              <a:rPr lang="en-US" altLang="en-US" sz="1700" dirty="0" err="1"/>
              <a:t>q_sort</a:t>
            </a:r>
            <a:r>
              <a:rPr lang="en-US" altLang="en-US" sz="1700" dirty="0"/>
              <a:t>( a, i+1, right ); </a:t>
            </a:r>
            <a:endParaRPr lang="en-US" altLang="en-US" sz="1700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solidFill>
                  <a:srgbClr val="FF0000"/>
                </a:solidFill>
              </a:rPr>
              <a:t>    </a:t>
            </a:r>
            <a:r>
              <a:rPr lang="en-US" altLang="en-US" sz="1700" dirty="0"/>
              <a:t>}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/>
              <a:t>} 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9A35491-E1E1-FA4A-AAAC-3B9E22369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570" y="6822417"/>
            <a:ext cx="587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D0ECC8-E253-8E4B-95EE-F02EF683A40D}" type="slidenum">
              <a:rPr lang="en-US" altLang="en-US" sz="1100" smtClean="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graphicFrame>
        <p:nvGraphicFramePr>
          <p:cNvPr id="7" name="Group 92">
            <a:extLst>
              <a:ext uri="{FF2B5EF4-FFF2-40B4-BE49-F238E27FC236}">
                <a16:creationId xmlns:a16="http://schemas.microsoft.com/office/drawing/2014/main" id="{B738637E-9921-1A4C-8FF9-82845B0C7C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509605"/>
              </p:ext>
            </p:extLst>
          </p:nvPr>
        </p:nvGraphicFramePr>
        <p:xfrm>
          <a:off x="260195" y="1410629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 Box 93">
            <a:extLst>
              <a:ext uri="{FF2B5EF4-FFF2-40B4-BE49-F238E27FC236}">
                <a16:creationId xmlns:a16="http://schemas.microsoft.com/office/drawing/2014/main" id="{3400C28F-D7AA-BF42-923C-360EDD250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0508" y="1834492"/>
            <a:ext cx="446087" cy="6461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endParaRPr lang="en-US" b="1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b="1" dirty="0" err="1">
                <a:solidFill>
                  <a:srgbClr val="FF0000"/>
                </a:solidFill>
                <a:latin typeface="+mj-lt"/>
                <a:cs typeface="Times New Roman" pitchFamily="18" charset="0"/>
              </a:rPr>
              <a:t>i</a:t>
            </a:r>
            <a:r>
              <a:rPr lang="en-US" b="1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</a:p>
        </p:txBody>
      </p:sp>
      <p:sp>
        <p:nvSpPr>
          <p:cNvPr id="9" name="Text Box 109">
            <a:extLst>
              <a:ext uri="{FF2B5EF4-FFF2-40B4-BE49-F238E27FC236}">
                <a16:creationId xmlns:a16="http://schemas.microsoft.com/office/drawing/2014/main" id="{D5429B21-7DA1-0147-AB48-FE3396A57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6045" y="2013879"/>
            <a:ext cx="1447800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b="1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right -1</a:t>
            </a:r>
          </a:p>
        </p:txBody>
      </p:sp>
      <p:cxnSp>
        <p:nvCxnSpPr>
          <p:cNvPr id="10" name="Straight Arrow Connector 16">
            <a:extLst>
              <a:ext uri="{FF2B5EF4-FFF2-40B4-BE49-F238E27FC236}">
                <a16:creationId xmlns:a16="http://schemas.microsoft.com/office/drawing/2014/main" id="{82C1F649-EB5A-2E48-8605-D27D7AA75968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5283839" y="1963873"/>
            <a:ext cx="304800" cy="1588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4ED6BCA-65B4-5F4B-A9B7-239A86D039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255083"/>
              </p:ext>
            </p:extLst>
          </p:nvPr>
        </p:nvGraphicFramePr>
        <p:xfrm>
          <a:off x="260195" y="1410629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0A0B6B0-0772-B841-9959-DE20DB526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058138"/>
              </p:ext>
            </p:extLst>
          </p:nvPr>
        </p:nvGraphicFramePr>
        <p:xfrm>
          <a:off x="7332508" y="1416979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 Box 109">
            <a:extLst>
              <a:ext uri="{FF2B5EF4-FFF2-40B4-BE49-F238E27FC236}">
                <a16:creationId xmlns:a16="http://schemas.microsoft.com/office/drawing/2014/main" id="{8BFE8DFE-75F3-DD49-8B69-295F741C4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0995" y="2477429"/>
            <a:ext cx="838200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AD0D2-6A64-3046-B815-07CB55EDD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370" y="5612742"/>
            <a:ext cx="19542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/*restore pivot*/ </a:t>
            </a:r>
            <a:endParaRPr lang="en-US" altLang="en-US" sz="1800" b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24DFA7-2AD5-834F-84AE-8A495826C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6233" y="5920717"/>
            <a:ext cx="22621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// left recursive call</a:t>
            </a:r>
            <a:endParaRPr lang="en-US" altLang="en-US" sz="1800" b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2C6AEA-C6B4-C54D-B9B0-6D9D69057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4008" y="6196942"/>
            <a:ext cx="24939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// lright recursive call</a:t>
            </a:r>
            <a:endParaRPr lang="en-US" altLang="en-US" sz="1800" b="1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E1137AA-DCD2-6445-992F-095070ECF0F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811808" y="1791629"/>
            <a:ext cx="1587" cy="2286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Arrow Connector 16">
            <a:extLst>
              <a:ext uri="{FF2B5EF4-FFF2-40B4-BE49-F238E27FC236}">
                <a16:creationId xmlns:a16="http://schemas.microsoft.com/office/drawing/2014/main" id="{8F6D9CB0-05A1-E647-84D2-F50878706EC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046758" y="2301217"/>
            <a:ext cx="1587" cy="2286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887B678-40D7-EF43-AE03-98202D31C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835951"/>
              </p:ext>
            </p:extLst>
          </p:nvPr>
        </p:nvGraphicFramePr>
        <p:xfrm>
          <a:off x="4970308" y="1410629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1622E94-9E23-6B42-8619-5C7A34F31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455471"/>
              </p:ext>
            </p:extLst>
          </p:nvPr>
        </p:nvGraphicFramePr>
        <p:xfrm>
          <a:off x="6548283" y="1410629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4453CA77-7EFB-6D4C-814E-DD217B3292F8}"/>
              </a:ext>
            </a:extLst>
          </p:cNvPr>
          <p:cNvSpPr/>
          <p:nvPr/>
        </p:nvSpPr>
        <p:spPr>
          <a:xfrm>
            <a:off x="260195" y="1410629"/>
            <a:ext cx="46482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4BDC34-CEA2-1446-999F-884A4614A32C}"/>
              </a:ext>
            </a:extLst>
          </p:cNvPr>
          <p:cNvSpPr/>
          <p:nvPr/>
        </p:nvSpPr>
        <p:spPr>
          <a:xfrm>
            <a:off x="5746595" y="1410629"/>
            <a:ext cx="2376488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3" name="Text Box 93">
            <a:extLst>
              <a:ext uri="{FF2B5EF4-FFF2-40B4-BE49-F238E27FC236}">
                <a16:creationId xmlns:a16="http://schemas.microsoft.com/office/drawing/2014/main" id="{037B5DA5-5334-D345-8D00-E71C71044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708" y="1820204"/>
            <a:ext cx="2960687" cy="646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endParaRPr lang="en-US" b="1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b="1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left</a:t>
            </a:r>
          </a:p>
        </p:txBody>
      </p:sp>
      <p:cxnSp>
        <p:nvCxnSpPr>
          <p:cNvPr id="24" name="Straight Arrow Connector 16">
            <a:extLst>
              <a:ext uri="{FF2B5EF4-FFF2-40B4-BE49-F238E27FC236}">
                <a16:creationId xmlns:a16="http://schemas.microsoft.com/office/drawing/2014/main" id="{AB3D2E9C-294D-3C49-B6F8-0161EE0AB5E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15808" y="1853542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Straight Arrow Connector 16">
            <a:extLst>
              <a:ext uri="{FF2B5EF4-FFF2-40B4-BE49-F238E27FC236}">
                <a16:creationId xmlns:a16="http://schemas.microsoft.com/office/drawing/2014/main" id="{88AD2BA2-C088-8B44-8767-AB0CC039BE3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808758" y="1769404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Box 109">
            <a:extLst>
              <a:ext uri="{FF2B5EF4-FFF2-40B4-BE49-F238E27FC236}">
                <a16:creationId xmlns:a16="http://schemas.microsoft.com/office/drawing/2014/main" id="{8831CF43-57EB-E249-A002-65D265346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133" y="1991654"/>
            <a:ext cx="728662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right</a:t>
            </a:r>
          </a:p>
        </p:txBody>
      </p:sp>
      <p:sp>
        <p:nvSpPr>
          <p:cNvPr id="27" name="Text Box 93">
            <a:extLst>
              <a:ext uri="{FF2B5EF4-FFF2-40B4-BE49-F238E27FC236}">
                <a16:creationId xmlns:a16="http://schemas.microsoft.com/office/drawing/2014/main" id="{176E344D-C4A9-1048-ABFD-D6247DE9A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6795" y="1842429"/>
            <a:ext cx="446088" cy="646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endParaRPr lang="en-US" b="1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b="1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j </a:t>
            </a:r>
          </a:p>
        </p:txBody>
      </p:sp>
      <p:cxnSp>
        <p:nvCxnSpPr>
          <p:cNvPr id="28" name="Straight Arrow Connector 16">
            <a:extLst>
              <a:ext uri="{FF2B5EF4-FFF2-40B4-BE49-F238E27FC236}">
                <a16:creationId xmlns:a16="http://schemas.microsoft.com/office/drawing/2014/main" id="{B9E44754-7465-7D4B-B94D-A409A92CC7C8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3520127" y="1971810"/>
            <a:ext cx="304800" cy="1587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" name="Rectangle 46">
            <a:extLst>
              <a:ext uri="{FF2B5EF4-FFF2-40B4-BE49-F238E27FC236}">
                <a16:creationId xmlns:a16="http://schemas.microsoft.com/office/drawing/2014/main" id="{63013A51-52CF-5242-88C9-17B5F25A1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5795" y="4839629"/>
            <a:ext cx="5029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itchFamily="2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itchFamily="2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/* loop terminated </a:t>
            </a:r>
            <a:r>
              <a:rPr lang="en-US" altLang="en-US" sz="1800" b="1" i="1">
                <a:solidFill>
                  <a:srgbClr val="FF0000"/>
                </a:solidFill>
              </a:rPr>
              <a:t>when ( </a:t>
            </a:r>
            <a:r>
              <a:rPr lang="en-US" altLang="en-US" sz="1800" b="1" i="1">
                <a:solidFill>
                  <a:srgbClr val="0000CC"/>
                </a:solidFill>
              </a:rPr>
              <a:t>i &gt; j </a:t>
            </a:r>
            <a:r>
              <a:rPr lang="en-US" altLang="en-US" sz="1800" b="1" i="1">
                <a:solidFill>
                  <a:srgbClr val="FF0000"/>
                </a:solidFill>
              </a:rPr>
              <a:t>) i.e., </a:t>
            </a: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FF0000"/>
                </a:solidFill>
              </a:rPr>
              <a:t> and </a:t>
            </a:r>
            <a:r>
              <a:rPr lang="en-US" altLang="en-US" sz="1800" b="1" i="1">
                <a:solidFill>
                  <a:srgbClr val="0000CC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  have crossed </a:t>
            </a:r>
            <a:r>
              <a:rPr lang="en-US" altLang="en-US" sz="1800" b="1">
                <a:solidFill>
                  <a:srgbClr val="FF0000"/>
                </a:solidFill>
                <a:sym typeface="Wingdings" pitchFamily="2" charset="2"/>
              </a:rPr>
              <a:t> </a:t>
            </a:r>
            <a:r>
              <a:rPr lang="en-US" altLang="en-US" sz="1800" b="1">
                <a:solidFill>
                  <a:srgbClr val="FF0000"/>
                </a:solidFill>
              </a:rPr>
              <a:t>so no swap is performed  */</a:t>
            </a:r>
          </a:p>
        </p:txBody>
      </p:sp>
    </p:spTree>
    <p:extLst>
      <p:ext uri="{BB962C8B-B14F-4D97-AF65-F5344CB8AC3E}">
        <p14:creationId xmlns:p14="http://schemas.microsoft.com/office/powerpoint/2010/main" val="790530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771 -0.00138 L 0.1717 -4.56984E-6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91" y="6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68 -0.00555 L -0.17257 -4.56984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94" y="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25 0.01665 L -0.17709 0.01203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42" y="-231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25 0.01666 L -0.17344 0.01457 " pathEditMode="relative" rAng="0" ptsTypes="AA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68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/>
      <p:bldP spid="16" grpId="0"/>
      <p:bldP spid="21" grpId="0" animBg="1"/>
      <p:bldP spid="2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35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9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                   </a:t>
            </a:r>
            <a:r>
              <a:rPr lang="en-US" altLang="zh-CN" sz="28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</a:t>
            </a:r>
            <a:r>
              <a:rPr lang="en-US" altLang="zh-CN" sz="2800" b="1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704879" y="3813978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zahmaad.github.io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42962</TotalTime>
  <Words>3581</Words>
  <Application>Microsoft Macintosh PowerPoint</Application>
  <PresentationFormat>A4 Paper (210x297 mm)</PresentationFormat>
  <Paragraphs>714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50" baseType="lpstr">
      <vt:lpstr>Adobe Gothic Std B</vt:lpstr>
      <vt:lpstr>等线</vt:lpstr>
      <vt:lpstr>等线</vt:lpstr>
      <vt:lpstr>等线 Light</vt:lpstr>
      <vt:lpstr>MS UI Gothic</vt:lpstr>
      <vt:lpstr>SimSun</vt:lpstr>
      <vt:lpstr>Arial</vt:lpstr>
      <vt:lpstr>Calibri</vt:lpstr>
      <vt:lpstr>Consolas</vt:lpstr>
      <vt:lpstr>Times</vt:lpstr>
      <vt:lpstr>Times New Roman</vt:lpstr>
      <vt:lpstr>Trebuchet MS</vt:lpstr>
      <vt:lpstr>Wingdings</vt:lpstr>
      <vt:lpstr>Wingdings 2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825</cp:revision>
  <cp:lastPrinted>2025-03-21T05:23:21Z</cp:lastPrinted>
  <dcterms:created xsi:type="dcterms:W3CDTF">2018-07-17T04:46:00Z</dcterms:created>
  <dcterms:modified xsi:type="dcterms:W3CDTF">2025-12-23T05:21:14Z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
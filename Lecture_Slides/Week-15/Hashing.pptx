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80" r:id="rId2"/>
    <p:sldId id="898" r:id="rId3"/>
    <p:sldId id="899" r:id="rId4"/>
    <p:sldId id="900" r:id="rId5"/>
    <p:sldId id="901" r:id="rId6"/>
    <p:sldId id="902" r:id="rId7"/>
    <p:sldId id="903" r:id="rId8"/>
    <p:sldId id="904" r:id="rId9"/>
    <p:sldId id="905" r:id="rId10"/>
    <p:sldId id="906" r:id="rId11"/>
    <p:sldId id="907" r:id="rId12"/>
    <p:sldId id="908" r:id="rId13"/>
    <p:sldId id="916" r:id="rId14"/>
    <p:sldId id="917" r:id="rId15"/>
    <p:sldId id="918" r:id="rId16"/>
    <p:sldId id="919" r:id="rId17"/>
    <p:sldId id="372" r:id="rId18"/>
  </p:sldIdLst>
  <p:sldSz cx="9906000" cy="685800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C4F4344-209C-4F70-85AC-9C0340846E2F}">
          <p14:sldIdLst>
            <p14:sldId id="280"/>
            <p14:sldId id="898"/>
            <p14:sldId id="899"/>
            <p14:sldId id="900"/>
            <p14:sldId id="901"/>
            <p14:sldId id="902"/>
            <p14:sldId id="903"/>
            <p14:sldId id="904"/>
            <p14:sldId id="905"/>
            <p14:sldId id="906"/>
            <p14:sldId id="907"/>
            <p14:sldId id="908"/>
            <p14:sldId id="916"/>
            <p14:sldId id="917"/>
            <p14:sldId id="918"/>
            <p14:sldId id="919"/>
            <p14:sldId id="372"/>
          </p14:sldIdLst>
        </p14:section>
        <p14:section name="无标题节" id="{3A58C67D-E970-4AF9-96C5-84664AA55BD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306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C0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4" autoAdjust="0"/>
    <p:restoredTop sz="92615" autoAdjust="0"/>
  </p:normalViewPr>
  <p:slideViewPr>
    <p:cSldViewPr snapToGrid="0">
      <p:cViewPr varScale="1">
        <p:scale>
          <a:sx n="119" d="100"/>
          <a:sy n="119" d="100"/>
        </p:scale>
        <p:origin x="1720" y="176"/>
      </p:cViewPr>
      <p:guideLst>
        <p:guide orient="horz" pos="2306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90" d="100"/>
        <a:sy n="19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6F613-6386-45E1-B87F-1E8A4FD761EB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E6104B-F43C-4180-A305-CEC1284C5F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897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418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70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01A63-A7C4-4D9E-8336-1A8A451B13AA}" type="datetime1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B7285-B0D8-4CCE-9696-7B972DFD7D37}" type="datetime1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878" y="1709738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907B5-A00F-4D95-A944-352881DC976F}" type="datetime1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D666-1070-47A4-93DD-CDEF7BD1F6B1}" type="datetime1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CCC7-9EDE-420E-93DD-85D8C3590620}" type="datetime1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8E457-A80F-46AA-AB73-6563C30B8F07}" type="datetime1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94D2-7C33-4737-9BFA-E0AD9F259636}" type="datetime1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A0A1E-52E8-41CF-B036-B709E3BEEE64}" type="datetime1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CECB7-59A1-4697-8604-3431EA5C9D9C}" type="datetime1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824D-C0BA-4384-BF05-F9F894E8B242}" type="datetime1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CE58A-A4F5-4361-A1B6-594D0881072F}" type="datetime1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694028-4A59-403E-B211-633674C4AE82}" type="datetime1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58AAF-F958-4141-BDE8-5609689A4508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1D7D9E-FB29-9D4A-9A84-AC73C8AAA8E8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1842" y="0"/>
            <a:ext cx="1367045" cy="104692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" y="1654175"/>
            <a:ext cx="9905999" cy="44258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endParaRPr lang="en-US" dirty="0"/>
          </a:p>
          <a:p>
            <a:pPr algn="ctr">
              <a:buNone/>
            </a:pPr>
            <a:endParaRPr lang="it-IT" b="1" dirty="0"/>
          </a:p>
          <a:p>
            <a:pPr algn="ctr">
              <a:buNone/>
            </a:pPr>
            <a:endParaRPr lang="en-US" sz="4000" b="1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r>
              <a:rPr lang="en-US" sz="4000" b="1">
                <a:solidFill>
                  <a:schemeClr val="accent5">
                    <a:lumMod val="50000"/>
                  </a:schemeClr>
                </a:solidFill>
              </a:rPr>
              <a:t>HASHING</a:t>
            </a: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r>
              <a:rPr lang="en-US" dirty="0"/>
              <a:t>	</a:t>
            </a:r>
          </a:p>
        </p:txBody>
      </p:sp>
      <p:sp>
        <p:nvSpPr>
          <p:cNvPr id="49155" name="AutoShape 3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6" name="AutoShape 4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7" name="AutoShape 5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A99ADA-48C1-EC4B-A15E-7A2B09F5ECE8}"/>
              </a:ext>
            </a:extLst>
          </p:cNvPr>
          <p:cNvSpPr txBox="1"/>
          <p:nvPr/>
        </p:nvSpPr>
        <p:spPr>
          <a:xfrm>
            <a:off x="2833816" y="1284843"/>
            <a:ext cx="4518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Data Structures and Algorithms</a:t>
            </a:r>
          </a:p>
          <a:p>
            <a:pPr algn="ctr"/>
            <a:r>
              <a:rPr lang="en-US" b="1" dirty="0"/>
              <a:t>(CS221)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4E75F2-37A6-1C4C-9F75-30A0BAF2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0554294-A2C8-E640-AE3A-ECBB68B86B64}"/>
              </a:ext>
            </a:extLst>
          </p:cNvPr>
          <p:cNvSpPr txBox="1">
            <a:spLocks/>
          </p:cNvSpPr>
          <p:nvPr/>
        </p:nvSpPr>
        <p:spPr bwMode="auto">
          <a:xfrm>
            <a:off x="457200" y="173038"/>
            <a:ext cx="7239000" cy="62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latin typeface="Trebuchet MS" panose="020B0703020202090204" pitchFamily="34" charset="0"/>
              </a:rPr>
              <a:t>Hashing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CC27496-C2D7-0142-9F02-5998FFB23E47}"/>
              </a:ext>
            </a:extLst>
          </p:cNvPr>
          <p:cNvSpPr txBox="1">
            <a:spLocks/>
          </p:cNvSpPr>
          <p:nvPr/>
        </p:nvSpPr>
        <p:spPr>
          <a:xfrm>
            <a:off x="228600" y="914400"/>
            <a:ext cx="7848600" cy="5715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200"/>
              <a:t>A hash function is any algorithm or subroutine that maps large data sets, called keys, to smaller data sets. </a:t>
            </a:r>
          </a:p>
          <a:p>
            <a:pPr lvl="1"/>
            <a:r>
              <a:rPr lang="en-US" altLang="en-US" sz="2100"/>
              <a:t>Example: a single integer can serve as an index to an array.</a:t>
            </a:r>
          </a:p>
          <a:p>
            <a:r>
              <a:rPr lang="en-US" altLang="en-US" sz="2200"/>
              <a:t>The values returned by a hash function are called</a:t>
            </a:r>
          </a:p>
          <a:p>
            <a:pPr lvl="1"/>
            <a:r>
              <a:rPr lang="en-US" altLang="en-US" sz="2100"/>
              <a:t>hash values</a:t>
            </a:r>
          </a:p>
          <a:p>
            <a:pPr lvl="1"/>
            <a:r>
              <a:rPr lang="en-US" altLang="en-US" sz="2100"/>
              <a:t>hash codes </a:t>
            </a:r>
          </a:p>
          <a:p>
            <a:pPr lvl="1"/>
            <a:r>
              <a:rPr lang="en-US" altLang="en-US" sz="2100"/>
              <a:t>hash sums</a:t>
            </a:r>
          </a:p>
          <a:p>
            <a:pPr lvl="1"/>
            <a:r>
              <a:rPr lang="en-US" altLang="en-US" sz="2100"/>
              <a:t>Checksums, or </a:t>
            </a:r>
          </a:p>
          <a:p>
            <a:pPr lvl="1"/>
            <a:r>
              <a:rPr lang="en-US" altLang="en-US" sz="2100"/>
              <a:t>simply hashes.</a:t>
            </a:r>
          </a:p>
          <a:p>
            <a:r>
              <a:rPr lang="en-US" altLang="en-US" sz="2200"/>
              <a:t>Hash functions are mostly used to accelerate table lookup or data comparison tasks such as </a:t>
            </a:r>
          </a:p>
          <a:p>
            <a:pPr lvl="1"/>
            <a:r>
              <a:rPr lang="en-US" altLang="en-US" sz="2100"/>
              <a:t>finding items in a database, </a:t>
            </a:r>
          </a:p>
          <a:p>
            <a:pPr lvl="1"/>
            <a:r>
              <a:rPr lang="en-US" altLang="en-US" sz="2100"/>
              <a:t>detecting duplicated or similar records in a large file, </a:t>
            </a:r>
          </a:p>
          <a:p>
            <a:pPr lvl="1"/>
            <a:r>
              <a:rPr lang="en-US" altLang="en-US" sz="2100"/>
              <a:t>finding similar stretches in DNA sequences, </a:t>
            </a:r>
          </a:p>
          <a:p>
            <a:pPr lvl="1"/>
            <a:r>
              <a:rPr lang="en-US" altLang="en-US" sz="2100"/>
              <a:t>and so on.</a:t>
            </a:r>
            <a:endParaRPr lang="en-US" altLang="en-US" sz="2100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3F33B64D-3974-FE47-B96A-8ADFDF4E1224}"/>
              </a:ext>
            </a:extLst>
          </p:cNvPr>
          <p:cNvSpPr txBox="1">
            <a:spLocks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0" latinLnBrk="0" hangingPunct="0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0" latinLnBrk="0" hangingPunct="0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0" latinLnBrk="0" hangingPunct="0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0" latinLnBrk="0" hangingPunct="0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0" latinLnBrk="0" hangingPunct="0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D7A19D26-25AC-6F41-909D-EBDDA3A70089}" type="slidenum">
              <a:rPr lang="en-US" altLang="en-US" sz="1100" smtClean="0">
                <a:solidFill>
                  <a:schemeClr val="tx2"/>
                </a:solidFill>
              </a:rPr>
              <a:pPr eaLnBrk="1" hangingPunct="1"/>
              <a:t>2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582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3C6F59-2830-C245-BC7E-2732ADFC5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7AFE8C-D9D8-684D-8A7E-75B69809959A}"/>
              </a:ext>
            </a:extLst>
          </p:cNvPr>
          <p:cNvSpPr txBox="1">
            <a:spLocks/>
          </p:cNvSpPr>
          <p:nvPr/>
        </p:nvSpPr>
        <p:spPr bwMode="auto">
          <a:xfrm>
            <a:off x="457200" y="173038"/>
            <a:ext cx="7239000" cy="62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latin typeface="Trebuchet MS" panose="020B0703020202090204" pitchFamily="34" charset="0"/>
              </a:rPr>
              <a:t>Hash Table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EA4581-0C6B-144F-9F7B-A3911FE02834}"/>
              </a:ext>
            </a:extLst>
          </p:cNvPr>
          <p:cNvSpPr txBox="1">
            <a:spLocks/>
          </p:cNvSpPr>
          <p:nvPr/>
        </p:nvSpPr>
        <p:spPr>
          <a:xfrm>
            <a:off x="381000" y="914400"/>
            <a:ext cx="7848600" cy="57150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Ideal hash table data structure  </a:t>
            </a:r>
          </a:p>
          <a:p>
            <a:pPr lvl="1"/>
            <a:r>
              <a:rPr lang="en-US" altLang="en-US" dirty="0">
                <a:sym typeface="Wingdings" pitchFamily="2" charset="2"/>
              </a:rPr>
              <a:t> </a:t>
            </a:r>
            <a:r>
              <a:rPr lang="en-US" altLang="en-US" dirty="0"/>
              <a:t>an array of some fixed size, containing the keys. </a:t>
            </a:r>
          </a:p>
          <a:p>
            <a:r>
              <a:rPr lang="en-US" altLang="en-US" dirty="0"/>
              <a:t>key </a:t>
            </a:r>
            <a:r>
              <a:rPr lang="en-US" altLang="en-US" dirty="0">
                <a:sym typeface="Wingdings" pitchFamily="2" charset="2"/>
              </a:rPr>
              <a:t> </a:t>
            </a:r>
          </a:p>
          <a:p>
            <a:pPr lvl="1"/>
            <a:r>
              <a:rPr lang="en-US" altLang="en-US" dirty="0"/>
              <a:t>a string with an associated value </a:t>
            </a:r>
          </a:p>
          <a:p>
            <a:pPr lvl="2"/>
            <a:r>
              <a:rPr lang="en-US" altLang="en-US" dirty="0"/>
              <a:t>for instance, salary information</a:t>
            </a:r>
          </a:p>
          <a:p>
            <a:r>
              <a:rPr lang="en-US" altLang="en-US" i="1" dirty="0"/>
              <a:t>H_SIZE </a:t>
            </a:r>
            <a:r>
              <a:rPr lang="en-US" altLang="en-US" i="1" dirty="0">
                <a:sym typeface="Wingdings" pitchFamily="2" charset="2"/>
              </a:rPr>
              <a:t> </a:t>
            </a:r>
            <a:r>
              <a:rPr lang="en-US" altLang="en-US" dirty="0"/>
              <a:t> table size </a:t>
            </a:r>
          </a:p>
          <a:p>
            <a:pPr lvl="1"/>
            <a:r>
              <a:rPr lang="en-US" altLang="en-US" dirty="0"/>
              <a:t>part of a hash data structure</a:t>
            </a:r>
          </a:p>
          <a:p>
            <a:r>
              <a:rPr lang="en-US" altLang="en-US" dirty="0"/>
              <a:t>The table runs from 0 to </a:t>
            </a:r>
            <a:r>
              <a:rPr lang="en-US" altLang="en-US" i="1" dirty="0"/>
              <a:t>H_SIZE</a:t>
            </a:r>
            <a:r>
              <a:rPr lang="en-US" altLang="en-US" dirty="0"/>
              <a:t>-</a:t>
            </a:r>
            <a:r>
              <a:rPr lang="en-US" altLang="en-US" i="1" dirty="0"/>
              <a:t>1</a:t>
            </a:r>
          </a:p>
          <a:p>
            <a:r>
              <a:rPr lang="en-US" altLang="en-US" dirty="0"/>
              <a:t>Each key is mapped into some number in the range 0 to </a:t>
            </a:r>
            <a:r>
              <a:rPr lang="en-US" altLang="en-US" i="1" dirty="0"/>
              <a:t>H_SIZE</a:t>
            </a:r>
            <a:r>
              <a:rPr lang="en-US" altLang="en-US" dirty="0"/>
              <a:t> - </a:t>
            </a:r>
            <a:r>
              <a:rPr lang="en-US" altLang="en-US" i="1" dirty="0"/>
              <a:t>1</a:t>
            </a:r>
            <a:r>
              <a:rPr lang="en-US" altLang="en-US" dirty="0"/>
              <a:t> and placed in the appropriate cell. </a:t>
            </a:r>
          </a:p>
          <a:p>
            <a:r>
              <a:rPr lang="en-US" altLang="en-US" dirty="0"/>
              <a:t>Each hash table entry is a unique ordered pair </a:t>
            </a:r>
            <a:r>
              <a:rPr lang="en-US" altLang="en-US" i="1" dirty="0"/>
              <a:t>(Key, Information)</a:t>
            </a:r>
          </a:p>
          <a:p>
            <a:r>
              <a:rPr lang="en-US" altLang="en-US" dirty="0"/>
              <a:t>The mapping is called a </a:t>
            </a:r>
            <a:r>
              <a:rPr lang="en-US" altLang="en-US" i="1" dirty="0"/>
              <a:t>hash function</a:t>
            </a:r>
            <a:r>
              <a:rPr lang="en-US" altLang="en-US" dirty="0"/>
              <a:t> 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40E1A34-2EC7-7044-BAD9-72DD3A73F9B5}"/>
              </a:ext>
            </a:extLst>
          </p:cNvPr>
          <p:cNvSpPr txBox="1">
            <a:spLocks noGrp="1"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  <a:noFill/>
        </p:spPr>
        <p:txBody>
          <a:bodyPr lIns="0" tIns="0" rIns="0" bIns="0" anchor="b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7C89F26A-7459-9641-81C4-B293B720B3E2}" type="slidenum">
              <a:rPr lang="en-US" altLang="en-US" sz="1100">
                <a:solidFill>
                  <a:schemeClr val="tx2"/>
                </a:solidFill>
              </a:rPr>
              <a:pPr algn="r" eaLnBrk="1" hangingPunct="1"/>
              <a:t>3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7103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9B4666-129F-3B4B-841D-64AD34A14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5A1E0E-BBBE-2B45-B59B-4E7421E6AFB5}"/>
              </a:ext>
            </a:extLst>
          </p:cNvPr>
          <p:cNvSpPr txBox="1">
            <a:spLocks/>
          </p:cNvSpPr>
          <p:nvPr/>
        </p:nvSpPr>
        <p:spPr bwMode="auto">
          <a:xfrm>
            <a:off x="457200" y="173038"/>
            <a:ext cx="7239000" cy="62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latin typeface="Trebuchet MS" panose="020B0703020202090204" pitchFamily="34" charset="0"/>
              </a:rPr>
              <a:t>Hashing Function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698B96-592B-FA4A-A13F-19555D3E7FA2}"/>
              </a:ext>
            </a:extLst>
          </p:cNvPr>
          <p:cNvSpPr txBox="1">
            <a:spLocks/>
          </p:cNvSpPr>
          <p:nvPr/>
        </p:nvSpPr>
        <p:spPr>
          <a:xfrm>
            <a:off x="381000" y="914400"/>
            <a:ext cx="7848600" cy="5715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A hash function should be referentially transparent, </a:t>
            </a:r>
          </a:p>
          <a:p>
            <a:pPr lvl="1"/>
            <a:r>
              <a:rPr lang="en-US" altLang="en-US"/>
              <a:t>i.e. if called twice on input that is "equal" it should give the same result. </a:t>
            </a:r>
          </a:p>
          <a:p>
            <a:pPr lvl="1"/>
            <a:r>
              <a:rPr lang="en-US" altLang="en-US">
                <a:sym typeface="Wingdings" pitchFamily="2" charset="2"/>
              </a:rPr>
              <a:t></a:t>
            </a:r>
            <a:r>
              <a:rPr lang="en-US" altLang="en-US"/>
              <a:t> if two objects are equal their hash codes must be the same. 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462FA6BF-0E50-334B-8323-4D3832FD0656}"/>
              </a:ext>
            </a:extLst>
          </p:cNvPr>
          <p:cNvSpPr txBox="1">
            <a:spLocks noGrp="1"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  <a:noFill/>
        </p:spPr>
        <p:txBody>
          <a:bodyPr lIns="0" tIns="0" rIns="0" bIns="0" anchor="b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88EA8E82-3BC1-4E43-AEC2-6E3932B5239C}" type="slidenum">
              <a:rPr lang="en-US" altLang="en-US" sz="1100">
                <a:solidFill>
                  <a:schemeClr val="tx2"/>
                </a:solidFill>
              </a:rPr>
              <a:pPr algn="r" eaLnBrk="1" hangingPunct="1"/>
              <a:t>4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1008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0F25C3-FB38-344D-BA99-F35872BD8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B92F23-28BE-7B4E-AFEB-7BA67B50944D}"/>
              </a:ext>
            </a:extLst>
          </p:cNvPr>
          <p:cNvSpPr txBox="1">
            <a:spLocks/>
          </p:cNvSpPr>
          <p:nvPr/>
        </p:nvSpPr>
        <p:spPr bwMode="auto">
          <a:xfrm>
            <a:off x="457200" y="173038"/>
            <a:ext cx="7239000" cy="62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latin typeface="Trebuchet MS" panose="020B0703020202090204" pitchFamily="34" charset="0"/>
              </a:rPr>
              <a:t>Hash Table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9C8564-5B98-D24A-9AD2-3FE756AB5CEB}"/>
              </a:ext>
            </a:extLst>
          </p:cNvPr>
          <p:cNvSpPr txBox="1">
            <a:spLocks noGrp="1"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  <a:noFill/>
        </p:spPr>
        <p:txBody>
          <a:bodyPr lIns="0" tIns="0" rIns="0" bIns="0" anchor="b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82A26F63-9BD5-614B-A527-70A69706BD6C}" type="slidenum">
              <a:rPr lang="en-US" altLang="en-US" sz="1100">
                <a:solidFill>
                  <a:schemeClr val="tx2"/>
                </a:solidFill>
              </a:rPr>
              <a:pPr algn="r" eaLnBrk="1" hangingPunct="1"/>
              <a:t>5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graphicFrame>
        <p:nvGraphicFramePr>
          <p:cNvPr id="6" name="Group 42">
            <a:extLst>
              <a:ext uri="{FF2B5EF4-FFF2-40B4-BE49-F238E27FC236}">
                <a16:creationId xmlns:a16="http://schemas.microsoft.com/office/drawing/2014/main" id="{AC9F0E9B-EBEC-E34B-9AA2-6E4A6CB1894C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1397000"/>
          <a:ext cx="4038600" cy="42672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John 25000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Phil 31250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Dave 27500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Marry 28200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 typeface="Wingdings 2" pitchFamily="18" charset="2"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3739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E64A57-FF64-DB4A-8D56-12B6CBD32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D46A4F-CC1F-E346-A19B-6CA2E25F2C32}"/>
              </a:ext>
            </a:extLst>
          </p:cNvPr>
          <p:cNvSpPr txBox="1">
            <a:spLocks/>
          </p:cNvSpPr>
          <p:nvPr/>
        </p:nvSpPr>
        <p:spPr bwMode="auto">
          <a:xfrm>
            <a:off x="457200" y="173038"/>
            <a:ext cx="7239000" cy="62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latin typeface="Trebuchet MS" panose="020B0703020202090204" pitchFamily="34" charset="0"/>
              </a:rPr>
              <a:t>Hashing – Collision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F3ACAC-5FFB-4241-A1C3-9C84B73716DB}"/>
              </a:ext>
            </a:extLst>
          </p:cNvPr>
          <p:cNvSpPr txBox="1">
            <a:spLocks/>
          </p:cNvSpPr>
          <p:nvPr/>
        </p:nvSpPr>
        <p:spPr>
          <a:xfrm>
            <a:off x="381000" y="914400"/>
            <a:ext cx="7848600" cy="5715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Map two or more keys to the same hash value, causing a collision.</a:t>
            </a:r>
          </a:p>
          <a:p>
            <a:r>
              <a:rPr lang="en-US" altLang="en-US"/>
              <a:t>Although the idea was conceived in the 1950s,</a:t>
            </a:r>
            <a:r>
              <a:rPr lang="en-US" altLang="en-US">
                <a:hlinkClick r:id="" action="ppaction://noaction"/>
              </a:rPr>
              <a:t>1</a:t>
            </a:r>
            <a:r>
              <a:rPr lang="en-US" altLang="en-US"/>
              <a:t> the design of good hash functions is still a topic of active research.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8E5DB6D4-6B04-1442-BF7C-651DBBF30C8B}"/>
              </a:ext>
            </a:extLst>
          </p:cNvPr>
          <p:cNvSpPr txBox="1">
            <a:spLocks noGrp="1"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  <a:noFill/>
        </p:spPr>
        <p:txBody>
          <a:bodyPr lIns="0" tIns="0" rIns="0" bIns="0" anchor="b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7BA4DFEC-0DF2-9945-BF5B-2D1E068D26A8}" type="slidenum">
              <a:rPr lang="en-US" altLang="en-US" sz="1100">
                <a:solidFill>
                  <a:schemeClr val="tx2"/>
                </a:solidFill>
              </a:rPr>
              <a:pPr algn="r" eaLnBrk="1" hangingPunct="1"/>
              <a:t>6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30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EB30E0-CEE3-EA40-9942-A2BCC8523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61AABA-0DB1-CF46-BE1F-2B50DFE12B8E}"/>
              </a:ext>
            </a:extLst>
          </p:cNvPr>
          <p:cNvSpPr txBox="1">
            <a:spLocks/>
          </p:cNvSpPr>
          <p:nvPr/>
        </p:nvSpPr>
        <p:spPr bwMode="auto">
          <a:xfrm>
            <a:off x="457200" y="173038"/>
            <a:ext cx="7239000" cy="62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latin typeface="Trebuchet MS" panose="020B0703020202090204" pitchFamily="34" charset="0"/>
              </a:rPr>
              <a:t>Hashing Function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4F35AE-9702-624B-9143-097A5A482C31}"/>
              </a:ext>
            </a:extLst>
          </p:cNvPr>
          <p:cNvSpPr txBox="1">
            <a:spLocks/>
          </p:cNvSpPr>
          <p:nvPr/>
        </p:nvSpPr>
        <p:spPr>
          <a:xfrm>
            <a:off x="381000" y="914400"/>
            <a:ext cx="7848600" cy="5715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200" dirty="0"/>
              <a:t>The simplest hash function</a:t>
            </a:r>
          </a:p>
          <a:p>
            <a:pPr lvl="1"/>
            <a:r>
              <a:rPr lang="en-US" altLang="en-US" sz="2100" i="1" dirty="0"/>
              <a:t>key mod H_SIZE</a:t>
            </a:r>
            <a:r>
              <a:rPr lang="en-US" altLang="en-US" sz="2100" dirty="0"/>
              <a:t> </a:t>
            </a:r>
          </a:p>
          <a:p>
            <a:r>
              <a:rPr lang="en-US" altLang="en-US" sz="2200" dirty="0"/>
              <a:t>Example 1</a:t>
            </a:r>
          </a:p>
          <a:p>
            <a:pPr lvl="1"/>
            <a:r>
              <a:rPr lang="en-US" altLang="en-US" sz="2100" i="1" dirty="0"/>
              <a:t>H_SIZE </a:t>
            </a:r>
            <a:r>
              <a:rPr lang="en-US" altLang="en-US" sz="2100" dirty="0"/>
              <a:t>= 9,  Key = 100</a:t>
            </a:r>
          </a:p>
          <a:p>
            <a:pPr lvl="2"/>
            <a:r>
              <a:rPr lang="en-US" altLang="en-US" sz="1800" dirty="0"/>
              <a:t>100</a:t>
            </a:r>
            <a:r>
              <a:rPr lang="en-US" altLang="en-US" sz="1800" i="1" dirty="0"/>
              <a:t> mod 9</a:t>
            </a:r>
            <a:r>
              <a:rPr lang="en-US" altLang="en-US" sz="1800" dirty="0"/>
              <a:t> = 1</a:t>
            </a:r>
          </a:p>
          <a:p>
            <a:pPr lvl="1"/>
            <a:r>
              <a:rPr lang="en-US" altLang="en-US" sz="2100" i="1" dirty="0"/>
              <a:t>H_SIZE </a:t>
            </a:r>
            <a:r>
              <a:rPr lang="en-US" altLang="en-US" sz="2100" dirty="0"/>
              <a:t>= 9,  Key = 80</a:t>
            </a:r>
          </a:p>
          <a:p>
            <a:pPr lvl="2"/>
            <a:r>
              <a:rPr lang="en-US" altLang="en-US" sz="1800" dirty="0"/>
              <a:t>80</a:t>
            </a:r>
            <a:r>
              <a:rPr lang="en-US" altLang="en-US" sz="1800" i="1" dirty="0"/>
              <a:t> mod </a:t>
            </a:r>
            <a:r>
              <a:rPr lang="en-US" altLang="en-US" sz="1800" dirty="0"/>
              <a:t>9 = 8</a:t>
            </a:r>
          </a:p>
          <a:p>
            <a:endParaRPr lang="en-US" altLang="en-US" sz="2200" dirty="0"/>
          </a:p>
          <a:p>
            <a:r>
              <a:rPr lang="en-US" altLang="en-US" sz="2200" dirty="0"/>
              <a:t>Example 2</a:t>
            </a:r>
          </a:p>
          <a:p>
            <a:pPr lvl="1"/>
            <a:r>
              <a:rPr lang="en-US" altLang="en-US" sz="2100" i="1" dirty="0"/>
              <a:t>H_SIZE </a:t>
            </a:r>
            <a:r>
              <a:rPr lang="en-US" altLang="en-US" sz="2100" dirty="0"/>
              <a:t>= 10,  Key = 100</a:t>
            </a:r>
          </a:p>
          <a:p>
            <a:pPr lvl="2"/>
            <a:r>
              <a:rPr lang="en-US" altLang="en-US" sz="1800" dirty="0"/>
              <a:t>100</a:t>
            </a:r>
            <a:r>
              <a:rPr lang="en-US" altLang="en-US" sz="1800" i="1" dirty="0"/>
              <a:t> mod </a:t>
            </a:r>
            <a:r>
              <a:rPr lang="en-US" altLang="en-US" sz="1800" dirty="0"/>
              <a:t>10 = 0</a:t>
            </a:r>
          </a:p>
          <a:p>
            <a:pPr lvl="1"/>
            <a:r>
              <a:rPr lang="en-US" altLang="en-US" sz="2100" i="1" dirty="0"/>
              <a:t>H_SIZE </a:t>
            </a:r>
            <a:r>
              <a:rPr lang="en-US" altLang="en-US" sz="2100" dirty="0"/>
              <a:t>= 10,  Key = 80</a:t>
            </a:r>
          </a:p>
          <a:p>
            <a:pPr lvl="2"/>
            <a:r>
              <a:rPr lang="en-US" altLang="en-US" sz="1800" dirty="0"/>
              <a:t>80</a:t>
            </a:r>
            <a:r>
              <a:rPr lang="en-US" altLang="en-US" sz="1800" i="1" dirty="0"/>
              <a:t> mod 10</a:t>
            </a:r>
            <a:r>
              <a:rPr lang="en-US" altLang="en-US" sz="1800" dirty="0"/>
              <a:t> = 0</a:t>
            </a:r>
          </a:p>
          <a:p>
            <a:pPr lvl="2"/>
            <a:endParaRPr lang="en-US" altLang="en-US" sz="1800" dirty="0">
              <a:solidFill>
                <a:srgbClr val="FF0000"/>
              </a:solidFill>
            </a:endParaRPr>
          </a:p>
          <a:p>
            <a:r>
              <a:rPr lang="en-US" altLang="en-US" sz="2200" dirty="0">
                <a:solidFill>
                  <a:srgbClr val="FF0000"/>
                </a:solidFill>
              </a:rPr>
              <a:t>What was wrong?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9B92B5E7-AE7C-D742-8FF9-4D1159539AB0}"/>
              </a:ext>
            </a:extLst>
          </p:cNvPr>
          <p:cNvSpPr txBox="1">
            <a:spLocks noGrp="1"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  <a:noFill/>
        </p:spPr>
        <p:txBody>
          <a:bodyPr lIns="0" tIns="0" rIns="0" bIns="0" anchor="b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5435FFD4-61CA-8F4F-BD31-0157E48A18E1}" type="slidenum">
              <a:rPr lang="en-US" altLang="en-US" sz="1100">
                <a:solidFill>
                  <a:schemeClr val="tx2"/>
                </a:solidFill>
              </a:rPr>
              <a:pPr algn="r" eaLnBrk="1" hangingPunct="1"/>
              <a:t>7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8506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C78AAB-BB6A-D848-87EB-BADAA10E0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91581A-4656-204F-B69A-7CA2ACED7D38}"/>
              </a:ext>
            </a:extLst>
          </p:cNvPr>
          <p:cNvSpPr txBox="1">
            <a:spLocks/>
          </p:cNvSpPr>
          <p:nvPr/>
        </p:nvSpPr>
        <p:spPr bwMode="auto">
          <a:xfrm>
            <a:off x="457200" y="173038"/>
            <a:ext cx="7239000" cy="62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latin typeface="Trebuchet MS" panose="020B0703020202090204" pitchFamily="34" charset="0"/>
              </a:rPr>
              <a:t>Hashing Function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E95B2D-EFA4-744F-98D8-65D8F02425D7}"/>
              </a:ext>
            </a:extLst>
          </p:cNvPr>
          <p:cNvSpPr txBox="1">
            <a:spLocks/>
          </p:cNvSpPr>
          <p:nvPr/>
        </p:nvSpPr>
        <p:spPr>
          <a:xfrm>
            <a:off x="381000" y="914400"/>
            <a:ext cx="7848600" cy="5715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A better idea </a:t>
            </a:r>
            <a:r>
              <a:rPr lang="en-US" altLang="en-US" dirty="0">
                <a:sym typeface="Wingdings" pitchFamily="2" charset="2"/>
              </a:rPr>
              <a:t></a:t>
            </a:r>
          </a:p>
          <a:p>
            <a:pPr lvl="1"/>
            <a:r>
              <a:rPr lang="en-US" altLang="en-US" dirty="0"/>
              <a:t>Ensure that the table size is prime. </a:t>
            </a:r>
          </a:p>
          <a:p>
            <a:pPr lvl="1"/>
            <a:r>
              <a:rPr lang="en-US" altLang="en-US" dirty="0"/>
              <a:t>If the input keys are random integers</a:t>
            </a:r>
          </a:p>
          <a:p>
            <a:pPr lvl="2"/>
            <a:r>
              <a:rPr lang="en-US" altLang="en-US" dirty="0"/>
              <a:t>function is very simple to compute, and</a:t>
            </a:r>
          </a:p>
          <a:p>
            <a:pPr lvl="2"/>
            <a:r>
              <a:rPr lang="en-US" altLang="en-US" dirty="0"/>
              <a:t>distributes the keys evenly</a:t>
            </a:r>
          </a:p>
          <a:p>
            <a:endParaRPr lang="en-US" altLang="en-US" dirty="0"/>
          </a:p>
          <a:p>
            <a:r>
              <a:rPr lang="en-US" altLang="en-US" dirty="0"/>
              <a:t>Usually, the keys are strings </a:t>
            </a:r>
          </a:p>
          <a:p>
            <a:pPr lvl="1"/>
            <a:r>
              <a:rPr lang="en-US" altLang="en-US" dirty="0">
                <a:sym typeface="Wingdings" pitchFamily="2" charset="2"/>
              </a:rPr>
              <a:t></a:t>
            </a:r>
            <a:r>
              <a:rPr lang="en-US" altLang="en-US" dirty="0"/>
              <a:t> the hash function needs to be chosen carefully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105EB1D2-19AB-E248-81FD-CAE72097A12F}"/>
              </a:ext>
            </a:extLst>
          </p:cNvPr>
          <p:cNvSpPr txBox="1">
            <a:spLocks noGrp="1"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  <a:noFill/>
        </p:spPr>
        <p:txBody>
          <a:bodyPr lIns="0" tIns="0" rIns="0" bIns="0" anchor="b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167F6968-D226-2447-9CC9-AC2B392F304B}" type="slidenum">
              <a:rPr lang="en-US" altLang="en-US" sz="1100">
                <a:solidFill>
                  <a:schemeClr val="tx2"/>
                </a:solidFill>
              </a:rPr>
              <a:pPr algn="r" eaLnBrk="1" hangingPunct="1"/>
              <a:t>8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3681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234671-EC29-3941-8B77-B773534E6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93B1F75-1128-604F-B109-0292C44E8D54}"/>
              </a:ext>
            </a:extLst>
          </p:cNvPr>
          <p:cNvSpPr txBox="1">
            <a:spLocks/>
          </p:cNvSpPr>
          <p:nvPr/>
        </p:nvSpPr>
        <p:spPr>
          <a:xfrm>
            <a:off x="381000" y="914400"/>
            <a:ext cx="7848600" cy="5715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Usually, the keys are strings; </a:t>
            </a:r>
          </a:p>
          <a:p>
            <a:pPr lvl="1"/>
            <a:r>
              <a:rPr lang="en-US" altLang="en-US" dirty="0">
                <a:sym typeface="Wingdings" pitchFamily="2" charset="2"/>
              </a:rPr>
              <a:t></a:t>
            </a:r>
            <a:r>
              <a:rPr lang="en-US" altLang="en-US" dirty="0"/>
              <a:t> the hash function needs to be chosen carefully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Add up the ASCII values of the characters in the string. </a:t>
            </a:r>
          </a:p>
          <a:p>
            <a:pPr lvl="1">
              <a:buFont typeface="Wingdings 2" pitchFamily="2" charset="2"/>
              <a:buNone/>
            </a:pPr>
            <a:r>
              <a:rPr lang="en-US" altLang="en-US" sz="2100" dirty="0">
                <a:solidFill>
                  <a:srgbClr val="0000CC"/>
                </a:solidFill>
              </a:rPr>
              <a:t>typedef unsigned </a:t>
            </a:r>
            <a:r>
              <a:rPr lang="en-US" altLang="en-US" sz="2100" dirty="0" err="1">
                <a:solidFill>
                  <a:srgbClr val="0000CC"/>
                </a:solidFill>
              </a:rPr>
              <a:t>int</a:t>
            </a:r>
            <a:r>
              <a:rPr lang="en-US" altLang="en-US" sz="2100" dirty="0">
                <a:solidFill>
                  <a:srgbClr val="0000CC"/>
                </a:solidFill>
              </a:rPr>
              <a:t> INDEX;</a:t>
            </a:r>
          </a:p>
          <a:p>
            <a:pPr lvl="1">
              <a:buFont typeface="Wingdings 2" pitchFamily="2" charset="2"/>
              <a:buNone/>
            </a:pPr>
            <a:r>
              <a:rPr lang="en-US" altLang="en-US" sz="2100" dirty="0">
                <a:solidFill>
                  <a:srgbClr val="0000CC"/>
                </a:solidFill>
              </a:rPr>
              <a:t>INDEX hash( char *key, unsigned </a:t>
            </a:r>
            <a:r>
              <a:rPr lang="en-US" altLang="en-US" sz="2100" dirty="0" err="1">
                <a:solidFill>
                  <a:srgbClr val="0000CC"/>
                </a:solidFill>
              </a:rPr>
              <a:t>int</a:t>
            </a:r>
            <a:r>
              <a:rPr lang="en-US" altLang="en-US" sz="2100" dirty="0">
                <a:solidFill>
                  <a:srgbClr val="0000CC"/>
                </a:solidFill>
              </a:rPr>
              <a:t> H_SIZE ) </a:t>
            </a:r>
          </a:p>
          <a:p>
            <a:pPr lvl="1">
              <a:buFont typeface="Wingdings 2" pitchFamily="2" charset="2"/>
              <a:buNone/>
            </a:pPr>
            <a:r>
              <a:rPr lang="en-US" altLang="en-US" sz="2100" dirty="0">
                <a:solidFill>
                  <a:srgbClr val="0000CC"/>
                </a:solidFill>
              </a:rPr>
              <a:t>{ </a:t>
            </a:r>
          </a:p>
          <a:p>
            <a:pPr lvl="1">
              <a:buFont typeface="Wingdings 2" pitchFamily="2" charset="2"/>
              <a:buNone/>
            </a:pPr>
            <a:r>
              <a:rPr lang="en-US" altLang="en-US" sz="2100" dirty="0">
                <a:solidFill>
                  <a:srgbClr val="0000CC"/>
                </a:solidFill>
              </a:rPr>
              <a:t>unsigned </a:t>
            </a:r>
            <a:r>
              <a:rPr lang="en-US" altLang="en-US" sz="2100" dirty="0" err="1">
                <a:solidFill>
                  <a:srgbClr val="0000CC"/>
                </a:solidFill>
              </a:rPr>
              <a:t>int</a:t>
            </a:r>
            <a:r>
              <a:rPr lang="en-US" altLang="en-US" sz="2100" dirty="0">
                <a:solidFill>
                  <a:srgbClr val="0000CC"/>
                </a:solidFill>
              </a:rPr>
              <a:t> </a:t>
            </a:r>
            <a:r>
              <a:rPr lang="en-US" altLang="en-US" sz="2100" dirty="0" err="1">
                <a:solidFill>
                  <a:srgbClr val="0000CC"/>
                </a:solidFill>
              </a:rPr>
              <a:t>hash_val</a:t>
            </a:r>
            <a:r>
              <a:rPr lang="en-US" altLang="en-US" sz="2100" dirty="0">
                <a:solidFill>
                  <a:srgbClr val="0000CC"/>
                </a:solidFill>
              </a:rPr>
              <a:t> = 0; </a:t>
            </a:r>
          </a:p>
          <a:p>
            <a:pPr lvl="1">
              <a:buFont typeface="Wingdings 2" pitchFamily="2" charset="2"/>
              <a:buNone/>
            </a:pPr>
            <a:r>
              <a:rPr lang="en-US" altLang="en-US" sz="2100" dirty="0">
                <a:solidFill>
                  <a:srgbClr val="FF0000"/>
                </a:solidFill>
              </a:rPr>
              <a:t>/*1*/ </a:t>
            </a:r>
            <a:r>
              <a:rPr lang="en-US" altLang="en-US" sz="2100" dirty="0">
                <a:solidFill>
                  <a:srgbClr val="0000CC"/>
                </a:solidFill>
              </a:rPr>
              <a:t>   while( *key != '\0' ) </a:t>
            </a:r>
          </a:p>
          <a:p>
            <a:pPr lvl="1">
              <a:buFont typeface="Wingdings 2" pitchFamily="2" charset="2"/>
              <a:buNone/>
            </a:pPr>
            <a:r>
              <a:rPr lang="en-US" altLang="en-US" sz="2100" dirty="0">
                <a:solidFill>
                  <a:srgbClr val="FF0000"/>
                </a:solidFill>
              </a:rPr>
              <a:t>/*2*/</a:t>
            </a:r>
            <a:r>
              <a:rPr lang="en-US" altLang="en-US" sz="2100" dirty="0">
                <a:solidFill>
                  <a:srgbClr val="0000CC"/>
                </a:solidFill>
              </a:rPr>
              <a:t> 		</a:t>
            </a:r>
            <a:r>
              <a:rPr lang="en-US" altLang="en-US" sz="2100" dirty="0" err="1">
                <a:solidFill>
                  <a:srgbClr val="0000CC"/>
                </a:solidFill>
              </a:rPr>
              <a:t>hash_val</a:t>
            </a:r>
            <a:r>
              <a:rPr lang="en-US" altLang="en-US" sz="2100" dirty="0">
                <a:solidFill>
                  <a:srgbClr val="0000CC"/>
                </a:solidFill>
              </a:rPr>
              <a:t> += *key++; </a:t>
            </a:r>
          </a:p>
          <a:p>
            <a:pPr lvl="1">
              <a:buFont typeface="Wingdings 2" pitchFamily="2" charset="2"/>
              <a:buNone/>
            </a:pPr>
            <a:r>
              <a:rPr lang="en-US" altLang="en-US" sz="2100" dirty="0">
                <a:solidFill>
                  <a:srgbClr val="FF0000"/>
                </a:solidFill>
              </a:rPr>
              <a:t>/*3*/</a:t>
            </a:r>
            <a:r>
              <a:rPr lang="en-US" altLang="en-US" sz="2100" dirty="0">
                <a:solidFill>
                  <a:srgbClr val="0000CC"/>
                </a:solidFill>
              </a:rPr>
              <a:t>     return( </a:t>
            </a:r>
            <a:r>
              <a:rPr lang="en-US" altLang="en-US" sz="2100" dirty="0" err="1">
                <a:solidFill>
                  <a:srgbClr val="0000CC"/>
                </a:solidFill>
              </a:rPr>
              <a:t>hash_val</a:t>
            </a:r>
            <a:r>
              <a:rPr lang="en-US" altLang="en-US" sz="2100" dirty="0">
                <a:solidFill>
                  <a:srgbClr val="0000CC"/>
                </a:solidFill>
              </a:rPr>
              <a:t> % H_SIZE ); </a:t>
            </a:r>
          </a:p>
          <a:p>
            <a:pPr lvl="1">
              <a:buFont typeface="Wingdings 2" pitchFamily="2" charset="2"/>
              <a:buNone/>
            </a:pPr>
            <a:r>
              <a:rPr lang="en-US" altLang="en-US" sz="2100" dirty="0">
                <a:solidFill>
                  <a:srgbClr val="0000CC"/>
                </a:solidFill>
              </a:rPr>
              <a:t>}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FB8ED-4076-3F4A-8C39-E4D3C387EF6E}"/>
              </a:ext>
            </a:extLst>
          </p:cNvPr>
          <p:cNvSpPr txBox="1">
            <a:spLocks noGrp="1"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  <a:noFill/>
        </p:spPr>
        <p:txBody>
          <a:bodyPr lIns="0" tIns="0" rIns="0" bIns="0" anchor="b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27E98E22-6F66-8943-902D-090E4D7F67FF}" type="slidenum">
              <a:rPr lang="en-US" altLang="en-US" sz="1100">
                <a:solidFill>
                  <a:schemeClr val="tx2"/>
                </a:solidFill>
              </a:rPr>
              <a:pPr algn="r" eaLnBrk="1" hangingPunct="1"/>
              <a:t>9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9E6103E-9CD0-B945-B497-F6CE6849524B}"/>
              </a:ext>
            </a:extLst>
          </p:cNvPr>
          <p:cNvSpPr>
            <a:spLocks/>
          </p:cNvSpPr>
          <p:nvPr/>
        </p:nvSpPr>
        <p:spPr bwMode="auto">
          <a:xfrm>
            <a:off x="457200" y="228600"/>
            <a:ext cx="7239000" cy="62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tIns="0" rIns="45720" bIns="0" anchor="b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en-US" sz="3400" b="1">
                <a:latin typeface="Trebuchet MS" panose="020B0703020202090204" pitchFamily="34" charset="0"/>
              </a:rPr>
              <a:t>Another Hash Function</a:t>
            </a:r>
            <a:endParaRPr lang="en-US" altLang="en-US" sz="3400" b="1"/>
          </a:p>
        </p:txBody>
      </p:sp>
    </p:spTree>
    <p:extLst>
      <p:ext uri="{BB962C8B-B14F-4D97-AF65-F5344CB8AC3E}">
        <p14:creationId xmlns:p14="http://schemas.microsoft.com/office/powerpoint/2010/main" val="71458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03467E-E8A7-F942-B359-B1FBC426D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10</a:t>
            </a:fld>
            <a:endParaRPr lang="zh-CN" altLang="en-US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89D053AD-DB85-B74E-92AD-B7E2887558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3063"/>
            <a:ext cx="9144000" cy="618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13548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BDCFBA-4D44-D342-AE6A-A823CD934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F0F29E1-369E-4049-8C9F-B0E1852FB593}"/>
              </a:ext>
            </a:extLst>
          </p:cNvPr>
          <p:cNvSpPr txBox="1">
            <a:spLocks/>
          </p:cNvSpPr>
          <p:nvPr/>
        </p:nvSpPr>
        <p:spPr>
          <a:xfrm>
            <a:off x="381000" y="914400"/>
            <a:ext cx="7848600" cy="5715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Usually, the keys are strings; </a:t>
            </a:r>
          </a:p>
          <a:p>
            <a:pPr lvl="1"/>
            <a:r>
              <a:rPr lang="en-US" altLang="en-US">
                <a:sym typeface="Wingdings" pitchFamily="2" charset="2"/>
              </a:rPr>
              <a:t></a:t>
            </a:r>
            <a:r>
              <a:rPr lang="en-US" altLang="en-US"/>
              <a:t> the hash function needs to be chosen carefully</a:t>
            </a:r>
          </a:p>
          <a:p>
            <a:pPr lvl="1"/>
            <a:endParaRPr lang="en-US" altLang="en-US"/>
          </a:p>
          <a:p>
            <a:r>
              <a:rPr lang="en-US" altLang="en-US"/>
              <a:t>Add up the ASCII values of the characters in the string. </a:t>
            </a:r>
          </a:p>
          <a:p>
            <a:pPr lvl="1">
              <a:buFont typeface="Wingdings 2" pitchFamily="2" charset="2"/>
              <a:buNone/>
            </a:pPr>
            <a:r>
              <a:rPr lang="en-US" altLang="en-US" sz="2100">
                <a:solidFill>
                  <a:srgbClr val="0000CC"/>
                </a:solidFill>
              </a:rPr>
              <a:t>typedef unsigned int INDEX;</a:t>
            </a:r>
          </a:p>
          <a:p>
            <a:pPr lvl="1">
              <a:buFont typeface="Wingdings 2" pitchFamily="2" charset="2"/>
              <a:buNone/>
            </a:pPr>
            <a:r>
              <a:rPr lang="en-US" altLang="en-US" sz="2100">
                <a:solidFill>
                  <a:srgbClr val="0000CC"/>
                </a:solidFill>
              </a:rPr>
              <a:t>INDEX hash( char *key, unsigned int H_SIZE ) </a:t>
            </a:r>
          </a:p>
          <a:p>
            <a:pPr lvl="1">
              <a:buFont typeface="Wingdings 2" pitchFamily="2" charset="2"/>
              <a:buNone/>
            </a:pPr>
            <a:r>
              <a:rPr lang="en-US" altLang="en-US" sz="2100">
                <a:solidFill>
                  <a:srgbClr val="0000CC"/>
                </a:solidFill>
              </a:rPr>
              <a:t>{ </a:t>
            </a:r>
          </a:p>
          <a:p>
            <a:pPr lvl="1">
              <a:buFont typeface="Wingdings 2" pitchFamily="2" charset="2"/>
              <a:buNone/>
            </a:pPr>
            <a:r>
              <a:rPr lang="en-US" altLang="en-US" sz="2100">
                <a:solidFill>
                  <a:srgbClr val="0000CC"/>
                </a:solidFill>
              </a:rPr>
              <a:t>unsigned int hash_val = 0; </a:t>
            </a:r>
          </a:p>
          <a:p>
            <a:pPr lvl="1">
              <a:buFont typeface="Wingdings 2" pitchFamily="2" charset="2"/>
              <a:buNone/>
            </a:pPr>
            <a:r>
              <a:rPr lang="en-US" altLang="en-US" sz="2100">
                <a:solidFill>
                  <a:srgbClr val="FF0000"/>
                </a:solidFill>
              </a:rPr>
              <a:t>/*1*/ </a:t>
            </a:r>
            <a:r>
              <a:rPr lang="en-US" altLang="en-US" sz="2100">
                <a:solidFill>
                  <a:srgbClr val="0000CC"/>
                </a:solidFill>
              </a:rPr>
              <a:t>   while( *key != '\0' ) </a:t>
            </a:r>
          </a:p>
          <a:p>
            <a:pPr lvl="1">
              <a:buFont typeface="Wingdings 2" pitchFamily="2" charset="2"/>
              <a:buNone/>
            </a:pPr>
            <a:r>
              <a:rPr lang="en-US" altLang="en-US" sz="2100">
                <a:solidFill>
                  <a:srgbClr val="FF0000"/>
                </a:solidFill>
              </a:rPr>
              <a:t>/*2*/</a:t>
            </a:r>
            <a:r>
              <a:rPr lang="en-US" altLang="en-US" sz="2100">
                <a:solidFill>
                  <a:srgbClr val="0000CC"/>
                </a:solidFill>
              </a:rPr>
              <a:t> 		hash_val += *key++; </a:t>
            </a:r>
          </a:p>
          <a:p>
            <a:pPr lvl="1">
              <a:buFont typeface="Wingdings 2" pitchFamily="2" charset="2"/>
              <a:buNone/>
            </a:pPr>
            <a:r>
              <a:rPr lang="en-US" altLang="en-US" sz="2100">
                <a:solidFill>
                  <a:srgbClr val="FF0000"/>
                </a:solidFill>
              </a:rPr>
              <a:t>/*3*/</a:t>
            </a:r>
            <a:r>
              <a:rPr lang="en-US" altLang="en-US" sz="2100">
                <a:solidFill>
                  <a:srgbClr val="0000CC"/>
                </a:solidFill>
              </a:rPr>
              <a:t>     return( hash_val % H_SIZE ); </a:t>
            </a:r>
          </a:p>
          <a:p>
            <a:pPr lvl="1">
              <a:buFont typeface="Wingdings 2" pitchFamily="2" charset="2"/>
              <a:buNone/>
            </a:pPr>
            <a:r>
              <a:rPr lang="en-US" altLang="en-US" sz="2100">
                <a:solidFill>
                  <a:srgbClr val="0000CC"/>
                </a:solidFill>
              </a:rPr>
              <a:t>}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D9E271-D1C2-5741-8E9F-B1DA98D81B25}"/>
              </a:ext>
            </a:extLst>
          </p:cNvPr>
          <p:cNvSpPr txBox="1">
            <a:spLocks noGrp="1"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  <a:noFill/>
        </p:spPr>
        <p:txBody>
          <a:bodyPr lIns="0" tIns="0" rIns="0" bIns="0" anchor="b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AE782A28-1B09-2F46-A834-8E5CCB2C0C64}" type="slidenum">
              <a:rPr lang="en-US" altLang="en-US" sz="1100">
                <a:solidFill>
                  <a:schemeClr val="tx2"/>
                </a:solidFill>
              </a:rPr>
              <a:pPr algn="r" eaLnBrk="1" hangingPunct="1"/>
              <a:t>11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E3FCDF17-210E-2840-8779-F76F2BAAA7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7938" y="3867150"/>
            <a:ext cx="3141662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 b="1">
                <a:solidFill>
                  <a:srgbClr val="FF0000"/>
                </a:solidFill>
              </a:rPr>
              <a:t>Example:</a:t>
            </a:r>
          </a:p>
          <a:p>
            <a:pPr algn="l" eaLnBrk="1" hangingPunct="1"/>
            <a:r>
              <a:rPr lang="en-US" altLang="en-US" sz="1600" b="1" i="1">
                <a:solidFill>
                  <a:srgbClr val="7E2A48"/>
                </a:solidFill>
              </a:rPr>
              <a:t>H_SIZE</a:t>
            </a:r>
            <a:r>
              <a:rPr lang="en-US" altLang="en-US" sz="1600" b="1">
                <a:solidFill>
                  <a:srgbClr val="7E2A48"/>
                </a:solidFill>
              </a:rPr>
              <a:t> = 100</a:t>
            </a:r>
          </a:p>
          <a:p>
            <a:pPr algn="l" eaLnBrk="1" hangingPunct="1"/>
            <a:r>
              <a:rPr lang="en-US" altLang="en-US" sz="1600" b="1">
                <a:solidFill>
                  <a:srgbClr val="7E2A48"/>
                </a:solidFill>
              </a:rPr>
              <a:t>Key = “abcdefgh”</a:t>
            </a:r>
          </a:p>
          <a:p>
            <a:pPr algn="l" eaLnBrk="1" hangingPunct="1"/>
            <a:r>
              <a:rPr lang="en-US" altLang="en-US" sz="1600" b="1">
                <a:solidFill>
                  <a:srgbClr val="7E2A48"/>
                </a:solidFill>
              </a:rPr>
              <a:t>hash_val= 97+ 98 +.. 104 =804</a:t>
            </a:r>
          </a:p>
          <a:p>
            <a:pPr algn="l" eaLnBrk="1" hangingPunct="1"/>
            <a:r>
              <a:rPr lang="en-US" altLang="en-US" sz="1600" b="1">
                <a:solidFill>
                  <a:srgbClr val="7E2A48"/>
                </a:solidFill>
              </a:rPr>
              <a:t>Index = 804%100 =4 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CEEEB46E-2B30-FA4A-9E45-570051F3F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4138" y="5314950"/>
            <a:ext cx="3141662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 b="1">
                <a:solidFill>
                  <a:srgbClr val="FF0000"/>
                </a:solidFill>
              </a:rPr>
              <a:t>Example:</a:t>
            </a:r>
          </a:p>
          <a:p>
            <a:pPr algn="l" eaLnBrk="1" hangingPunct="1"/>
            <a:r>
              <a:rPr lang="en-US" altLang="en-US" sz="1600" b="1" i="1">
                <a:solidFill>
                  <a:srgbClr val="7E2A48"/>
                </a:solidFill>
              </a:rPr>
              <a:t>H_SIZE</a:t>
            </a:r>
            <a:r>
              <a:rPr lang="en-US" altLang="en-US" sz="1600" b="1">
                <a:solidFill>
                  <a:srgbClr val="7E2A48"/>
                </a:solidFill>
              </a:rPr>
              <a:t> = 100</a:t>
            </a:r>
          </a:p>
          <a:p>
            <a:pPr algn="l" eaLnBrk="1" hangingPunct="1"/>
            <a:r>
              <a:rPr lang="en-US" altLang="en-US" sz="1600" b="1">
                <a:solidFill>
                  <a:srgbClr val="7E2A48"/>
                </a:solidFill>
              </a:rPr>
              <a:t>Key = “bcdefghi”</a:t>
            </a:r>
          </a:p>
          <a:p>
            <a:pPr algn="l" eaLnBrk="1" hangingPunct="1"/>
            <a:r>
              <a:rPr lang="en-US" altLang="en-US" sz="1600" b="1">
                <a:solidFill>
                  <a:srgbClr val="7E2A48"/>
                </a:solidFill>
              </a:rPr>
              <a:t>hash_val= 98+ 98 +.. 105 =812  </a:t>
            </a:r>
          </a:p>
          <a:p>
            <a:pPr algn="l" eaLnBrk="1" hangingPunct="1"/>
            <a:r>
              <a:rPr lang="en-US" altLang="en-US" sz="1600" b="1">
                <a:solidFill>
                  <a:srgbClr val="7E2A48"/>
                </a:solidFill>
              </a:rPr>
              <a:t>Index = 812%100 =12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31064DE0-DC02-D643-A262-80CC5A8778AB}"/>
              </a:ext>
            </a:extLst>
          </p:cNvPr>
          <p:cNvSpPr>
            <a:spLocks/>
          </p:cNvSpPr>
          <p:nvPr/>
        </p:nvSpPr>
        <p:spPr bwMode="auto">
          <a:xfrm>
            <a:off x="457200" y="228600"/>
            <a:ext cx="7239000" cy="62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tIns="0" rIns="45720" bIns="0" anchor="b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en-US" sz="3400" b="1">
                <a:latin typeface="Trebuchet MS" panose="020B0703020202090204" pitchFamily="34" charset="0"/>
              </a:rPr>
              <a:t>Another Hash Function</a:t>
            </a:r>
            <a:endParaRPr lang="en-US" altLang="en-US" sz="3400" b="1"/>
          </a:p>
        </p:txBody>
      </p:sp>
    </p:spTree>
    <p:extLst>
      <p:ext uri="{BB962C8B-B14F-4D97-AF65-F5344CB8AC3E}">
        <p14:creationId xmlns:p14="http://schemas.microsoft.com/office/powerpoint/2010/main" val="1795363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39B095-F21C-704F-B80D-FC7D724B8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6DD2080-4C65-CE4C-8BF5-DD9FC0801E5F}"/>
              </a:ext>
            </a:extLst>
          </p:cNvPr>
          <p:cNvSpPr txBox="1">
            <a:spLocks/>
          </p:cNvSpPr>
          <p:nvPr/>
        </p:nvSpPr>
        <p:spPr>
          <a:xfrm>
            <a:off x="381000" y="1295400"/>
            <a:ext cx="7848600" cy="472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Usually, the keys are strings; </a:t>
            </a:r>
          </a:p>
          <a:p>
            <a:pPr lvl="1"/>
            <a:r>
              <a:rPr lang="en-US" altLang="en-US">
                <a:sym typeface="Wingdings" pitchFamily="2" charset="2"/>
              </a:rPr>
              <a:t></a:t>
            </a:r>
            <a:r>
              <a:rPr lang="en-US" altLang="en-US"/>
              <a:t> the hash function needs to be chosen carefully</a:t>
            </a:r>
          </a:p>
          <a:p>
            <a:pPr lvl="1"/>
            <a:r>
              <a:rPr lang="en-US" altLang="en-US"/>
              <a:t>Add up the ASCII values of the characters in the string. </a:t>
            </a:r>
          </a:p>
          <a:p>
            <a:pPr lvl="1">
              <a:buFont typeface="Wingdings 2" pitchFamily="2" charset="2"/>
              <a:buNone/>
            </a:pPr>
            <a:r>
              <a:rPr lang="en-US" altLang="en-US" sz="2100">
                <a:solidFill>
                  <a:srgbClr val="0000CC"/>
                </a:solidFill>
              </a:rPr>
              <a:t>typedef unsigned int INDEX;</a:t>
            </a:r>
          </a:p>
          <a:p>
            <a:pPr lvl="1">
              <a:buFont typeface="Wingdings 2" pitchFamily="2" charset="2"/>
              <a:buNone/>
            </a:pPr>
            <a:r>
              <a:rPr lang="en-US" altLang="en-US" sz="2100">
                <a:solidFill>
                  <a:srgbClr val="0000CC"/>
                </a:solidFill>
              </a:rPr>
              <a:t>INDEX hash( char *key, unsigned int H_SIZE ) </a:t>
            </a:r>
          </a:p>
          <a:p>
            <a:pPr lvl="1">
              <a:buFont typeface="Wingdings 2" pitchFamily="2" charset="2"/>
              <a:buNone/>
            </a:pPr>
            <a:r>
              <a:rPr lang="en-US" altLang="en-US" sz="2100">
                <a:solidFill>
                  <a:srgbClr val="0000CC"/>
                </a:solidFill>
              </a:rPr>
              <a:t>{ </a:t>
            </a:r>
          </a:p>
          <a:p>
            <a:pPr lvl="1">
              <a:buFont typeface="Wingdings 2" pitchFamily="2" charset="2"/>
              <a:buNone/>
            </a:pPr>
            <a:r>
              <a:rPr lang="en-US" altLang="en-US" sz="2100">
                <a:solidFill>
                  <a:srgbClr val="0000CC"/>
                </a:solidFill>
              </a:rPr>
              <a:t>unsigned int hash_val = 0; </a:t>
            </a:r>
          </a:p>
          <a:p>
            <a:pPr lvl="1">
              <a:buFont typeface="Wingdings 2" pitchFamily="2" charset="2"/>
              <a:buNone/>
            </a:pPr>
            <a:r>
              <a:rPr lang="en-US" altLang="en-US" sz="2100">
                <a:solidFill>
                  <a:srgbClr val="FF0000"/>
                </a:solidFill>
              </a:rPr>
              <a:t>/*1*/ </a:t>
            </a:r>
            <a:r>
              <a:rPr lang="en-US" altLang="en-US" sz="2100">
                <a:solidFill>
                  <a:srgbClr val="0000CC"/>
                </a:solidFill>
              </a:rPr>
              <a:t>   while( *key != '\0' ) </a:t>
            </a:r>
          </a:p>
          <a:p>
            <a:pPr lvl="1">
              <a:buFont typeface="Wingdings 2" pitchFamily="2" charset="2"/>
              <a:buNone/>
            </a:pPr>
            <a:r>
              <a:rPr lang="en-US" altLang="en-US" sz="2100">
                <a:solidFill>
                  <a:srgbClr val="FF0000"/>
                </a:solidFill>
              </a:rPr>
              <a:t>/*2*/</a:t>
            </a:r>
            <a:r>
              <a:rPr lang="en-US" altLang="en-US" sz="2100">
                <a:solidFill>
                  <a:srgbClr val="0000CC"/>
                </a:solidFill>
              </a:rPr>
              <a:t> 		hash_val += *key++; </a:t>
            </a:r>
          </a:p>
          <a:p>
            <a:pPr lvl="1">
              <a:buFont typeface="Wingdings 2" pitchFamily="2" charset="2"/>
              <a:buNone/>
            </a:pPr>
            <a:r>
              <a:rPr lang="en-US" altLang="en-US" sz="2100">
                <a:solidFill>
                  <a:srgbClr val="FF0000"/>
                </a:solidFill>
              </a:rPr>
              <a:t>/*3*/</a:t>
            </a:r>
            <a:r>
              <a:rPr lang="en-US" altLang="en-US" sz="2100">
                <a:solidFill>
                  <a:srgbClr val="0000CC"/>
                </a:solidFill>
              </a:rPr>
              <a:t>     return( hash_val % H_SIZE ); </a:t>
            </a:r>
          </a:p>
          <a:p>
            <a:pPr lvl="1">
              <a:buFont typeface="Wingdings 2" pitchFamily="2" charset="2"/>
              <a:buNone/>
            </a:pPr>
            <a:r>
              <a:rPr lang="en-US" altLang="en-US" sz="2100">
                <a:solidFill>
                  <a:srgbClr val="0000CC"/>
                </a:solidFill>
              </a:rPr>
              <a:t>}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9149EE-9C94-7C46-B0F6-A09E485A9ADF}"/>
              </a:ext>
            </a:extLst>
          </p:cNvPr>
          <p:cNvSpPr txBox="1">
            <a:spLocks noGrp="1"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  <a:noFill/>
        </p:spPr>
        <p:txBody>
          <a:bodyPr lIns="0" tIns="0" rIns="0" bIns="0" anchor="b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DE723CFE-4B30-9A46-BC25-A7C5207DB63C}" type="slidenum">
              <a:rPr lang="en-US" altLang="en-US" sz="1100">
                <a:solidFill>
                  <a:schemeClr val="tx2"/>
                </a:solidFill>
              </a:rPr>
              <a:pPr algn="r" eaLnBrk="1" hangingPunct="1"/>
              <a:t>12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C51BE112-208F-EA42-BCA3-ADB1B12CAF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6675" y="3619500"/>
            <a:ext cx="3141663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 b="1" dirty="0">
                <a:solidFill>
                  <a:srgbClr val="FF0000"/>
                </a:solidFill>
              </a:rPr>
              <a:t>Example:</a:t>
            </a:r>
          </a:p>
          <a:p>
            <a:pPr algn="l" eaLnBrk="1" hangingPunct="1"/>
            <a:r>
              <a:rPr lang="en-US" altLang="en-US" sz="1600" b="1" i="1" dirty="0">
                <a:solidFill>
                  <a:srgbClr val="7E2A48"/>
                </a:solidFill>
              </a:rPr>
              <a:t>H_SIZE</a:t>
            </a:r>
            <a:r>
              <a:rPr lang="en-US" altLang="en-US" sz="1600" b="1" dirty="0">
                <a:solidFill>
                  <a:srgbClr val="7E2A48"/>
                </a:solidFill>
              </a:rPr>
              <a:t> = 10,007</a:t>
            </a:r>
          </a:p>
          <a:p>
            <a:pPr algn="l" eaLnBrk="1" hangingPunct="1"/>
            <a:r>
              <a:rPr lang="en-US" altLang="en-US" sz="1600" b="1" dirty="0">
                <a:solidFill>
                  <a:srgbClr val="7E2A48"/>
                </a:solidFill>
              </a:rPr>
              <a:t>Key =  8 NULs</a:t>
            </a:r>
          </a:p>
          <a:p>
            <a:pPr algn="l" eaLnBrk="1" hangingPunct="1"/>
            <a:r>
              <a:rPr lang="en-US" altLang="en-US" sz="1600" b="1" dirty="0" err="1">
                <a:solidFill>
                  <a:srgbClr val="7E2A48"/>
                </a:solidFill>
              </a:rPr>
              <a:t>hash_val</a:t>
            </a:r>
            <a:r>
              <a:rPr lang="en-US" altLang="en-US" sz="1600" b="1" dirty="0">
                <a:solidFill>
                  <a:srgbClr val="7E2A48"/>
                </a:solidFill>
              </a:rPr>
              <a:t>= 0 x 8  = 0</a:t>
            </a:r>
          </a:p>
          <a:p>
            <a:pPr algn="l" eaLnBrk="1" hangingPunct="1"/>
            <a:r>
              <a:rPr lang="en-US" altLang="en-US" sz="1600" b="1" dirty="0">
                <a:solidFill>
                  <a:srgbClr val="7E2A48"/>
                </a:solidFill>
              </a:rPr>
              <a:t>Index = 0% 10,007 = 0</a:t>
            </a:r>
          </a:p>
        </p:txBody>
      </p:sp>
      <p:sp>
        <p:nvSpPr>
          <p:cNvPr id="7" name="Text Box 8">
            <a:extLst>
              <a:ext uri="{FF2B5EF4-FFF2-40B4-BE49-F238E27FC236}">
                <a16:creationId xmlns:a16="http://schemas.microsoft.com/office/drawing/2014/main" id="{E611A6F1-B422-0D4A-9663-E667B479F3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4138" y="5010150"/>
            <a:ext cx="3141662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 b="1" dirty="0">
                <a:solidFill>
                  <a:srgbClr val="FF0000"/>
                </a:solidFill>
              </a:rPr>
              <a:t>Example:</a:t>
            </a:r>
          </a:p>
          <a:p>
            <a:pPr algn="l" eaLnBrk="1" hangingPunct="1"/>
            <a:r>
              <a:rPr lang="en-US" altLang="en-US" sz="1600" b="1" i="1" dirty="0">
                <a:solidFill>
                  <a:srgbClr val="7E2A48"/>
                </a:solidFill>
              </a:rPr>
              <a:t>H_SIZE</a:t>
            </a:r>
            <a:r>
              <a:rPr lang="en-US" altLang="en-US" sz="1600" b="1" dirty="0">
                <a:solidFill>
                  <a:srgbClr val="7E2A48"/>
                </a:solidFill>
              </a:rPr>
              <a:t> = 10,007</a:t>
            </a:r>
          </a:p>
          <a:p>
            <a:pPr algn="l" eaLnBrk="1" hangingPunct="1"/>
            <a:r>
              <a:rPr lang="en-US" altLang="en-US" sz="1600" b="1" dirty="0">
                <a:solidFill>
                  <a:srgbClr val="7E2A48"/>
                </a:solidFill>
              </a:rPr>
              <a:t>Key =  8 DELs</a:t>
            </a:r>
          </a:p>
          <a:p>
            <a:pPr algn="l" eaLnBrk="1" hangingPunct="1"/>
            <a:r>
              <a:rPr lang="en-US" altLang="en-US" sz="1600" b="1" dirty="0" err="1">
                <a:solidFill>
                  <a:srgbClr val="7E2A48"/>
                </a:solidFill>
              </a:rPr>
              <a:t>hash_val</a:t>
            </a:r>
            <a:r>
              <a:rPr lang="en-US" altLang="en-US" sz="1600" b="1" dirty="0">
                <a:solidFill>
                  <a:srgbClr val="7E2A48"/>
                </a:solidFill>
              </a:rPr>
              <a:t>= 127 x 8  = 1016</a:t>
            </a:r>
          </a:p>
          <a:p>
            <a:pPr algn="l" eaLnBrk="1" hangingPunct="1"/>
            <a:r>
              <a:rPr lang="en-US" altLang="en-US" sz="1600" b="1" dirty="0">
                <a:solidFill>
                  <a:srgbClr val="7E2A48"/>
                </a:solidFill>
              </a:rPr>
              <a:t>Index = 1016 % 10,007 = 1016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2E243786-7834-FC41-A3AD-93E2DE1DFE26}"/>
              </a:ext>
            </a:extLst>
          </p:cNvPr>
          <p:cNvSpPr>
            <a:spLocks/>
          </p:cNvSpPr>
          <p:nvPr/>
        </p:nvSpPr>
        <p:spPr bwMode="auto">
          <a:xfrm>
            <a:off x="374650" y="257969"/>
            <a:ext cx="7239000" cy="62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tIns="0" rIns="45720" bIns="0" anchor="b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en-US" sz="3400" b="1" dirty="0">
                <a:latin typeface="Trebuchet MS" panose="020B0703020202090204" pitchFamily="34" charset="0"/>
              </a:rPr>
              <a:t>Another Hash Function</a:t>
            </a:r>
            <a:endParaRPr lang="en-US" altLang="en-US" sz="3400" b="1" dirty="0"/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AD33CEAE-6702-0D4C-A51F-5225BDFE5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650" y="5775325"/>
            <a:ext cx="45021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sym typeface="Wingdings" pitchFamily="2" charset="2"/>
              </a:rPr>
              <a:t> </a:t>
            </a:r>
            <a:r>
              <a:rPr lang="en-US" altLang="en-US"/>
              <a:t>the hash function can only assume </a:t>
            </a:r>
          </a:p>
          <a:p>
            <a:r>
              <a:rPr lang="en-US" altLang="en-US"/>
              <a:t>values between 0 and 1016 </a:t>
            </a:r>
          </a:p>
        </p:txBody>
      </p:sp>
    </p:spTree>
    <p:extLst>
      <p:ext uri="{BB962C8B-B14F-4D97-AF65-F5344CB8AC3E}">
        <p14:creationId xmlns:p14="http://schemas.microsoft.com/office/powerpoint/2010/main" val="1948707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8A1166-04B7-8144-A526-D7338379D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908B8D-4CE4-C546-AF57-382C84D007B0}"/>
              </a:ext>
            </a:extLst>
          </p:cNvPr>
          <p:cNvSpPr txBox="1">
            <a:spLocks/>
          </p:cNvSpPr>
          <p:nvPr/>
        </p:nvSpPr>
        <p:spPr bwMode="auto">
          <a:xfrm>
            <a:off x="457200" y="762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/>
              <a:t>Open Hashing (Separate Chaining)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7F6056-E430-0B49-B8B0-5E120F83B026}"/>
              </a:ext>
            </a:extLst>
          </p:cNvPr>
          <p:cNvSpPr txBox="1">
            <a:spLocks/>
          </p:cNvSpPr>
          <p:nvPr/>
        </p:nvSpPr>
        <p:spPr>
          <a:xfrm>
            <a:off x="457200" y="1609725"/>
            <a:ext cx="7239000" cy="4846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The first strategy, commonly known as either </a:t>
            </a:r>
            <a:r>
              <a:rPr lang="en-US" altLang="en-US" i="1" dirty="0"/>
              <a:t>open hashing,</a:t>
            </a:r>
            <a:r>
              <a:rPr lang="en-US" altLang="en-US" dirty="0"/>
              <a:t> or </a:t>
            </a:r>
            <a:r>
              <a:rPr lang="en-US" altLang="en-US" i="1" dirty="0"/>
              <a:t>separate chaining</a:t>
            </a:r>
            <a:r>
              <a:rPr lang="en-US" altLang="en-US" dirty="0"/>
              <a:t>, is to keep a list of all elements that hash to the same value. </a:t>
            </a:r>
          </a:p>
          <a:p>
            <a:r>
              <a:rPr lang="en-US" altLang="en-US" dirty="0"/>
              <a:t>For convenience, our lists have headers </a:t>
            </a:r>
          </a:p>
          <a:p>
            <a:r>
              <a:rPr lang="en-US" altLang="en-US" dirty="0"/>
              <a:t>For simplicity, </a:t>
            </a:r>
            <a:r>
              <a:rPr lang="en-US" altLang="en-US" dirty="0">
                <a:solidFill>
                  <a:srgbClr val="0000CC"/>
                </a:solidFill>
              </a:rPr>
              <a:t>only for this section</a:t>
            </a:r>
            <a:r>
              <a:rPr lang="en-US" altLang="en-US" dirty="0"/>
              <a:t>, we assume that </a:t>
            </a:r>
          </a:p>
          <a:p>
            <a:pPr lvl="1"/>
            <a:r>
              <a:rPr lang="en-US" altLang="en-US" dirty="0"/>
              <a:t>the keys are the first 10 perfect squares, and</a:t>
            </a:r>
          </a:p>
          <a:p>
            <a:pPr lvl="1"/>
            <a:r>
              <a:rPr lang="en-US" altLang="en-US" dirty="0"/>
              <a:t>the hashing function is simply </a:t>
            </a:r>
            <a:r>
              <a:rPr lang="en-US" altLang="en-US" i="1" dirty="0"/>
              <a:t>hash</a:t>
            </a:r>
            <a:r>
              <a:rPr lang="en-US" altLang="en-US" dirty="0"/>
              <a:t>(</a:t>
            </a:r>
            <a:r>
              <a:rPr lang="en-US" altLang="en-US" i="1" dirty="0"/>
              <a:t>x</a:t>
            </a:r>
            <a:r>
              <a:rPr lang="en-US" altLang="en-US" dirty="0"/>
              <a:t>) = </a:t>
            </a:r>
            <a:r>
              <a:rPr lang="en-US" altLang="en-US" i="1" dirty="0"/>
              <a:t>x mod</a:t>
            </a:r>
            <a:r>
              <a:rPr lang="en-US" altLang="en-US" dirty="0"/>
              <a:t> 10</a:t>
            </a:r>
          </a:p>
          <a:p>
            <a:pPr lvl="2"/>
            <a:r>
              <a:rPr lang="en-US" altLang="en-US" dirty="0"/>
              <a:t>The table size is not prime, but is used here for simplicity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32595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C6AE7E-3C64-1D44-884E-404783794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C825C6-8E7D-0C4D-9969-835BADFC3058}"/>
              </a:ext>
            </a:extLst>
          </p:cNvPr>
          <p:cNvSpPr txBox="1">
            <a:spLocks/>
          </p:cNvSpPr>
          <p:nvPr/>
        </p:nvSpPr>
        <p:spPr bwMode="auto">
          <a:xfrm>
            <a:off x="457200" y="7620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/>
              <a:t>Open Hashing (Separate Chaining) </a:t>
            </a:r>
          </a:p>
        </p:txBody>
      </p:sp>
      <p:graphicFrame>
        <p:nvGraphicFramePr>
          <p:cNvPr id="4" name="Group 100">
            <a:extLst>
              <a:ext uri="{FF2B5EF4-FFF2-40B4-BE49-F238E27FC236}">
                <a16:creationId xmlns:a16="http://schemas.microsoft.com/office/drawing/2014/main" id="{1EB8A534-9D81-AA4C-B207-3DC7B6BFA527}"/>
              </a:ext>
            </a:extLst>
          </p:cNvPr>
          <p:cNvGraphicFramePr>
            <a:graphicFrameLocks noGrp="1"/>
          </p:cNvGraphicFramePr>
          <p:nvPr/>
        </p:nvGraphicFramePr>
        <p:xfrm>
          <a:off x="2133600" y="1600200"/>
          <a:ext cx="457200" cy="4791076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marT="1371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C6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T="1371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C6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T="1371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C6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marT="1371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C6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marT="1371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C6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marT="1371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C6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</a:p>
                  </a:txBody>
                  <a:tcPr marT="1371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C6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</a:p>
                  </a:txBody>
                  <a:tcPr marT="1371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C6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</a:t>
                      </a:r>
                    </a:p>
                  </a:txBody>
                  <a:tcPr marT="1371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C6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</a:t>
                      </a:r>
                    </a:p>
                  </a:txBody>
                  <a:tcPr marT="1371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C6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5" name="Group 173">
            <a:extLst>
              <a:ext uri="{FF2B5EF4-FFF2-40B4-BE49-F238E27FC236}">
                <a16:creationId xmlns:a16="http://schemas.microsoft.com/office/drawing/2014/main" id="{0CB5E6AF-03D7-694B-AC53-8AC38E7E0B7E}"/>
              </a:ext>
            </a:extLst>
          </p:cNvPr>
          <p:cNvGraphicFramePr>
            <a:graphicFrameLocks noGrp="1"/>
          </p:cNvGraphicFramePr>
          <p:nvPr/>
        </p:nvGraphicFramePr>
        <p:xfrm>
          <a:off x="2597150" y="1600200"/>
          <a:ext cx="228600" cy="4791076"/>
        </p:xfrm>
        <a:graphic>
          <a:graphicData uri="http://schemas.openxmlformats.org/drawingml/2006/table">
            <a:tbl>
              <a:tblPr/>
              <a:tblGrid>
                <a:gridCol w="22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1371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C6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1371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C6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1371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C6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1371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C6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1371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C6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1371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C6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1371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C6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1371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C6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1371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C6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1371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C6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AAB34A2-1089-5140-A05F-CC72A87C3E01}"/>
              </a:ext>
            </a:extLst>
          </p:cNvPr>
          <p:cNvCxnSpPr/>
          <p:nvPr/>
        </p:nvCxnSpPr>
        <p:spPr>
          <a:xfrm flipV="1">
            <a:off x="2633663" y="1828800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70333BE0-EFD8-4E44-B11A-C0EB10D77A60}"/>
              </a:ext>
            </a:extLst>
          </p:cNvPr>
          <p:cNvSpPr/>
          <p:nvPr/>
        </p:nvSpPr>
        <p:spPr>
          <a:xfrm>
            <a:off x="4195763" y="2127250"/>
            <a:ext cx="914400" cy="411163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800">
                <a:solidFill>
                  <a:srgbClr val="0000CC"/>
                </a:solidFill>
                <a:latin typeface="Arial" charset="0"/>
                <a:cs typeface="Arial" charset="0"/>
              </a:rPr>
              <a:t>81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2E8C24-8CAF-8C49-A2A0-D65C8385B4DB}"/>
              </a:ext>
            </a:extLst>
          </p:cNvPr>
          <p:cNvSpPr/>
          <p:nvPr/>
        </p:nvSpPr>
        <p:spPr>
          <a:xfrm>
            <a:off x="3024188" y="2136775"/>
            <a:ext cx="914400" cy="411163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800">
                <a:solidFill>
                  <a:srgbClr val="0000CC"/>
                </a:solidFill>
                <a:latin typeface="Arial" charset="0"/>
                <a:cs typeface="Arial" charset="0"/>
              </a:rPr>
              <a:t>1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7FA0206-01F6-F043-8A90-CE5FD988D4E0}"/>
              </a:ext>
            </a:extLst>
          </p:cNvPr>
          <p:cNvCxnSpPr/>
          <p:nvPr/>
        </p:nvCxnSpPr>
        <p:spPr>
          <a:xfrm rot="5400000" flipH="1" flipV="1">
            <a:off x="3524250" y="2335213"/>
            <a:ext cx="411163" cy="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A131FC4-292D-774E-B23E-AB1967E7298C}"/>
              </a:ext>
            </a:extLst>
          </p:cNvPr>
          <p:cNvCxnSpPr/>
          <p:nvPr/>
        </p:nvCxnSpPr>
        <p:spPr>
          <a:xfrm flipV="1">
            <a:off x="3811588" y="2336800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0C5731D-B550-4840-B436-FB425AAA743F}"/>
              </a:ext>
            </a:extLst>
          </p:cNvPr>
          <p:cNvCxnSpPr/>
          <p:nvPr/>
        </p:nvCxnSpPr>
        <p:spPr>
          <a:xfrm rot="5400000" flipH="1" flipV="1">
            <a:off x="4695826" y="2324100"/>
            <a:ext cx="411162" cy="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B054561-F5E3-3D4D-B977-34412E1FAEC2}"/>
              </a:ext>
            </a:extLst>
          </p:cNvPr>
          <p:cNvCxnSpPr/>
          <p:nvPr/>
        </p:nvCxnSpPr>
        <p:spPr>
          <a:xfrm flipV="1">
            <a:off x="4997450" y="2327275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64">
            <a:extLst>
              <a:ext uri="{FF2B5EF4-FFF2-40B4-BE49-F238E27FC236}">
                <a16:creationId xmlns:a16="http://schemas.microsoft.com/office/drawing/2014/main" id="{E56FC05A-6ACE-E245-BC9F-FBB6A4EBA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2575" y="2157413"/>
            <a:ext cx="793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0000CC"/>
                </a:solidFill>
              </a:rPr>
              <a:t>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866CA50-031D-8B40-8378-4D5C509374FB}"/>
              </a:ext>
            </a:extLst>
          </p:cNvPr>
          <p:cNvCxnSpPr/>
          <p:nvPr/>
        </p:nvCxnSpPr>
        <p:spPr>
          <a:xfrm flipV="1">
            <a:off x="2624138" y="2336800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34D56551-6229-A24D-A8C9-6C4AA8712AA1}"/>
              </a:ext>
            </a:extLst>
          </p:cNvPr>
          <p:cNvSpPr/>
          <p:nvPr/>
        </p:nvSpPr>
        <p:spPr>
          <a:xfrm>
            <a:off x="4208463" y="3616325"/>
            <a:ext cx="914400" cy="411163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800">
                <a:solidFill>
                  <a:srgbClr val="0000CC"/>
                </a:solidFill>
                <a:latin typeface="Arial" charset="0"/>
                <a:cs typeface="Arial" charset="0"/>
              </a:rPr>
              <a:t>64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4CF81E-C418-9341-BDBB-00F631B4D8A0}"/>
              </a:ext>
            </a:extLst>
          </p:cNvPr>
          <p:cNvSpPr/>
          <p:nvPr/>
        </p:nvSpPr>
        <p:spPr>
          <a:xfrm>
            <a:off x="3038475" y="3627438"/>
            <a:ext cx="914400" cy="411162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800" dirty="0">
                <a:solidFill>
                  <a:srgbClr val="0000CC"/>
                </a:solidFill>
              </a:rPr>
              <a:t>4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B70DD62-9995-B142-9534-8DBB5E006B62}"/>
              </a:ext>
            </a:extLst>
          </p:cNvPr>
          <p:cNvCxnSpPr/>
          <p:nvPr/>
        </p:nvCxnSpPr>
        <p:spPr>
          <a:xfrm rot="5400000" flipH="1" flipV="1">
            <a:off x="3538537" y="3824288"/>
            <a:ext cx="411163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94124E5-E834-5A49-B685-9798DAAD7157}"/>
              </a:ext>
            </a:extLst>
          </p:cNvPr>
          <p:cNvCxnSpPr/>
          <p:nvPr/>
        </p:nvCxnSpPr>
        <p:spPr>
          <a:xfrm flipV="1">
            <a:off x="3825875" y="3827463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7418716-E9BE-D447-8EF5-F369F74639CF}"/>
              </a:ext>
            </a:extLst>
          </p:cNvPr>
          <p:cNvCxnSpPr/>
          <p:nvPr/>
        </p:nvCxnSpPr>
        <p:spPr>
          <a:xfrm rot="5400000" flipH="1" flipV="1">
            <a:off x="4707732" y="3813969"/>
            <a:ext cx="412750" cy="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E4CAC63-4067-554F-8395-46656D8C6BAC}"/>
              </a:ext>
            </a:extLst>
          </p:cNvPr>
          <p:cNvCxnSpPr/>
          <p:nvPr/>
        </p:nvCxnSpPr>
        <p:spPr>
          <a:xfrm flipV="1">
            <a:off x="5010150" y="3816350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72">
            <a:extLst>
              <a:ext uri="{FF2B5EF4-FFF2-40B4-BE49-F238E27FC236}">
                <a16:creationId xmlns:a16="http://schemas.microsoft.com/office/drawing/2014/main" id="{06075479-8F64-204D-A7DC-9D9EE35B3A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6863" y="3646488"/>
            <a:ext cx="793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0000CC"/>
                </a:solidFill>
              </a:rPr>
              <a:t>NULL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39576DB-570B-AF4F-9B21-046AEEAB3BA3}"/>
              </a:ext>
            </a:extLst>
          </p:cNvPr>
          <p:cNvCxnSpPr/>
          <p:nvPr/>
        </p:nvCxnSpPr>
        <p:spPr>
          <a:xfrm flipV="1">
            <a:off x="2638425" y="3827463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069FF80-0EC3-024A-883A-3AA164729C83}"/>
              </a:ext>
            </a:extLst>
          </p:cNvPr>
          <p:cNvCxnSpPr/>
          <p:nvPr/>
        </p:nvCxnSpPr>
        <p:spPr>
          <a:xfrm flipV="1">
            <a:off x="2681288" y="5227638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90">
            <a:extLst>
              <a:ext uri="{FF2B5EF4-FFF2-40B4-BE49-F238E27FC236}">
                <a16:creationId xmlns:a16="http://schemas.microsoft.com/office/drawing/2014/main" id="{41AC3B92-8948-234B-A1B3-F804E7F3E4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6413" y="5057775"/>
            <a:ext cx="793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0000CC"/>
                </a:solidFill>
              </a:rPr>
              <a:t>NULL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DF4E717-26F2-C24D-AC79-A05810B9BAB2}"/>
              </a:ext>
            </a:extLst>
          </p:cNvPr>
          <p:cNvSpPr/>
          <p:nvPr/>
        </p:nvSpPr>
        <p:spPr>
          <a:xfrm>
            <a:off x="3003550" y="1636713"/>
            <a:ext cx="914400" cy="411162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800">
                <a:solidFill>
                  <a:srgbClr val="0000CC"/>
                </a:solidFill>
                <a:latin typeface="Arial" charset="0"/>
                <a:cs typeface="Arial" charset="0"/>
              </a:rPr>
              <a:t>0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7E12014-ABD0-D349-A035-891AD720D64F}"/>
              </a:ext>
            </a:extLst>
          </p:cNvPr>
          <p:cNvCxnSpPr/>
          <p:nvPr/>
        </p:nvCxnSpPr>
        <p:spPr>
          <a:xfrm rot="5400000" flipH="1" flipV="1">
            <a:off x="3503612" y="1833563"/>
            <a:ext cx="411163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850BC2B-66E1-384E-886E-4484F98D960F}"/>
              </a:ext>
            </a:extLst>
          </p:cNvPr>
          <p:cNvCxnSpPr/>
          <p:nvPr/>
        </p:nvCxnSpPr>
        <p:spPr>
          <a:xfrm flipV="1">
            <a:off x="3792538" y="1836738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87">
            <a:extLst>
              <a:ext uri="{FF2B5EF4-FFF2-40B4-BE49-F238E27FC236}">
                <a16:creationId xmlns:a16="http://schemas.microsoft.com/office/drawing/2014/main" id="{B2975AEA-C9B7-7A4B-B6FE-19C9A19706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1950" y="1655763"/>
            <a:ext cx="793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0000CC"/>
                </a:solidFill>
              </a:rPr>
              <a:t>NULL</a:t>
            </a:r>
          </a:p>
        </p:txBody>
      </p:sp>
      <p:sp>
        <p:nvSpPr>
          <p:cNvPr id="29" name="Rectangle 66">
            <a:extLst>
              <a:ext uri="{FF2B5EF4-FFF2-40B4-BE49-F238E27FC236}">
                <a16:creationId xmlns:a16="http://schemas.microsoft.com/office/drawing/2014/main" id="{D7FF20EA-BF64-464D-82BD-3D7D439880C8}"/>
              </a:ext>
            </a:extLst>
          </p:cNvPr>
          <p:cNvSpPr/>
          <p:nvPr/>
        </p:nvSpPr>
        <p:spPr>
          <a:xfrm>
            <a:off x="4208463" y="4487863"/>
            <a:ext cx="914400" cy="411162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800">
                <a:solidFill>
                  <a:srgbClr val="0000CC"/>
                </a:solidFill>
                <a:latin typeface="Arial" charset="0"/>
                <a:cs typeface="Arial" charset="0"/>
              </a:rPr>
              <a:t>36</a:t>
            </a:r>
          </a:p>
        </p:txBody>
      </p:sp>
      <p:sp>
        <p:nvSpPr>
          <p:cNvPr id="30" name="Rectangle 67">
            <a:extLst>
              <a:ext uri="{FF2B5EF4-FFF2-40B4-BE49-F238E27FC236}">
                <a16:creationId xmlns:a16="http://schemas.microsoft.com/office/drawing/2014/main" id="{02AEF8BC-AB4F-9D43-9622-BF7CBD88964C}"/>
              </a:ext>
            </a:extLst>
          </p:cNvPr>
          <p:cNvSpPr/>
          <p:nvPr/>
        </p:nvSpPr>
        <p:spPr>
          <a:xfrm>
            <a:off x="3038475" y="4498975"/>
            <a:ext cx="914400" cy="411163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800">
                <a:solidFill>
                  <a:srgbClr val="0000CC"/>
                </a:solidFill>
                <a:latin typeface="Arial" charset="0"/>
                <a:cs typeface="Arial" charset="0"/>
              </a:rPr>
              <a:t>16</a:t>
            </a:r>
          </a:p>
        </p:txBody>
      </p:sp>
      <p:cxnSp>
        <p:nvCxnSpPr>
          <p:cNvPr id="31" name="Straight Connector 68">
            <a:extLst>
              <a:ext uri="{FF2B5EF4-FFF2-40B4-BE49-F238E27FC236}">
                <a16:creationId xmlns:a16="http://schemas.microsoft.com/office/drawing/2014/main" id="{FC63326A-6667-1140-AFEC-9DD93D9F06B2}"/>
              </a:ext>
            </a:extLst>
          </p:cNvPr>
          <p:cNvCxnSpPr/>
          <p:nvPr/>
        </p:nvCxnSpPr>
        <p:spPr>
          <a:xfrm rot="5400000" flipH="1" flipV="1">
            <a:off x="3538538" y="4695825"/>
            <a:ext cx="411162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69">
            <a:extLst>
              <a:ext uri="{FF2B5EF4-FFF2-40B4-BE49-F238E27FC236}">
                <a16:creationId xmlns:a16="http://schemas.microsoft.com/office/drawing/2014/main" id="{1027C9F3-5B3B-AD4D-8414-6D61058A3AB1}"/>
              </a:ext>
            </a:extLst>
          </p:cNvPr>
          <p:cNvCxnSpPr/>
          <p:nvPr/>
        </p:nvCxnSpPr>
        <p:spPr>
          <a:xfrm flipV="1">
            <a:off x="3825875" y="4699000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70">
            <a:extLst>
              <a:ext uri="{FF2B5EF4-FFF2-40B4-BE49-F238E27FC236}">
                <a16:creationId xmlns:a16="http://schemas.microsoft.com/office/drawing/2014/main" id="{E63EFB97-2195-B44C-BD71-B1E7D38C74DE}"/>
              </a:ext>
            </a:extLst>
          </p:cNvPr>
          <p:cNvCxnSpPr/>
          <p:nvPr/>
        </p:nvCxnSpPr>
        <p:spPr>
          <a:xfrm rot="5400000" flipH="1" flipV="1">
            <a:off x="4707732" y="4685506"/>
            <a:ext cx="412750" cy="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71">
            <a:extLst>
              <a:ext uri="{FF2B5EF4-FFF2-40B4-BE49-F238E27FC236}">
                <a16:creationId xmlns:a16="http://schemas.microsoft.com/office/drawing/2014/main" id="{DEE431BC-4867-7D4A-AE44-E20A2AF356E0}"/>
              </a:ext>
            </a:extLst>
          </p:cNvPr>
          <p:cNvCxnSpPr/>
          <p:nvPr/>
        </p:nvCxnSpPr>
        <p:spPr>
          <a:xfrm flipV="1">
            <a:off x="5010150" y="4687888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72">
            <a:extLst>
              <a:ext uri="{FF2B5EF4-FFF2-40B4-BE49-F238E27FC236}">
                <a16:creationId xmlns:a16="http://schemas.microsoft.com/office/drawing/2014/main" id="{C7B6C272-18E8-0540-9B80-1345C610E9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6863" y="4518025"/>
            <a:ext cx="793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0000CC"/>
                </a:solidFill>
              </a:rPr>
              <a:t>NULL</a:t>
            </a:r>
          </a:p>
        </p:txBody>
      </p:sp>
      <p:cxnSp>
        <p:nvCxnSpPr>
          <p:cNvPr id="36" name="Straight Arrow Connector 73">
            <a:extLst>
              <a:ext uri="{FF2B5EF4-FFF2-40B4-BE49-F238E27FC236}">
                <a16:creationId xmlns:a16="http://schemas.microsoft.com/office/drawing/2014/main" id="{2D36CC5B-CB14-B941-8F18-BA97F328263D}"/>
              </a:ext>
            </a:extLst>
          </p:cNvPr>
          <p:cNvCxnSpPr/>
          <p:nvPr/>
        </p:nvCxnSpPr>
        <p:spPr>
          <a:xfrm flipV="1">
            <a:off x="2638425" y="4699000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25D3C5DD-9C8A-2949-B53F-B1CD60E757CC}"/>
              </a:ext>
            </a:extLst>
          </p:cNvPr>
          <p:cNvSpPr/>
          <p:nvPr/>
        </p:nvSpPr>
        <p:spPr>
          <a:xfrm>
            <a:off x="3035300" y="4106863"/>
            <a:ext cx="914400" cy="412750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800">
                <a:solidFill>
                  <a:srgbClr val="0000CC"/>
                </a:solidFill>
                <a:latin typeface="Arial" charset="0"/>
                <a:cs typeface="Arial" charset="0"/>
              </a:rPr>
              <a:t>25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2160874-145E-D949-B7EE-67D6F182B097}"/>
              </a:ext>
            </a:extLst>
          </p:cNvPr>
          <p:cNvCxnSpPr/>
          <p:nvPr/>
        </p:nvCxnSpPr>
        <p:spPr>
          <a:xfrm rot="5400000" flipH="1" flipV="1">
            <a:off x="3535363" y="4305300"/>
            <a:ext cx="411162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19D23BF-2EA4-6E40-B616-540B01A3D16B}"/>
              </a:ext>
            </a:extLst>
          </p:cNvPr>
          <p:cNvCxnSpPr/>
          <p:nvPr/>
        </p:nvCxnSpPr>
        <p:spPr>
          <a:xfrm flipV="1">
            <a:off x="3822700" y="4308475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80">
            <a:extLst>
              <a:ext uri="{FF2B5EF4-FFF2-40B4-BE49-F238E27FC236}">
                <a16:creationId xmlns:a16="http://schemas.microsoft.com/office/drawing/2014/main" id="{24B87D66-C93F-224F-BCC8-D6AD63CE38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2113" y="4127500"/>
            <a:ext cx="793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0000CC"/>
                </a:solidFill>
              </a:rPr>
              <a:t>NULL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FE97BCE-E338-7C4C-83F8-4E37C442DAA3}"/>
              </a:ext>
            </a:extLst>
          </p:cNvPr>
          <p:cNvCxnSpPr/>
          <p:nvPr/>
        </p:nvCxnSpPr>
        <p:spPr>
          <a:xfrm flipV="1">
            <a:off x="2635250" y="4308475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89">
            <a:extLst>
              <a:ext uri="{FF2B5EF4-FFF2-40B4-BE49-F238E27FC236}">
                <a16:creationId xmlns:a16="http://schemas.microsoft.com/office/drawing/2014/main" id="{A4FE0306-4E4B-9545-A209-C95BF314B39B}"/>
              </a:ext>
            </a:extLst>
          </p:cNvPr>
          <p:cNvCxnSpPr/>
          <p:nvPr/>
        </p:nvCxnSpPr>
        <p:spPr>
          <a:xfrm flipV="1">
            <a:off x="2709863" y="2836863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90">
            <a:extLst>
              <a:ext uri="{FF2B5EF4-FFF2-40B4-BE49-F238E27FC236}">
                <a16:creationId xmlns:a16="http://schemas.microsoft.com/office/drawing/2014/main" id="{07B1CC5B-EDBF-3043-85F0-4543514E91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4988" y="2667000"/>
            <a:ext cx="793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0000CC"/>
                </a:solidFill>
              </a:rPr>
              <a:t>NULL</a:t>
            </a:r>
          </a:p>
        </p:txBody>
      </p:sp>
      <p:cxnSp>
        <p:nvCxnSpPr>
          <p:cNvPr id="44" name="Straight Arrow Connector 89">
            <a:extLst>
              <a:ext uri="{FF2B5EF4-FFF2-40B4-BE49-F238E27FC236}">
                <a16:creationId xmlns:a16="http://schemas.microsoft.com/office/drawing/2014/main" id="{8E07BC20-E188-4541-8EFE-6E2DDCEA90A6}"/>
              </a:ext>
            </a:extLst>
          </p:cNvPr>
          <p:cNvCxnSpPr/>
          <p:nvPr/>
        </p:nvCxnSpPr>
        <p:spPr>
          <a:xfrm flipV="1">
            <a:off x="2727325" y="3260725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90">
            <a:extLst>
              <a:ext uri="{FF2B5EF4-FFF2-40B4-BE49-F238E27FC236}">
                <a16:creationId xmlns:a16="http://schemas.microsoft.com/office/drawing/2014/main" id="{76DAADB2-9B38-9B43-BDA9-4DE562C92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2450" y="3090863"/>
            <a:ext cx="793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0000CC"/>
                </a:solidFill>
              </a:rPr>
              <a:t>NULL</a:t>
            </a:r>
          </a:p>
        </p:txBody>
      </p:sp>
      <p:sp>
        <p:nvSpPr>
          <p:cNvPr id="46" name="Rectangle 66">
            <a:extLst>
              <a:ext uri="{FF2B5EF4-FFF2-40B4-BE49-F238E27FC236}">
                <a16:creationId xmlns:a16="http://schemas.microsoft.com/office/drawing/2014/main" id="{D7240E72-410E-0345-B31D-82B7807FB32D}"/>
              </a:ext>
            </a:extLst>
          </p:cNvPr>
          <p:cNvSpPr/>
          <p:nvPr/>
        </p:nvSpPr>
        <p:spPr>
          <a:xfrm>
            <a:off x="4210050" y="5921375"/>
            <a:ext cx="914400" cy="411163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800">
                <a:solidFill>
                  <a:srgbClr val="0000CC"/>
                </a:solidFill>
                <a:latin typeface="Arial" charset="0"/>
                <a:cs typeface="Arial" charset="0"/>
              </a:rPr>
              <a:t>49</a:t>
            </a:r>
          </a:p>
        </p:txBody>
      </p:sp>
      <p:sp>
        <p:nvSpPr>
          <p:cNvPr id="47" name="Rectangle 67">
            <a:extLst>
              <a:ext uri="{FF2B5EF4-FFF2-40B4-BE49-F238E27FC236}">
                <a16:creationId xmlns:a16="http://schemas.microsoft.com/office/drawing/2014/main" id="{684C9CB6-3459-6C4E-B9E0-69B59A4FBF0D}"/>
              </a:ext>
            </a:extLst>
          </p:cNvPr>
          <p:cNvSpPr/>
          <p:nvPr/>
        </p:nvSpPr>
        <p:spPr>
          <a:xfrm>
            <a:off x="3040063" y="5932488"/>
            <a:ext cx="914400" cy="411162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800">
                <a:solidFill>
                  <a:srgbClr val="0000CC"/>
                </a:solidFill>
                <a:latin typeface="Arial" charset="0"/>
                <a:cs typeface="Arial" charset="0"/>
              </a:rPr>
              <a:t>9</a:t>
            </a:r>
          </a:p>
        </p:txBody>
      </p:sp>
      <p:cxnSp>
        <p:nvCxnSpPr>
          <p:cNvPr id="48" name="Straight Connector 68">
            <a:extLst>
              <a:ext uri="{FF2B5EF4-FFF2-40B4-BE49-F238E27FC236}">
                <a16:creationId xmlns:a16="http://schemas.microsoft.com/office/drawing/2014/main" id="{6ED6E308-688A-814F-9703-050F2C381BFE}"/>
              </a:ext>
            </a:extLst>
          </p:cNvPr>
          <p:cNvCxnSpPr/>
          <p:nvPr/>
        </p:nvCxnSpPr>
        <p:spPr>
          <a:xfrm rot="5400000" flipH="1" flipV="1">
            <a:off x="3540125" y="6129338"/>
            <a:ext cx="411163" cy="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69">
            <a:extLst>
              <a:ext uri="{FF2B5EF4-FFF2-40B4-BE49-F238E27FC236}">
                <a16:creationId xmlns:a16="http://schemas.microsoft.com/office/drawing/2014/main" id="{440EB4B9-8760-6143-9FAC-759ED54C1CBA}"/>
              </a:ext>
            </a:extLst>
          </p:cNvPr>
          <p:cNvCxnSpPr/>
          <p:nvPr/>
        </p:nvCxnSpPr>
        <p:spPr>
          <a:xfrm flipV="1">
            <a:off x="3827463" y="6132513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70">
            <a:extLst>
              <a:ext uri="{FF2B5EF4-FFF2-40B4-BE49-F238E27FC236}">
                <a16:creationId xmlns:a16="http://schemas.microsoft.com/office/drawing/2014/main" id="{E7A04306-FB71-744F-B3BA-DD95D4B3F2BF}"/>
              </a:ext>
            </a:extLst>
          </p:cNvPr>
          <p:cNvCxnSpPr/>
          <p:nvPr/>
        </p:nvCxnSpPr>
        <p:spPr>
          <a:xfrm rot="5400000" flipH="1" flipV="1">
            <a:off x="4709319" y="6119019"/>
            <a:ext cx="41275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71">
            <a:extLst>
              <a:ext uri="{FF2B5EF4-FFF2-40B4-BE49-F238E27FC236}">
                <a16:creationId xmlns:a16="http://schemas.microsoft.com/office/drawing/2014/main" id="{506A7E14-070A-6642-9BEE-C0EB56AB1A1D}"/>
              </a:ext>
            </a:extLst>
          </p:cNvPr>
          <p:cNvCxnSpPr/>
          <p:nvPr/>
        </p:nvCxnSpPr>
        <p:spPr>
          <a:xfrm flipV="1">
            <a:off x="5011738" y="6121400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72">
            <a:extLst>
              <a:ext uri="{FF2B5EF4-FFF2-40B4-BE49-F238E27FC236}">
                <a16:creationId xmlns:a16="http://schemas.microsoft.com/office/drawing/2014/main" id="{2036FC87-C2DC-D146-9B93-F91609E1BF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8450" y="5951538"/>
            <a:ext cx="793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0000CC"/>
                </a:solidFill>
              </a:rPr>
              <a:t>NULL</a:t>
            </a:r>
          </a:p>
        </p:txBody>
      </p:sp>
      <p:cxnSp>
        <p:nvCxnSpPr>
          <p:cNvPr id="53" name="Straight Arrow Connector 73">
            <a:extLst>
              <a:ext uri="{FF2B5EF4-FFF2-40B4-BE49-F238E27FC236}">
                <a16:creationId xmlns:a16="http://schemas.microsoft.com/office/drawing/2014/main" id="{5FE9F66A-D745-584C-92FB-F703924DFCAF}"/>
              </a:ext>
            </a:extLst>
          </p:cNvPr>
          <p:cNvCxnSpPr/>
          <p:nvPr/>
        </p:nvCxnSpPr>
        <p:spPr>
          <a:xfrm flipV="1">
            <a:off x="2640013" y="6132513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89">
            <a:extLst>
              <a:ext uri="{FF2B5EF4-FFF2-40B4-BE49-F238E27FC236}">
                <a16:creationId xmlns:a16="http://schemas.microsoft.com/office/drawing/2014/main" id="{0C4C356B-444E-A04E-BDBE-BC80A0155A80}"/>
              </a:ext>
            </a:extLst>
          </p:cNvPr>
          <p:cNvCxnSpPr/>
          <p:nvPr/>
        </p:nvCxnSpPr>
        <p:spPr>
          <a:xfrm flipV="1">
            <a:off x="2667000" y="5703888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90">
            <a:extLst>
              <a:ext uri="{FF2B5EF4-FFF2-40B4-BE49-F238E27FC236}">
                <a16:creationId xmlns:a16="http://schemas.microsoft.com/office/drawing/2014/main" id="{1F80B504-3621-DD42-AC6A-7A21E72D20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2125" y="5534025"/>
            <a:ext cx="793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0000CC"/>
                </a:solidFill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3305265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6BCCE3-892B-164E-A961-1DC0BE96E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C404D1-16E0-AF4F-A53B-EB17FB15E67D}"/>
              </a:ext>
            </a:extLst>
          </p:cNvPr>
          <p:cNvSpPr txBox="1">
            <a:spLocks/>
          </p:cNvSpPr>
          <p:nvPr/>
        </p:nvSpPr>
        <p:spPr bwMode="auto">
          <a:xfrm>
            <a:off x="457200" y="76200"/>
            <a:ext cx="7620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/>
              <a:t>Open Hashing  : Type Declarations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E66469-8EF7-3F4A-901D-98B4F38B5347}"/>
              </a:ext>
            </a:extLst>
          </p:cNvPr>
          <p:cNvSpPr txBox="1">
            <a:spLocks/>
          </p:cNvSpPr>
          <p:nvPr/>
        </p:nvSpPr>
        <p:spPr>
          <a:xfrm>
            <a:off x="457200" y="1609725"/>
            <a:ext cx="7239000" cy="48466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000" dirty="0">
                <a:solidFill>
                  <a:srgbClr val="0000CC"/>
                </a:solidFill>
              </a:rPr>
              <a:t>typedef </a:t>
            </a:r>
            <a:r>
              <a:rPr lang="en-US" altLang="en-US" sz="2000" dirty="0" err="1">
                <a:solidFill>
                  <a:srgbClr val="0000CC"/>
                </a:solidFill>
              </a:rPr>
              <a:t>int</a:t>
            </a:r>
            <a:r>
              <a:rPr lang="en-US" altLang="en-US" sz="2000" dirty="0">
                <a:solidFill>
                  <a:srgbClr val="0000CC"/>
                </a:solidFill>
              </a:rPr>
              <a:t> </a:t>
            </a:r>
            <a:r>
              <a:rPr lang="en-US" altLang="en-US" sz="2000" b="1" dirty="0" err="1">
                <a:solidFill>
                  <a:srgbClr val="9900FF"/>
                </a:solidFill>
              </a:rPr>
              <a:t>element_type</a:t>
            </a:r>
            <a:r>
              <a:rPr lang="en-US" altLang="en-US" sz="2000" dirty="0">
                <a:solidFill>
                  <a:srgbClr val="0000CC"/>
                </a:solidFill>
              </a:rPr>
              <a:t>;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000" dirty="0">
                <a:solidFill>
                  <a:srgbClr val="0000CC"/>
                </a:solidFill>
              </a:rPr>
              <a:t>struct</a:t>
            </a:r>
            <a:r>
              <a:rPr lang="en-US" altLang="en-US" sz="2000" b="1" dirty="0">
                <a:solidFill>
                  <a:srgbClr val="0000CC"/>
                </a:solidFill>
              </a:rPr>
              <a:t> </a:t>
            </a:r>
            <a:r>
              <a:rPr lang="en-US" altLang="en-US" sz="2000" b="1" dirty="0" err="1">
                <a:solidFill>
                  <a:srgbClr val="9900FF"/>
                </a:solidFill>
              </a:rPr>
              <a:t>list_node</a:t>
            </a:r>
            <a:r>
              <a:rPr lang="en-US" altLang="en-US" sz="2000" dirty="0">
                <a:solidFill>
                  <a:srgbClr val="0000CC"/>
                </a:solidFill>
              </a:rPr>
              <a:t>  {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000" b="1" dirty="0">
                <a:solidFill>
                  <a:srgbClr val="9900FF"/>
                </a:solidFill>
              </a:rPr>
              <a:t>         </a:t>
            </a:r>
            <a:r>
              <a:rPr lang="en-US" altLang="en-US" sz="2000" b="1" dirty="0" err="1">
                <a:solidFill>
                  <a:srgbClr val="9900FF"/>
                </a:solidFill>
              </a:rPr>
              <a:t>element_type</a:t>
            </a:r>
            <a:r>
              <a:rPr lang="en-US" altLang="en-US" sz="2000" b="1" dirty="0">
                <a:solidFill>
                  <a:srgbClr val="9900FF"/>
                </a:solidFill>
              </a:rPr>
              <a:t> </a:t>
            </a:r>
            <a:r>
              <a:rPr lang="en-US" altLang="en-US" sz="2000" dirty="0">
                <a:solidFill>
                  <a:srgbClr val="0000CC"/>
                </a:solidFill>
              </a:rPr>
              <a:t>element;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000" b="1" dirty="0">
                <a:solidFill>
                  <a:srgbClr val="9900FF"/>
                </a:solidFill>
              </a:rPr>
              <a:t>         </a:t>
            </a:r>
            <a:r>
              <a:rPr lang="en-US" altLang="en-US" sz="2000" b="1" dirty="0" err="1">
                <a:solidFill>
                  <a:srgbClr val="9900FF"/>
                </a:solidFill>
              </a:rPr>
              <a:t>list_node</a:t>
            </a:r>
            <a:r>
              <a:rPr lang="en-US" altLang="en-US" sz="2000" dirty="0">
                <a:solidFill>
                  <a:srgbClr val="0000CC"/>
                </a:solidFill>
              </a:rPr>
              <a:t> * next;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000" dirty="0">
                <a:solidFill>
                  <a:srgbClr val="0000CC"/>
                </a:solidFill>
              </a:rPr>
              <a:t>};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000" dirty="0">
                <a:solidFill>
                  <a:srgbClr val="0000CC"/>
                </a:solidFill>
              </a:rPr>
              <a:t>typedef struct </a:t>
            </a:r>
            <a:r>
              <a:rPr lang="en-US" altLang="en-US" sz="2000" b="1" dirty="0" err="1">
                <a:solidFill>
                  <a:srgbClr val="9900FF"/>
                </a:solidFill>
              </a:rPr>
              <a:t>list_node</a:t>
            </a:r>
            <a:r>
              <a:rPr lang="en-US" altLang="en-US" sz="2000" b="1" dirty="0">
                <a:solidFill>
                  <a:srgbClr val="9900FF"/>
                </a:solidFill>
              </a:rPr>
              <a:t> *</a:t>
            </a:r>
            <a:r>
              <a:rPr lang="en-US" altLang="en-US" sz="2000" b="1" dirty="0" err="1">
                <a:solidFill>
                  <a:srgbClr val="9900FF"/>
                </a:solidFill>
              </a:rPr>
              <a:t>node_ptr</a:t>
            </a:r>
            <a:r>
              <a:rPr lang="en-US" altLang="en-US" sz="2000" dirty="0">
                <a:solidFill>
                  <a:srgbClr val="0000CC"/>
                </a:solidFill>
              </a:rPr>
              <a:t>;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000" dirty="0">
                <a:solidFill>
                  <a:srgbClr val="0000CC"/>
                </a:solidFill>
              </a:rPr>
              <a:t>typedef </a:t>
            </a:r>
            <a:r>
              <a:rPr lang="en-US" altLang="en-US" sz="2000" b="1" dirty="0" err="1">
                <a:solidFill>
                  <a:srgbClr val="9900FF"/>
                </a:solidFill>
              </a:rPr>
              <a:t>node_ptr</a:t>
            </a:r>
            <a:r>
              <a:rPr lang="en-US" altLang="en-US" sz="2000" b="1" dirty="0">
                <a:solidFill>
                  <a:srgbClr val="9900FF"/>
                </a:solidFill>
              </a:rPr>
              <a:t> LIST</a:t>
            </a:r>
            <a:r>
              <a:rPr lang="en-US" altLang="en-US" sz="2000" dirty="0">
                <a:solidFill>
                  <a:srgbClr val="0000CC"/>
                </a:solidFill>
              </a:rPr>
              <a:t>;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000" dirty="0">
                <a:solidFill>
                  <a:srgbClr val="0000CC"/>
                </a:solidFill>
              </a:rPr>
              <a:t>typedef </a:t>
            </a:r>
            <a:r>
              <a:rPr lang="en-US" altLang="en-US" sz="2000" b="1" dirty="0" err="1">
                <a:solidFill>
                  <a:srgbClr val="9900FF"/>
                </a:solidFill>
              </a:rPr>
              <a:t>node_ptr</a:t>
            </a:r>
            <a:r>
              <a:rPr lang="en-US" altLang="en-US" sz="2000" b="1" dirty="0">
                <a:solidFill>
                  <a:srgbClr val="9900FF"/>
                </a:solidFill>
              </a:rPr>
              <a:t> position</a:t>
            </a:r>
            <a:r>
              <a:rPr lang="en-US" altLang="en-US" sz="2000" dirty="0">
                <a:solidFill>
                  <a:srgbClr val="0000CC"/>
                </a:solidFill>
              </a:rPr>
              <a:t>;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000" dirty="0">
                <a:solidFill>
                  <a:srgbClr val="FF0000"/>
                </a:solidFill>
              </a:rPr>
              <a:t>/* LIST *</a:t>
            </a:r>
            <a:r>
              <a:rPr lang="en-US" altLang="en-US" sz="2000" dirty="0" err="1">
                <a:solidFill>
                  <a:srgbClr val="FF0000"/>
                </a:solidFill>
              </a:rPr>
              <a:t>the_list</a:t>
            </a:r>
            <a:r>
              <a:rPr lang="en-US" altLang="en-US" sz="2000" dirty="0">
                <a:solidFill>
                  <a:srgbClr val="FF0000"/>
                </a:solidFill>
              </a:rPr>
              <a:t> will be an array of lists, allocated later */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000" dirty="0">
                <a:solidFill>
                  <a:srgbClr val="FF0000"/>
                </a:solidFill>
              </a:rPr>
              <a:t>/* The lists will use headers, allocated later */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000" dirty="0">
                <a:solidFill>
                  <a:srgbClr val="0000CC"/>
                </a:solidFill>
              </a:rPr>
              <a:t>struct </a:t>
            </a:r>
            <a:r>
              <a:rPr lang="en-US" altLang="en-US" sz="2000" b="1" dirty="0" err="1">
                <a:solidFill>
                  <a:srgbClr val="9900FF"/>
                </a:solidFill>
              </a:rPr>
              <a:t>hash_tbl</a:t>
            </a:r>
            <a:r>
              <a:rPr lang="en-US" altLang="en-US" sz="2000" dirty="0">
                <a:solidFill>
                  <a:srgbClr val="0000CC"/>
                </a:solidFill>
              </a:rPr>
              <a:t> {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000" dirty="0">
                <a:solidFill>
                  <a:srgbClr val="0000CC"/>
                </a:solidFill>
              </a:rPr>
              <a:t>          unsigned </a:t>
            </a:r>
            <a:r>
              <a:rPr lang="en-US" altLang="en-US" sz="2000" dirty="0" err="1">
                <a:solidFill>
                  <a:srgbClr val="0000CC"/>
                </a:solidFill>
              </a:rPr>
              <a:t>int</a:t>
            </a:r>
            <a:r>
              <a:rPr lang="en-US" altLang="en-US" sz="2000" dirty="0">
                <a:solidFill>
                  <a:srgbClr val="0000CC"/>
                </a:solidFill>
              </a:rPr>
              <a:t> </a:t>
            </a:r>
            <a:r>
              <a:rPr lang="en-US" altLang="en-US" sz="2000" dirty="0" err="1">
                <a:solidFill>
                  <a:srgbClr val="0000CC"/>
                </a:solidFill>
              </a:rPr>
              <a:t>table_size</a:t>
            </a:r>
            <a:r>
              <a:rPr lang="en-US" altLang="en-US" sz="2000" dirty="0">
                <a:solidFill>
                  <a:srgbClr val="0000CC"/>
                </a:solidFill>
              </a:rPr>
              <a:t>;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000" b="1" dirty="0">
                <a:solidFill>
                  <a:srgbClr val="9900FF"/>
                </a:solidFill>
              </a:rPr>
              <a:t> 	      LIST</a:t>
            </a:r>
            <a:r>
              <a:rPr lang="en-US" altLang="en-US" sz="2000" dirty="0">
                <a:solidFill>
                  <a:srgbClr val="0000CC"/>
                </a:solidFill>
              </a:rPr>
              <a:t>  * </a:t>
            </a:r>
            <a:r>
              <a:rPr lang="en-US" altLang="en-US" sz="2000" dirty="0" err="1">
                <a:solidFill>
                  <a:srgbClr val="0000CC"/>
                </a:solidFill>
              </a:rPr>
              <a:t>the_lists</a:t>
            </a:r>
            <a:r>
              <a:rPr lang="en-US" altLang="en-US" sz="2000" dirty="0">
                <a:solidFill>
                  <a:srgbClr val="0000CC"/>
                </a:solidFill>
              </a:rPr>
              <a:t>;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000" dirty="0">
                <a:solidFill>
                  <a:srgbClr val="0000CC"/>
                </a:solidFill>
              </a:rPr>
              <a:t>}; </a:t>
            </a:r>
          </a:p>
          <a:p>
            <a:pPr>
              <a:lnSpc>
                <a:spcPct val="80000"/>
              </a:lnSpc>
              <a:buFont typeface="Wingdings 2" pitchFamily="2" charset="2"/>
              <a:buNone/>
            </a:pPr>
            <a:r>
              <a:rPr lang="en-US" altLang="en-US" sz="2000" dirty="0">
                <a:solidFill>
                  <a:srgbClr val="0000CC"/>
                </a:solidFill>
              </a:rPr>
              <a:t>typedef struct</a:t>
            </a:r>
            <a:r>
              <a:rPr lang="en-US" altLang="en-US" sz="2000" b="1" dirty="0">
                <a:solidFill>
                  <a:srgbClr val="0000CC"/>
                </a:solidFill>
              </a:rPr>
              <a:t> </a:t>
            </a:r>
            <a:r>
              <a:rPr lang="en-US" altLang="en-US" sz="2000" b="1" dirty="0" err="1">
                <a:solidFill>
                  <a:srgbClr val="9900FF"/>
                </a:solidFill>
              </a:rPr>
              <a:t>hash_tbl</a:t>
            </a:r>
            <a:r>
              <a:rPr lang="en-US" altLang="en-US" sz="2000" b="1" dirty="0">
                <a:solidFill>
                  <a:srgbClr val="9900FF"/>
                </a:solidFill>
              </a:rPr>
              <a:t>  *HASH_TABLE</a:t>
            </a:r>
            <a:r>
              <a:rPr lang="en-US" altLang="en-US" sz="2000" dirty="0">
                <a:solidFill>
                  <a:srgbClr val="0000CC"/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784142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A17935-EA80-8A41-8F32-ED4DFE64E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B8EB77B-638F-5141-A6F1-C965A3F64470}"/>
              </a:ext>
            </a:extLst>
          </p:cNvPr>
          <p:cNvSpPr txBox="1">
            <a:spLocks/>
          </p:cNvSpPr>
          <p:nvPr/>
        </p:nvSpPr>
        <p:spPr>
          <a:xfrm>
            <a:off x="256478" y="1578130"/>
            <a:ext cx="7239000" cy="48466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 2" pitchFamily="2" charset="2"/>
              <a:buNone/>
            </a:pPr>
            <a:r>
              <a:rPr lang="en-US" altLang="en-US" sz="2200" dirty="0">
                <a:solidFill>
                  <a:srgbClr val="0000CC"/>
                </a:solidFill>
              </a:rPr>
              <a:t>struct</a:t>
            </a:r>
            <a:r>
              <a:rPr lang="en-US" altLang="en-US" sz="2200" b="1" dirty="0">
                <a:solidFill>
                  <a:srgbClr val="0000CC"/>
                </a:solidFill>
              </a:rPr>
              <a:t> </a:t>
            </a:r>
            <a:r>
              <a:rPr lang="en-US" altLang="en-US" sz="2200" b="1" dirty="0" err="1">
                <a:solidFill>
                  <a:srgbClr val="9900FF"/>
                </a:solidFill>
              </a:rPr>
              <a:t>list_node</a:t>
            </a:r>
            <a:r>
              <a:rPr lang="en-US" altLang="en-US" sz="2200" dirty="0">
                <a:solidFill>
                  <a:srgbClr val="0000CC"/>
                </a:solidFill>
              </a:rPr>
              <a:t>  { 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 dirty="0">
                <a:solidFill>
                  <a:srgbClr val="0000CC"/>
                </a:solidFill>
              </a:rPr>
              <a:t>          </a:t>
            </a:r>
            <a:r>
              <a:rPr lang="en-US" altLang="en-US" sz="2200" dirty="0" err="1">
                <a:solidFill>
                  <a:srgbClr val="0000CC"/>
                </a:solidFill>
              </a:rPr>
              <a:t>int</a:t>
            </a:r>
            <a:r>
              <a:rPr lang="en-US" altLang="en-US" sz="2200" dirty="0">
                <a:solidFill>
                  <a:srgbClr val="0000CC"/>
                </a:solidFill>
              </a:rPr>
              <a:t> element; 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 b="1" dirty="0">
                <a:solidFill>
                  <a:srgbClr val="9900FF"/>
                </a:solidFill>
              </a:rPr>
              <a:t>          </a:t>
            </a:r>
            <a:r>
              <a:rPr lang="en-US" altLang="en-US" sz="2200" b="1" dirty="0" err="1">
                <a:solidFill>
                  <a:srgbClr val="9900FF"/>
                </a:solidFill>
              </a:rPr>
              <a:t>list_node</a:t>
            </a:r>
            <a:r>
              <a:rPr lang="en-US" altLang="en-US" sz="2200" b="1" dirty="0">
                <a:solidFill>
                  <a:srgbClr val="9900FF"/>
                </a:solidFill>
              </a:rPr>
              <a:t> </a:t>
            </a:r>
            <a:r>
              <a:rPr lang="en-US" altLang="en-US" sz="2200" dirty="0">
                <a:solidFill>
                  <a:srgbClr val="0000CC"/>
                </a:solidFill>
              </a:rPr>
              <a:t>*next; 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 dirty="0">
                <a:solidFill>
                  <a:srgbClr val="0000CC"/>
                </a:solidFill>
              </a:rPr>
              <a:t>}; 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solidFill>
                  <a:srgbClr val="FF0000"/>
                </a:solidFill>
              </a:rPr>
              <a:t>/* </a:t>
            </a:r>
            <a:r>
              <a:rPr lang="en-US" altLang="en-US" sz="2000" b="1" dirty="0">
                <a:solidFill>
                  <a:srgbClr val="9900FF"/>
                </a:solidFill>
              </a:rPr>
              <a:t> </a:t>
            </a:r>
            <a:r>
              <a:rPr lang="en-US" altLang="en-US" sz="2000" dirty="0" err="1">
                <a:solidFill>
                  <a:srgbClr val="FF0000"/>
                </a:solidFill>
              </a:rPr>
              <a:t>list_node</a:t>
            </a:r>
            <a:r>
              <a:rPr lang="en-US" altLang="en-US" sz="2000" dirty="0">
                <a:solidFill>
                  <a:srgbClr val="FF0000"/>
                </a:solidFill>
              </a:rPr>
              <a:t> **</a:t>
            </a:r>
            <a:r>
              <a:rPr lang="en-US" altLang="en-US" sz="2000" dirty="0" err="1">
                <a:solidFill>
                  <a:srgbClr val="FF0000"/>
                </a:solidFill>
              </a:rPr>
              <a:t>the_lists</a:t>
            </a:r>
            <a:r>
              <a:rPr lang="en-US" altLang="en-US" sz="2000" dirty="0">
                <a:solidFill>
                  <a:srgbClr val="FF0000"/>
                </a:solidFill>
              </a:rPr>
              <a:t> will be an array of </a:t>
            </a:r>
            <a:r>
              <a:rPr lang="en-US" altLang="en-US" sz="2000" dirty="0" err="1">
                <a:solidFill>
                  <a:srgbClr val="FF0000"/>
                </a:solidFill>
              </a:rPr>
              <a:t>list_node</a:t>
            </a:r>
            <a:r>
              <a:rPr lang="en-US" altLang="en-US" sz="2000" dirty="0">
                <a:solidFill>
                  <a:srgbClr val="FF0000"/>
                </a:solidFill>
              </a:rPr>
              <a:t>  pointers, allocated later */ 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solidFill>
                  <a:srgbClr val="FF0000"/>
                </a:solidFill>
              </a:rPr>
              <a:t>/* The lists will use headers, allocated later */ 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 dirty="0">
                <a:solidFill>
                  <a:srgbClr val="0000CC"/>
                </a:solidFill>
              </a:rPr>
              <a:t>struct </a:t>
            </a:r>
            <a:r>
              <a:rPr lang="en-US" altLang="en-US" sz="2200" b="1" dirty="0" err="1">
                <a:solidFill>
                  <a:srgbClr val="9900FF"/>
                </a:solidFill>
              </a:rPr>
              <a:t>hash_tbl</a:t>
            </a:r>
            <a:r>
              <a:rPr lang="en-US" altLang="en-US" sz="2200" dirty="0">
                <a:solidFill>
                  <a:srgbClr val="0000CC"/>
                </a:solidFill>
              </a:rPr>
              <a:t> { 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 dirty="0">
                <a:solidFill>
                  <a:srgbClr val="0000CC"/>
                </a:solidFill>
              </a:rPr>
              <a:t>          unsigned </a:t>
            </a:r>
            <a:r>
              <a:rPr lang="en-US" altLang="en-US" sz="2200" dirty="0" err="1">
                <a:solidFill>
                  <a:srgbClr val="0000CC"/>
                </a:solidFill>
              </a:rPr>
              <a:t>int</a:t>
            </a:r>
            <a:r>
              <a:rPr lang="en-US" altLang="en-US" sz="2200" dirty="0">
                <a:solidFill>
                  <a:srgbClr val="0000CC"/>
                </a:solidFill>
              </a:rPr>
              <a:t> </a:t>
            </a:r>
            <a:r>
              <a:rPr lang="en-US" altLang="en-US" sz="2200" dirty="0" err="1">
                <a:solidFill>
                  <a:srgbClr val="0000CC"/>
                </a:solidFill>
              </a:rPr>
              <a:t>table_size</a:t>
            </a:r>
            <a:r>
              <a:rPr lang="en-US" altLang="en-US" sz="2200" dirty="0">
                <a:solidFill>
                  <a:srgbClr val="0000CC"/>
                </a:solidFill>
              </a:rPr>
              <a:t>; 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 b="1" dirty="0">
                <a:solidFill>
                  <a:srgbClr val="9900FF"/>
                </a:solidFill>
              </a:rPr>
              <a:t>	      </a:t>
            </a:r>
            <a:r>
              <a:rPr lang="en-US" altLang="en-US" sz="2200" b="1" dirty="0" err="1">
                <a:solidFill>
                  <a:srgbClr val="9900FF"/>
                </a:solidFill>
              </a:rPr>
              <a:t>list_node</a:t>
            </a:r>
            <a:r>
              <a:rPr lang="en-US" altLang="en-US" sz="2200" b="1" dirty="0">
                <a:solidFill>
                  <a:srgbClr val="9900FF"/>
                </a:solidFill>
              </a:rPr>
              <a:t> </a:t>
            </a:r>
            <a:r>
              <a:rPr lang="en-US" altLang="en-US" sz="2200" dirty="0">
                <a:solidFill>
                  <a:srgbClr val="0000CC"/>
                </a:solidFill>
              </a:rPr>
              <a:t>**</a:t>
            </a:r>
            <a:r>
              <a:rPr lang="en-US" altLang="en-US" sz="2200" dirty="0" err="1">
                <a:solidFill>
                  <a:srgbClr val="0000CC"/>
                </a:solidFill>
              </a:rPr>
              <a:t>the_lists</a:t>
            </a:r>
            <a:r>
              <a:rPr lang="en-US" altLang="en-US" sz="2200" dirty="0">
                <a:solidFill>
                  <a:srgbClr val="0000CC"/>
                </a:solidFill>
              </a:rPr>
              <a:t>; 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 dirty="0">
                <a:solidFill>
                  <a:srgbClr val="0000CC"/>
                </a:solidFill>
              </a:rPr>
              <a:t>}; </a:t>
            </a:r>
          </a:p>
          <a:p>
            <a:pPr>
              <a:buFont typeface="Wingdings 2" pitchFamily="2" charset="2"/>
              <a:buNone/>
            </a:pPr>
            <a:r>
              <a:rPr lang="en-US" altLang="en-US" sz="2200" dirty="0">
                <a:solidFill>
                  <a:srgbClr val="0000CC"/>
                </a:solidFill>
              </a:rPr>
              <a:t>typedef struct</a:t>
            </a:r>
            <a:r>
              <a:rPr lang="en-US" altLang="en-US" sz="2200" b="1" dirty="0">
                <a:solidFill>
                  <a:srgbClr val="0000CC"/>
                </a:solidFill>
              </a:rPr>
              <a:t> </a:t>
            </a:r>
            <a:r>
              <a:rPr lang="en-US" altLang="en-US" sz="2200" b="1" dirty="0" err="1">
                <a:solidFill>
                  <a:srgbClr val="9900FF"/>
                </a:solidFill>
              </a:rPr>
              <a:t>hash_tbl</a:t>
            </a:r>
            <a:r>
              <a:rPr lang="en-US" altLang="en-US" sz="2200" b="1" dirty="0">
                <a:solidFill>
                  <a:srgbClr val="9900FF"/>
                </a:solidFill>
              </a:rPr>
              <a:t> *HASH_TABLE</a:t>
            </a:r>
            <a:r>
              <a:rPr lang="en-US" altLang="en-US" sz="2200" dirty="0">
                <a:solidFill>
                  <a:srgbClr val="0000CC"/>
                </a:solidFill>
              </a:rPr>
              <a:t>;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C846A24-985F-BF48-9788-78A220A95EF0}"/>
              </a:ext>
            </a:extLst>
          </p:cNvPr>
          <p:cNvSpPr>
            <a:spLocks/>
          </p:cNvSpPr>
          <p:nvPr/>
        </p:nvSpPr>
        <p:spPr bwMode="auto">
          <a:xfrm>
            <a:off x="0" y="178419"/>
            <a:ext cx="7616283" cy="696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tIns="0" rIns="45720" bIns="0" anchor="b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en-US" sz="3400" b="1" dirty="0"/>
              <a:t>Open Hashing  : Type Declarations</a:t>
            </a:r>
          </a:p>
        </p:txBody>
      </p:sp>
    </p:spTree>
    <p:extLst>
      <p:ext uri="{BB962C8B-B14F-4D97-AF65-F5344CB8AC3E}">
        <p14:creationId xmlns:p14="http://schemas.microsoft.com/office/powerpoint/2010/main" val="4128910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/>
          <p:cNvSpPr txBox="1">
            <a:spLocks noChangeArrowheads="1"/>
          </p:cNvSpPr>
          <p:nvPr/>
        </p:nvSpPr>
        <p:spPr bwMode="auto">
          <a:xfrm>
            <a:off x="114796" y="177016"/>
            <a:ext cx="881913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600" i="1" dirty="0">
                <a:solidFill>
                  <a:prstClr val="black"/>
                </a:solidFill>
                <a:cs typeface="Calibri" panose="020F0502020204030204" pitchFamily="34" charset="0"/>
              </a:rPr>
              <a:t> </a:t>
            </a:r>
            <a:r>
              <a:rPr lang="en-US" altLang="zh-CN" sz="3600" i="1" dirty="0">
                <a:ea typeface="Adobe Gothic Std B" pitchFamily="34" charset="-128"/>
                <a:cs typeface="Calibri" panose="020F0502020204030204" pitchFamily="34" charset="0"/>
              </a:rPr>
              <a:t> </a:t>
            </a:r>
            <a:endParaRPr lang="zh-CN" altLang="en-US" sz="2800" b="1" dirty="0">
              <a:latin typeface="Times New Roman" panose="02020603050405020304" pitchFamily="18" charset="0"/>
              <a:ea typeface="Adobe Gothic Std B" pitchFamily="34" charset="-128"/>
              <a:cs typeface="Times New Roman" panose="02020603050405020304" pitchFamily="18" charset="0"/>
            </a:endParaRP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7460456" y="6394451"/>
            <a:ext cx="2228850" cy="365125"/>
          </a:xfrm>
        </p:spPr>
        <p:txBody>
          <a:bodyPr/>
          <a:lstStyle/>
          <a:p>
            <a:fld id="{48758AAF-F958-4141-BDE8-5609689A4508}" type="slidenum">
              <a:rPr lang="zh-CN" altLang="en-US" sz="200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17</a:t>
            </a:fld>
            <a:endParaRPr lang="zh-CN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56812" y="1967221"/>
            <a:ext cx="4934499" cy="994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36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it-IT" sz="36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8">
            <a:extLst>
              <a:ext uri="{FF2B5EF4-FFF2-40B4-BE49-F238E27FC236}">
                <a16:creationId xmlns:a16="http://schemas.microsoft.com/office/drawing/2014/main" id="{B50F3C67-F206-0644-9881-E95BE68F9B62}"/>
              </a:ext>
            </a:extLst>
          </p:cNvPr>
          <p:cNvSpPr/>
          <p:nvPr/>
        </p:nvSpPr>
        <p:spPr>
          <a:xfrm>
            <a:off x="704879" y="2383536"/>
            <a:ext cx="7870002" cy="59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b="1" dirty="0">
                <a:solidFill>
                  <a:schemeClr val="accent5"/>
                </a:solidFill>
                <a:cs typeface="Times New Roman" panose="02020603050405020304" pitchFamily="18" charset="0"/>
              </a:rPr>
              <a:t>		                   </a:t>
            </a:r>
            <a:r>
              <a:rPr lang="en-US" altLang="zh-CN" sz="28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Questions?</a:t>
            </a:r>
            <a:r>
              <a:rPr lang="en-US" altLang="zh-CN" sz="2800" b="1" dirty="0"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" name="矩形 8">
            <a:extLst>
              <a:ext uri="{FF2B5EF4-FFF2-40B4-BE49-F238E27FC236}">
                <a16:creationId xmlns:a16="http://schemas.microsoft.com/office/drawing/2014/main" id="{64398696-03BA-0540-B525-6DD16F72E4B0}"/>
              </a:ext>
            </a:extLst>
          </p:cNvPr>
          <p:cNvSpPr/>
          <p:nvPr/>
        </p:nvSpPr>
        <p:spPr>
          <a:xfrm>
            <a:off x="704879" y="3813978"/>
            <a:ext cx="7870002" cy="520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b="1" dirty="0">
                <a:solidFill>
                  <a:schemeClr val="accent5"/>
                </a:solidFill>
                <a:cs typeface="Times New Roman" panose="02020603050405020304" pitchFamily="18" charset="0"/>
              </a:rPr>
              <a:t>			</a:t>
            </a:r>
            <a:r>
              <a:rPr lang="en-US" altLang="zh-CN" sz="2400" b="1" dirty="0" err="1">
                <a:solidFill>
                  <a:schemeClr val="accent5"/>
                </a:solidFill>
                <a:cs typeface="Times New Roman" panose="02020603050405020304" pitchFamily="18" charset="0"/>
              </a:rPr>
              <a:t>zahmaad.github.io</a:t>
            </a:r>
            <a:r>
              <a:rPr lang="en-US" altLang="zh-CN" sz="24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35760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45964</TotalTime>
  <Words>1212</Words>
  <Application>Microsoft Macintosh PowerPoint</Application>
  <PresentationFormat>A4 Paper (210x297 mm)</PresentationFormat>
  <Paragraphs>240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9" baseType="lpstr">
      <vt:lpstr>Adobe Gothic Std B</vt:lpstr>
      <vt:lpstr>等线</vt:lpstr>
      <vt:lpstr>等线</vt:lpstr>
      <vt:lpstr>等线 Light</vt:lpstr>
      <vt:lpstr>SimSun</vt:lpstr>
      <vt:lpstr>Arial</vt:lpstr>
      <vt:lpstr>Calibri</vt:lpstr>
      <vt:lpstr>Times New Roman</vt:lpstr>
      <vt:lpstr>Trebuchet MS</vt:lpstr>
      <vt:lpstr>Wingdings</vt:lpstr>
      <vt:lpstr>Wingdings 2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China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Microsoft Office User</cp:lastModifiedBy>
  <cp:revision>876</cp:revision>
  <cp:lastPrinted>2025-03-21T05:26:40Z</cp:lastPrinted>
  <dcterms:created xsi:type="dcterms:W3CDTF">2018-07-17T04:46:00Z</dcterms:created>
  <dcterms:modified xsi:type="dcterms:W3CDTF">2025-12-25T03:47:35Z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2052-11.1.0.8567</vt:lpwstr>
  </property>
</Properties>
</file>
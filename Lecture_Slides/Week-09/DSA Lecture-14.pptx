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80" r:id="rId2"/>
    <p:sldId id="404" r:id="rId3"/>
    <p:sldId id="405" r:id="rId4"/>
    <p:sldId id="406" r:id="rId5"/>
    <p:sldId id="407" r:id="rId6"/>
    <p:sldId id="408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7" r:id="rId15"/>
    <p:sldId id="418" r:id="rId16"/>
    <p:sldId id="419" r:id="rId17"/>
    <p:sldId id="420" r:id="rId18"/>
    <p:sldId id="421" r:id="rId19"/>
    <p:sldId id="422" r:id="rId20"/>
    <p:sldId id="423" r:id="rId21"/>
    <p:sldId id="372" r:id="rId22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7"/>
            <p14:sldId id="418"/>
            <p14:sldId id="419"/>
            <p14:sldId id="420"/>
            <p14:sldId id="421"/>
            <p14:sldId id="422"/>
            <p14:sldId id="423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5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123EB-98F9-1B41-AC7C-325155F2DBA0}" type="datetime1">
              <a:rPr lang="en-US" altLang="zh-CN" smtClean="0"/>
              <a:t>11/11/25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5D2C-0DAB-5542-89B4-B43A887821E4}" type="datetime1">
              <a:rPr lang="en-US" altLang="zh-CN" smtClean="0"/>
              <a:t>11/11/25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Dr. Zubair Ahmad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C5F73-C092-804A-9120-F07D14852177}" type="datetime1">
              <a:rPr lang="en-US" altLang="zh-CN" smtClean="0"/>
              <a:t>11/11/25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45197-0A53-DA46-B9A0-BB6668131509}" type="datetime1">
              <a:rPr lang="en-US" altLang="zh-CN" smtClean="0"/>
              <a:t>11/11/25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7C9E-3084-0B41-821E-042B1D3204C2}" type="datetime1">
              <a:rPr lang="en-US" altLang="zh-CN" smtClean="0"/>
              <a:t>11/11/25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AC72-C9B0-114D-A89D-1E82280B0A0E}" type="datetime1">
              <a:rPr lang="en-US" altLang="zh-CN" smtClean="0"/>
              <a:t>11/11/25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FDF33-C149-8F43-A4CB-0C1959314E53}" type="datetime1">
              <a:rPr lang="en-US" altLang="zh-CN" smtClean="0"/>
              <a:t>11/11/25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CA2D3-906C-D746-B57C-6A7BCD495F4B}" type="datetime1">
              <a:rPr lang="en-US" altLang="zh-CN" smtClean="0"/>
              <a:t>11/11/25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130C1-F862-584F-B5A9-60EFE5251288}" type="datetime1">
              <a:rPr lang="en-US" altLang="zh-CN" smtClean="0"/>
              <a:t>11/11/25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1789-DD3C-3640-AFCB-338D263185B0}" type="datetime1">
              <a:rPr lang="en-US" altLang="zh-CN" smtClean="0"/>
              <a:t>11/11/25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05CD-6932-EC4B-917E-89682FCA5B7E}" type="datetime1">
              <a:rPr lang="en-US" altLang="zh-CN" smtClean="0"/>
              <a:t>11/11/25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689E4-B230-8E43-BF7A-6C024FA9DACE}" type="datetime1">
              <a:rPr lang="en-US" altLang="zh-CN" smtClean="0"/>
              <a:t>11/11/25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Dr. Zubair Ahmad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r>
              <a:rPr lang="en-US" b="1" dirty="0"/>
              <a:t>Time Complexity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477659" y="1123500"/>
            <a:ext cx="4518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 (CS221)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695155-07BB-CC42-BE55-C19C7433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2CBF6-0F6C-3C40-93EB-8CFD4833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9E3EC2-A2D0-E14E-9B89-1C3469D6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20DF85-089F-F747-9D40-148E77A5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A9289-4D59-7543-A4B5-71BE03819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833" y="2350878"/>
            <a:ext cx="7916449" cy="127233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1CB3EE4C-4BFA-9F42-B30C-E3604A3BC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it-IT" altLang="zh-CN" sz="2800" b="1" dirty="0" err="1"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Algorithm</a:t>
            </a:r>
            <a:r>
              <a:rPr lang="it-IT" altLang="zh-CN" sz="2800" b="1" dirty="0"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Analysis?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12" name="Cloud Callout 11">
            <a:extLst>
              <a:ext uri="{FF2B5EF4-FFF2-40B4-BE49-F238E27FC236}">
                <a16:creationId xmlns:a16="http://schemas.microsoft.com/office/drawing/2014/main" id="{98BD2DAE-E455-154C-B25B-3276ADACD2B8}"/>
              </a:ext>
            </a:extLst>
          </p:cNvPr>
          <p:cNvSpPr/>
          <p:nvPr/>
        </p:nvSpPr>
        <p:spPr>
          <a:xfrm>
            <a:off x="475989" y="4493153"/>
            <a:ext cx="3582444" cy="1787444"/>
          </a:xfrm>
          <a:prstGeom prst="cloudCallout">
            <a:avLst>
              <a:gd name="adj1" fmla="val 9237"/>
              <a:gd name="adj2" fmla="val -944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Suppose that 50 packages are to be delivered to 50 different houses</a:t>
            </a:r>
          </a:p>
        </p:txBody>
      </p:sp>
      <p:sp>
        <p:nvSpPr>
          <p:cNvPr id="14" name="Cloud Callout 13">
            <a:extLst>
              <a:ext uri="{FF2B5EF4-FFF2-40B4-BE49-F238E27FC236}">
                <a16:creationId xmlns:a16="http://schemas.microsoft.com/office/drawing/2014/main" id="{8B9EA11F-A234-6748-B4A8-909165FA5355}"/>
              </a:ext>
            </a:extLst>
          </p:cNvPr>
          <p:cNvSpPr/>
          <p:nvPr/>
        </p:nvSpPr>
        <p:spPr>
          <a:xfrm>
            <a:off x="5845224" y="4531030"/>
            <a:ext cx="3088711" cy="1787444"/>
          </a:xfrm>
          <a:prstGeom prst="cloudCallout">
            <a:avLst>
              <a:gd name="adj1" fmla="val -32128"/>
              <a:gd name="adj2" fmla="val -93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>
                <a:solidFill>
                  <a:prstClr val="black"/>
                </a:solidFill>
              </a:rPr>
              <a:t>The 50 houses are one mile apart and are in the same area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FEB048-3577-314A-8D24-A15E64914876}"/>
              </a:ext>
            </a:extLst>
          </p:cNvPr>
          <p:cNvSpPr/>
          <p:nvPr/>
        </p:nvSpPr>
        <p:spPr>
          <a:xfrm>
            <a:off x="2267211" y="111368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Set of step-by-step instructions to solve a given problem or achieve a specific goal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51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9E3EC2-A2D0-E14E-9B89-1C3469D6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20DF85-089F-F747-9D40-148E77A5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47F463-AAE5-9D43-AFDF-81CF044F0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15" y="1717169"/>
            <a:ext cx="7928975" cy="1369391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7388F691-AD9F-6440-B8C2-1ACA9C6D9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it-IT" altLang="zh-CN" sz="2800" b="1" dirty="0" err="1"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Algorithm</a:t>
            </a:r>
            <a:r>
              <a:rPr lang="it-IT" altLang="zh-CN" sz="2800" b="1" dirty="0"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Analysis?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98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9E3EC2-A2D0-E14E-9B89-1C3469D6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20DF85-089F-F747-9D40-148E77A5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3AB3B2-6647-1F48-AFC6-E28B518DE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75" y="1903485"/>
            <a:ext cx="7916449" cy="1383861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163A4B52-6E61-6847-89A0-500156C1E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366846"/>
            <a:ext cx="88191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it-IT" altLang="zh-CN" sz="2800" b="1" dirty="0" err="1"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Algorithm</a:t>
            </a:r>
            <a:r>
              <a:rPr lang="it-IT" altLang="zh-CN" sz="2800" b="1" dirty="0"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Analysis?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921773D2-E933-E048-AEEA-28DB958C2A78}"/>
              </a:ext>
            </a:extLst>
          </p:cNvPr>
          <p:cNvSpPr/>
          <p:nvPr/>
        </p:nvSpPr>
        <p:spPr>
          <a:xfrm>
            <a:off x="4534422" y="4185659"/>
            <a:ext cx="4252913" cy="2170692"/>
          </a:xfrm>
          <a:prstGeom prst="cloudCallout">
            <a:avLst>
              <a:gd name="adj1" fmla="val -23161"/>
              <a:gd name="adj2" fmla="val -869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Focus on the number of operations, not on the actual computer time to execute the algorithm</a:t>
            </a:r>
          </a:p>
        </p:txBody>
      </p:sp>
    </p:spTree>
    <p:extLst>
      <p:ext uri="{BB962C8B-B14F-4D97-AF65-F5344CB8AC3E}">
        <p14:creationId xmlns:p14="http://schemas.microsoft.com/office/powerpoint/2010/main" val="144895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E75380-DEA4-1249-AEA5-790F5D13F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6C065C-03C1-124D-B638-6E9D4D8C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E135D6-2BCF-8546-A446-6217AF763E45}"/>
              </a:ext>
            </a:extLst>
          </p:cNvPr>
          <p:cNvSpPr/>
          <p:nvPr/>
        </p:nvSpPr>
        <p:spPr>
          <a:xfrm>
            <a:off x="804863" y="1604643"/>
            <a:ext cx="708049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Finite sequence of instructions.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Each instruction having a clear meaning.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Each instruction requiring finite amount of effort.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Each instruction requiring finite time to complete.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D98130-3BB5-7E45-A11A-B05C4AED558D}"/>
              </a:ext>
            </a:extLst>
          </p:cNvPr>
          <p:cNvSpPr/>
          <p:nvPr/>
        </p:nvSpPr>
        <p:spPr>
          <a:xfrm>
            <a:off x="0" y="444506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Algorithm</a:t>
            </a:r>
          </a:p>
          <a:p>
            <a:pPr>
              <a:defRPr/>
            </a:pPr>
            <a:endParaRPr lang="en-US" sz="2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3011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D571A7-53CF-184C-95DA-46455C0A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E893B8-6866-E94E-BD22-BC68BF3B0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61BC9D-5DC2-8748-BD3A-6E4800232038}"/>
              </a:ext>
            </a:extLst>
          </p:cNvPr>
          <p:cNvSpPr/>
          <p:nvPr/>
        </p:nvSpPr>
        <p:spPr>
          <a:xfrm>
            <a:off x="830580" y="1710706"/>
            <a:ext cx="7119321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altLang="en-US" sz="2000" dirty="0"/>
              <a:t> Finite sequence of instructions.</a:t>
            </a:r>
          </a:p>
          <a:p>
            <a:endParaRPr lang="en-US" altLang="en-US" sz="2000" dirty="0"/>
          </a:p>
          <a:p>
            <a:r>
              <a:rPr lang="en-US" altLang="en-US" b="1" dirty="0">
                <a:solidFill>
                  <a:schemeClr val="accent6"/>
                </a:solidFill>
              </a:rPr>
              <a:t> </a:t>
            </a:r>
            <a:endParaRPr lang="en-US" altLang="en-US" dirty="0"/>
          </a:p>
          <a:p>
            <a:pPr>
              <a:buFontTx/>
              <a:buChar char="•"/>
            </a:pPr>
            <a:r>
              <a:rPr lang="en-US" altLang="en-US" sz="2000" dirty="0"/>
              <a:t> Each instruction having a clear meaning.</a:t>
            </a:r>
          </a:p>
          <a:p>
            <a:r>
              <a:rPr lang="en-US" altLang="en-US" dirty="0"/>
              <a:t>.</a:t>
            </a:r>
          </a:p>
          <a:p>
            <a:pPr>
              <a:buFontTx/>
              <a:buChar char="•"/>
            </a:pPr>
            <a:endParaRPr lang="en-US" altLang="en-US" dirty="0"/>
          </a:p>
          <a:p>
            <a:pPr>
              <a:buFontTx/>
              <a:buChar char="•"/>
            </a:pPr>
            <a:r>
              <a:rPr lang="en-US" altLang="en-US" sz="2000" dirty="0"/>
              <a:t> Each instruction requiring finite amount of effort.</a:t>
            </a:r>
          </a:p>
          <a:p>
            <a:endParaRPr lang="en-US" altLang="en-US" sz="2000" dirty="0"/>
          </a:p>
          <a:p>
            <a:r>
              <a:rPr lang="en-US" altLang="en-US" sz="2000" b="1" dirty="0">
                <a:solidFill>
                  <a:schemeClr val="accent6"/>
                </a:solidFill>
              </a:rPr>
              <a:t> </a:t>
            </a:r>
            <a:endParaRPr lang="en-US" altLang="en-US" sz="2000" dirty="0"/>
          </a:p>
          <a:p>
            <a:pPr>
              <a:buFontTx/>
              <a:buChar char="•"/>
            </a:pPr>
            <a:r>
              <a:rPr lang="en-US" altLang="en-US" sz="2000" dirty="0"/>
              <a:t> Each instruction requiring</a:t>
            </a:r>
            <a:r>
              <a:rPr lang="en-US" altLang="en-US" sz="1200" dirty="0"/>
              <a:t> </a:t>
            </a:r>
            <a:r>
              <a:rPr lang="en-US" altLang="en-US" sz="2000" dirty="0"/>
              <a:t>finite time to complete.</a:t>
            </a:r>
          </a:p>
          <a:p>
            <a:r>
              <a:rPr lang="en-US" altLang="en-US" dirty="0"/>
              <a:t> </a:t>
            </a:r>
            <a:endParaRPr lang="en-US" altLang="en-US" b="1" dirty="0">
              <a:solidFill>
                <a:schemeClr val="accent6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3785C9-0CE7-DA4A-BEEC-3C71DA6D6CE5}"/>
              </a:ext>
            </a:extLst>
          </p:cNvPr>
          <p:cNvSpPr/>
          <p:nvPr/>
        </p:nvSpPr>
        <p:spPr>
          <a:xfrm>
            <a:off x="0" y="444506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Algorithm</a:t>
            </a:r>
          </a:p>
          <a:p>
            <a:pPr>
              <a:defRPr/>
            </a:pPr>
            <a:endParaRPr lang="en-US" sz="2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894A8-9EAF-A748-9EDB-80F4D8906D71}"/>
              </a:ext>
            </a:extLst>
          </p:cNvPr>
          <p:cNvSpPr txBox="1"/>
          <p:nvPr/>
        </p:nvSpPr>
        <p:spPr>
          <a:xfrm>
            <a:off x="1043491" y="2086984"/>
            <a:ext cx="6078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chemeClr val="accent6"/>
                </a:solidFill>
              </a:rPr>
              <a:t>An input should not take the program in an infinite loop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6CA850-0D90-DA40-A61B-13A84B8F6C97}"/>
              </a:ext>
            </a:extLst>
          </p:cNvPr>
          <p:cNvSpPr txBox="1"/>
          <p:nvPr/>
        </p:nvSpPr>
        <p:spPr>
          <a:xfrm>
            <a:off x="959222" y="2924927"/>
            <a:ext cx="671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chemeClr val="accent6"/>
                </a:solidFill>
              </a:rPr>
              <a:t>Very subjective. What is clear to me, may not be clear to you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98C84-4F38-694B-9906-171BC378BD89}"/>
              </a:ext>
            </a:extLst>
          </p:cNvPr>
          <p:cNvSpPr txBox="1"/>
          <p:nvPr/>
        </p:nvSpPr>
        <p:spPr>
          <a:xfrm>
            <a:off x="981857" y="3839529"/>
            <a:ext cx="671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chemeClr val="accent6"/>
                </a:solidFill>
              </a:rPr>
              <a:t>Very subjective. Finite on a super computer or a P4?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49DBEC-E557-3246-A2F8-EB0E584BFEA9}"/>
              </a:ext>
            </a:extLst>
          </p:cNvPr>
          <p:cNvSpPr txBox="1"/>
          <p:nvPr/>
        </p:nvSpPr>
        <p:spPr>
          <a:xfrm>
            <a:off x="1034750" y="4791945"/>
            <a:ext cx="671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chemeClr val="accent6"/>
                </a:solidFill>
              </a:rPr>
              <a:t>Very subjective. 1 min, 1 </a:t>
            </a:r>
            <a:r>
              <a:rPr lang="en-US" altLang="en-US" b="1" dirty="0" err="1">
                <a:solidFill>
                  <a:schemeClr val="accent6"/>
                </a:solidFill>
              </a:rPr>
              <a:t>hr</a:t>
            </a:r>
            <a:r>
              <a:rPr lang="en-US" altLang="en-US" b="1" dirty="0">
                <a:solidFill>
                  <a:schemeClr val="accent6"/>
                </a:solidFill>
              </a:rPr>
              <a:t>, 1 year or a lifetime?</a:t>
            </a:r>
          </a:p>
        </p:txBody>
      </p:sp>
    </p:spTree>
    <p:extLst>
      <p:ext uri="{BB962C8B-B14F-4D97-AF65-F5344CB8AC3E}">
        <p14:creationId xmlns:p14="http://schemas.microsoft.com/office/powerpoint/2010/main" val="421859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E011CD-0DC1-3943-ADB1-C3F3C98A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E940B4-700D-7443-BAAD-233CD80F5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5F0A601-8CF1-CE40-B088-8447E8C06F2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81000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Algorithm Definition</a:t>
            </a:r>
            <a:endParaRPr lang="en-US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DEAE686-926A-DC4C-AA93-3E803561FC48}"/>
              </a:ext>
            </a:extLst>
          </p:cNvPr>
          <p:cNvSpPr txBox="1">
            <a:spLocks noChangeArrowheads="1"/>
          </p:cNvSpPr>
          <p:nvPr/>
        </p:nvSpPr>
        <p:spPr>
          <a:xfrm>
            <a:off x="80963" y="1497130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dirty="0"/>
              <a:t>A </a:t>
            </a:r>
            <a:r>
              <a:rPr lang="en-US" altLang="en-US" u="sng" dirty="0"/>
              <a:t>finite</a:t>
            </a:r>
            <a:r>
              <a:rPr lang="en-US" altLang="en-US" dirty="0"/>
              <a:t> set of statements that </a:t>
            </a:r>
            <a:r>
              <a:rPr lang="en-US" altLang="en-US" u="sng" dirty="0"/>
              <a:t>guarantees</a:t>
            </a:r>
            <a:r>
              <a:rPr lang="en-US" altLang="en-US" dirty="0"/>
              <a:t> an </a:t>
            </a:r>
            <a:r>
              <a:rPr lang="en-US" altLang="en-US" u="sng" dirty="0"/>
              <a:t>optimal</a:t>
            </a:r>
            <a:r>
              <a:rPr lang="en-US" altLang="en-US" dirty="0"/>
              <a:t> solution in finite interval of time</a:t>
            </a:r>
          </a:p>
        </p:txBody>
      </p:sp>
    </p:spTree>
    <p:extLst>
      <p:ext uri="{BB962C8B-B14F-4D97-AF65-F5344CB8AC3E}">
        <p14:creationId xmlns:p14="http://schemas.microsoft.com/office/powerpoint/2010/main" val="295612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CE13C9-E7CE-6046-9E32-91F0E22C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77435A-E7DF-4548-AA69-1F5BEC85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FF0842-60D5-714D-9888-4EB911DE77F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81000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Good Algorithms?</a:t>
            </a:r>
            <a:endParaRPr lang="en-US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A441F26-566C-C840-9E01-A6394E2812E8}"/>
              </a:ext>
            </a:extLst>
          </p:cNvPr>
          <p:cNvSpPr txBox="1">
            <a:spLocks noChangeArrowheads="1"/>
          </p:cNvSpPr>
          <p:nvPr/>
        </p:nvSpPr>
        <p:spPr>
          <a:xfrm>
            <a:off x="279699" y="1433513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Run in less time</a:t>
            </a:r>
          </a:p>
          <a:p>
            <a:r>
              <a:rPr lang="en-US" altLang="en-US" dirty="0"/>
              <a:t>Consume less memory</a:t>
            </a:r>
          </a:p>
          <a:p>
            <a:endParaRPr lang="en-US" altLang="en-US" dirty="0"/>
          </a:p>
          <a:p>
            <a:pPr>
              <a:buFontTx/>
              <a:buNone/>
            </a:pPr>
            <a:r>
              <a:rPr lang="en-US" altLang="en-US" dirty="0"/>
              <a:t>	But computational resources (time complexity) is usually more important</a:t>
            </a:r>
          </a:p>
        </p:txBody>
      </p:sp>
    </p:spTree>
    <p:extLst>
      <p:ext uri="{BB962C8B-B14F-4D97-AF65-F5344CB8AC3E}">
        <p14:creationId xmlns:p14="http://schemas.microsoft.com/office/powerpoint/2010/main" val="137940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D0E181-40AE-4B40-B708-E37BE6C1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36F57-7421-6848-9AFA-7BA9B0704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B382A5-C8D9-C841-9F5E-E3492E386BC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81000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Measuring Efficiency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1DBC7D8-70F2-4945-8C18-93B024651DD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95400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/>
              <a:t>The efficiency of an algorithm is a measure of the amount of resources consumed in solving a problem of size n.</a:t>
            </a:r>
          </a:p>
          <a:p>
            <a:pPr marL="987425" lvl="2" indent="-293688"/>
            <a:r>
              <a:rPr lang="en-US" altLang="en-US" sz="1700"/>
              <a:t>The resource we are most interested in is time</a:t>
            </a:r>
          </a:p>
          <a:p>
            <a:pPr marL="987425" lvl="2" indent="-293688"/>
            <a:r>
              <a:rPr lang="en-US" altLang="en-US" sz="1700"/>
              <a:t>We can use the same techniques to analyze the consumption of other resources, such as memory space.</a:t>
            </a:r>
          </a:p>
          <a:p>
            <a:r>
              <a:rPr lang="en-US" altLang="en-US" sz="2000"/>
              <a:t>It would seem that the most obvious way to measure the efficiency of an algorithm is to run it and measure how much processor time is needed</a:t>
            </a:r>
          </a:p>
          <a:p>
            <a:r>
              <a:rPr lang="en-US" altLang="en-US" sz="2000">
                <a:solidFill>
                  <a:srgbClr val="FF3300"/>
                </a:solidFill>
              </a:rPr>
              <a:t>Is it correct</a:t>
            </a:r>
          </a:p>
        </p:txBody>
      </p:sp>
    </p:spTree>
    <p:extLst>
      <p:ext uri="{BB962C8B-B14F-4D97-AF65-F5344CB8AC3E}">
        <p14:creationId xmlns:p14="http://schemas.microsoft.com/office/powerpoint/2010/main" val="349583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226737-CC24-4846-A3C2-BC9D998D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24231E-F95A-AD4C-B15B-12EF6E79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C7F4F43-88DB-D943-9596-02D7AEB7B75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81000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Factors</a:t>
            </a:r>
            <a:endParaRPr lang="en-US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D237371-4D6D-9645-A4AC-A1DD4B24D498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433513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Hardware</a:t>
            </a:r>
          </a:p>
          <a:p>
            <a:r>
              <a:rPr lang="en-US" altLang="en-US" dirty="0"/>
              <a:t>Operating System</a:t>
            </a:r>
          </a:p>
          <a:p>
            <a:r>
              <a:rPr lang="en-US" altLang="en-US" dirty="0"/>
              <a:t>Compiler</a:t>
            </a:r>
          </a:p>
          <a:p>
            <a:r>
              <a:rPr lang="en-US" altLang="en-US" dirty="0"/>
              <a:t>Size of input</a:t>
            </a:r>
          </a:p>
          <a:p>
            <a:r>
              <a:rPr lang="en-US" altLang="en-US" dirty="0"/>
              <a:t>Nature of Input</a:t>
            </a:r>
          </a:p>
          <a:p>
            <a:r>
              <a:rPr lang="en-US" altLang="en-US" dirty="0"/>
              <a:t>Algorithm</a:t>
            </a:r>
          </a:p>
          <a:p>
            <a:pPr>
              <a:buFontTx/>
              <a:buNone/>
            </a:pPr>
            <a:r>
              <a:rPr lang="en-US" altLang="en-US" dirty="0"/>
              <a:t>	</a:t>
            </a:r>
          </a:p>
          <a:p>
            <a:pPr>
              <a:buFontTx/>
              <a:buNone/>
            </a:pPr>
            <a:r>
              <a:rPr lang="en-US" altLang="en-US" dirty="0"/>
              <a:t>	Which should be improved?</a:t>
            </a:r>
          </a:p>
        </p:txBody>
      </p:sp>
    </p:spTree>
    <p:extLst>
      <p:ext uri="{BB962C8B-B14F-4D97-AF65-F5344CB8AC3E}">
        <p14:creationId xmlns:p14="http://schemas.microsoft.com/office/powerpoint/2010/main" val="406608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51D395-9750-2342-94E6-A5C472B51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5836B4-3D14-0C4A-9FD6-685A2C15C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656F18C-4163-0442-A145-0CBBEA0D751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14093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Running Time of an Algorithm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51F7E47-622D-8147-9EF1-DE8179D4069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518424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Depends upon</a:t>
            </a:r>
          </a:p>
          <a:p>
            <a:pPr marL="987425" lvl="2" indent="-293688"/>
            <a:r>
              <a:rPr lang="en-US" altLang="en-US" sz="1800"/>
              <a:t> Input Size</a:t>
            </a:r>
          </a:p>
          <a:p>
            <a:pPr marL="987425" lvl="2" indent="-293688"/>
            <a:r>
              <a:rPr lang="en-US" altLang="en-US" sz="1800"/>
              <a:t> Nature of Input</a:t>
            </a:r>
          </a:p>
          <a:p>
            <a:r>
              <a:rPr lang="en-US" altLang="en-US"/>
              <a:t>Generally time grows with size of input, so running time of an algorithm is usually measured as function of input size.</a:t>
            </a:r>
          </a:p>
          <a:p>
            <a:r>
              <a:rPr lang="en-US" altLang="en-US"/>
              <a:t>Running time is measured in terms of number of steps/primitive operations performed</a:t>
            </a:r>
          </a:p>
          <a:p>
            <a:r>
              <a:rPr lang="en-US" altLang="en-US"/>
              <a:t>Independent from machine, OS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7460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0F49BB-4ADE-1B4B-A816-69C17B67A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808E95-1244-A84D-8F09-F9EAEE30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AA8DBB5-CC26-1A40-8DF8-FDC5CA1FDCD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81000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500"/>
              <a:t>Finding running time of an Algorithm / Analyzing an Algorithm</a:t>
            </a:r>
            <a:endParaRPr lang="en-US" altLang="en-US" sz="25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CFC79A1-266E-C441-95FF-4866D7F17CB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95400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Running time is measured by number of steps/primitive operations performed</a:t>
            </a:r>
          </a:p>
          <a:p>
            <a:r>
              <a:rPr lang="en-US" altLang="en-US"/>
              <a:t>Steps means elementary operation like </a:t>
            </a:r>
          </a:p>
          <a:p>
            <a:pPr marL="692150" lvl="1" indent="-347663"/>
            <a:r>
              <a:rPr lang="en-GB" altLang="en-US"/>
              <a:t>,+, *,&lt;, =, A[i] etc</a:t>
            </a:r>
          </a:p>
          <a:p>
            <a:r>
              <a:rPr lang="en-US" altLang="en-US"/>
              <a:t> We will measure number of steps taken in term of size of input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4246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BF9BF0-F397-DB4E-8862-35C8937F8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10E045-99FA-E547-A775-435BBE7DA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FEA9BD0-0960-6948-9980-96D1F46CAB9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81000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Simple Example (1)</a:t>
            </a:r>
            <a:endParaRPr lang="en-US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644DF0-0261-224B-AE18-B17A558D0A5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95400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GB" altLang="en-US" sz="1800"/>
              <a:t>// Input: int A[N], array of N integers</a:t>
            </a:r>
          </a:p>
          <a:p>
            <a:pPr>
              <a:buFontTx/>
              <a:buNone/>
            </a:pPr>
            <a:r>
              <a:rPr lang="en-GB" altLang="en-US" sz="1800"/>
              <a:t>// Output: Sum of all numbers in array A</a:t>
            </a:r>
          </a:p>
          <a:p>
            <a:pPr>
              <a:buFontTx/>
              <a:buNone/>
            </a:pPr>
            <a:endParaRPr lang="en-GB" altLang="en-US" sz="1800"/>
          </a:p>
          <a:p>
            <a:pPr>
              <a:buFontTx/>
              <a:buNone/>
            </a:pPr>
            <a:r>
              <a:rPr lang="en-GB" altLang="en-US" sz="1800"/>
              <a:t>int Sum(int A[], int N) </a:t>
            </a:r>
          </a:p>
          <a:p>
            <a:pPr>
              <a:buFontTx/>
              <a:buNone/>
            </a:pPr>
            <a:r>
              <a:rPr lang="en-GB" altLang="en-US" sz="1800"/>
              <a:t>{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altLang="en-US" sz="1800"/>
              <a:t>   int s=0;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altLang="en-US" sz="1800"/>
              <a:t>   for (int i=0; i&lt; N; i++)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altLang="en-US" sz="1800"/>
              <a:t>      s = s + A[i];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altLang="en-US" sz="1800"/>
              <a:t>   return s;</a:t>
            </a:r>
          </a:p>
          <a:p>
            <a:pPr>
              <a:buFontTx/>
              <a:buNone/>
            </a:pPr>
            <a:r>
              <a:rPr lang="en-GB" altLang="en-US" sz="1800"/>
              <a:t>}</a:t>
            </a:r>
          </a:p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GB" altLang="en-US" sz="1800"/>
              <a:t>How should we analyse this?</a:t>
            </a:r>
          </a:p>
          <a:p>
            <a:pPr>
              <a:buFontTx/>
              <a:buNone/>
            </a:pPr>
            <a:endParaRPr lang="en-GB" altLang="en-US" sz="1800"/>
          </a:p>
          <a:p>
            <a:pPr>
              <a:buFontTx/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720875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AB2CC9-A63C-984F-B755-836E388D2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0A164B-BF0D-0A44-8F44-BC000C159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A4B2720-F53A-2E4D-91E3-F79B21B0683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81000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Simple Example (2)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E950D2C-57F2-2645-AB7B-240649FF2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0"/>
            <a:ext cx="5645150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b="1" dirty="0">
                <a:latin typeface="Courier New" panose="02070309020205020404" pitchFamily="49" charset="0"/>
              </a:rPr>
              <a:t>// Input: </a:t>
            </a:r>
            <a:r>
              <a:rPr lang="en-GB" altLang="en-US" b="1" dirty="0" err="1">
                <a:latin typeface="Courier New" panose="02070309020205020404" pitchFamily="49" charset="0"/>
              </a:rPr>
              <a:t>int</a:t>
            </a:r>
            <a:r>
              <a:rPr lang="en-GB" altLang="en-US" b="1" dirty="0">
                <a:latin typeface="Courier New" panose="02070309020205020404" pitchFamily="49" charset="0"/>
              </a:rPr>
              <a:t> A[N], array of N integers</a:t>
            </a:r>
          </a:p>
          <a:p>
            <a:r>
              <a:rPr lang="en-GB" altLang="en-US" b="1" dirty="0">
                <a:latin typeface="Courier New" panose="02070309020205020404" pitchFamily="49" charset="0"/>
              </a:rPr>
              <a:t>// Output: Sum of all numbers in array A</a:t>
            </a:r>
          </a:p>
          <a:p>
            <a:endParaRPr lang="en-GB" altLang="en-US" b="1" dirty="0">
              <a:latin typeface="Courier New" panose="02070309020205020404" pitchFamily="49" charset="0"/>
            </a:endParaRPr>
          </a:p>
          <a:p>
            <a:r>
              <a:rPr lang="en-GB" altLang="en-US" b="1" dirty="0" err="1">
                <a:latin typeface="Courier New" panose="02070309020205020404" pitchFamily="49" charset="0"/>
              </a:rPr>
              <a:t>int</a:t>
            </a:r>
            <a:r>
              <a:rPr lang="en-GB" altLang="en-US" b="1" dirty="0">
                <a:latin typeface="Courier New" panose="02070309020205020404" pitchFamily="49" charset="0"/>
              </a:rPr>
              <a:t> Sum(</a:t>
            </a:r>
            <a:r>
              <a:rPr lang="en-GB" altLang="en-US" b="1" dirty="0" err="1">
                <a:latin typeface="Courier New" panose="02070309020205020404" pitchFamily="49" charset="0"/>
              </a:rPr>
              <a:t>int</a:t>
            </a:r>
            <a:r>
              <a:rPr lang="en-GB" altLang="en-US" b="1" dirty="0">
                <a:latin typeface="Courier New" panose="02070309020205020404" pitchFamily="49" charset="0"/>
              </a:rPr>
              <a:t> A[], </a:t>
            </a:r>
            <a:r>
              <a:rPr lang="en-GB" altLang="en-US" b="1" dirty="0" err="1">
                <a:latin typeface="Courier New" panose="02070309020205020404" pitchFamily="49" charset="0"/>
              </a:rPr>
              <a:t>int</a:t>
            </a:r>
            <a:r>
              <a:rPr lang="en-GB" altLang="en-US" b="1" dirty="0">
                <a:latin typeface="Courier New" panose="02070309020205020404" pitchFamily="49" charset="0"/>
              </a:rPr>
              <a:t> N){</a:t>
            </a:r>
          </a:p>
          <a:p>
            <a:r>
              <a:rPr lang="en-GB" altLang="en-US" b="1" dirty="0">
                <a:latin typeface="Courier New" panose="02070309020205020404" pitchFamily="49" charset="0"/>
              </a:rPr>
              <a:t>   </a:t>
            </a:r>
            <a:r>
              <a:rPr lang="en-GB" altLang="en-US" b="1" dirty="0" err="1">
                <a:latin typeface="Courier New" panose="02070309020205020404" pitchFamily="49" charset="0"/>
              </a:rPr>
              <a:t>int</a:t>
            </a:r>
            <a:r>
              <a:rPr lang="en-GB" altLang="en-US" b="1" dirty="0">
                <a:latin typeface="Courier New" panose="02070309020205020404" pitchFamily="49" charset="0"/>
              </a:rPr>
              <a:t> s=0;</a:t>
            </a:r>
          </a:p>
          <a:p>
            <a:endParaRPr lang="en-GB" altLang="en-US" b="1" dirty="0">
              <a:latin typeface="Courier New" panose="02070309020205020404" pitchFamily="49" charset="0"/>
            </a:endParaRPr>
          </a:p>
          <a:p>
            <a:r>
              <a:rPr lang="en-GB" altLang="en-US" b="1" dirty="0">
                <a:latin typeface="Courier New" panose="02070309020205020404" pitchFamily="49" charset="0"/>
              </a:rPr>
              <a:t>   for (</a:t>
            </a:r>
            <a:r>
              <a:rPr lang="en-GB" altLang="en-US" b="1" dirty="0" err="1">
                <a:latin typeface="Courier New" panose="02070309020205020404" pitchFamily="49" charset="0"/>
              </a:rPr>
              <a:t>int</a:t>
            </a:r>
            <a:r>
              <a:rPr lang="en-GB" altLang="en-US" b="1" dirty="0">
                <a:latin typeface="Courier New" panose="02070309020205020404" pitchFamily="49" charset="0"/>
              </a:rPr>
              <a:t> </a:t>
            </a:r>
            <a:r>
              <a:rPr lang="en-GB" altLang="en-US" b="1" dirty="0" err="1">
                <a:latin typeface="Courier New" panose="02070309020205020404" pitchFamily="49" charset="0"/>
              </a:rPr>
              <a:t>i</a:t>
            </a:r>
            <a:r>
              <a:rPr lang="en-GB" altLang="en-US" b="1" dirty="0">
                <a:latin typeface="Courier New" panose="02070309020205020404" pitchFamily="49" charset="0"/>
              </a:rPr>
              <a:t>=0; </a:t>
            </a:r>
            <a:r>
              <a:rPr lang="en-GB" altLang="en-US" b="1" dirty="0" err="1">
                <a:latin typeface="Courier New" panose="02070309020205020404" pitchFamily="49" charset="0"/>
              </a:rPr>
              <a:t>i</a:t>
            </a:r>
            <a:r>
              <a:rPr lang="en-GB" altLang="en-US" b="1" dirty="0">
                <a:latin typeface="Courier New" panose="02070309020205020404" pitchFamily="49" charset="0"/>
              </a:rPr>
              <a:t>&lt; N; </a:t>
            </a:r>
            <a:r>
              <a:rPr lang="en-GB" altLang="en-US" b="1" dirty="0" err="1">
                <a:latin typeface="Courier New" panose="02070309020205020404" pitchFamily="49" charset="0"/>
              </a:rPr>
              <a:t>i</a:t>
            </a:r>
            <a:r>
              <a:rPr lang="en-GB" altLang="en-US" b="1" dirty="0">
                <a:latin typeface="Courier New" panose="02070309020205020404" pitchFamily="49" charset="0"/>
              </a:rPr>
              <a:t>++)</a:t>
            </a:r>
          </a:p>
          <a:p>
            <a:endParaRPr lang="en-GB" altLang="en-US" b="1" dirty="0">
              <a:latin typeface="Courier New" panose="02070309020205020404" pitchFamily="49" charset="0"/>
            </a:endParaRPr>
          </a:p>
          <a:p>
            <a:r>
              <a:rPr lang="en-GB" altLang="en-US" b="1" dirty="0">
                <a:latin typeface="Courier New" panose="02070309020205020404" pitchFamily="49" charset="0"/>
              </a:rPr>
              <a:t>      s = s + A[</a:t>
            </a:r>
            <a:r>
              <a:rPr lang="en-GB" altLang="en-US" b="1" dirty="0" err="1">
                <a:latin typeface="Courier New" panose="02070309020205020404" pitchFamily="49" charset="0"/>
              </a:rPr>
              <a:t>i</a:t>
            </a:r>
            <a:r>
              <a:rPr lang="en-GB" altLang="en-US" b="1" dirty="0">
                <a:latin typeface="Courier New" panose="02070309020205020404" pitchFamily="49" charset="0"/>
              </a:rPr>
              <a:t>];</a:t>
            </a:r>
          </a:p>
          <a:p>
            <a:endParaRPr lang="en-GB" altLang="en-US" b="1" dirty="0">
              <a:latin typeface="Courier New" panose="02070309020205020404" pitchFamily="49" charset="0"/>
            </a:endParaRPr>
          </a:p>
          <a:p>
            <a:r>
              <a:rPr lang="en-GB" altLang="en-US" b="1" dirty="0">
                <a:latin typeface="Courier New" panose="02070309020205020404" pitchFamily="49" charset="0"/>
              </a:rPr>
              <a:t>   return s;</a:t>
            </a:r>
          </a:p>
          <a:p>
            <a:r>
              <a:rPr lang="en-GB" altLang="en-US" b="1" dirty="0">
                <a:latin typeface="Courier New" panose="02070309020205020404" pitchFamily="49" charset="0"/>
              </a:rPr>
              <a:t>}</a:t>
            </a:r>
          </a:p>
          <a:p>
            <a:endParaRPr lang="en-GB" altLang="en-US" b="1" dirty="0">
              <a:latin typeface="Courier New" panose="02070309020205020404" pitchFamily="49" charset="0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65E04FB5-2263-1C4C-A4D4-9609F87A1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075" y="4362450"/>
            <a:ext cx="12954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DDE0BF3E-001B-6A4E-9A8F-99BBFE3DC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2686050"/>
            <a:ext cx="4572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D0C71A7D-1059-A94D-987A-BDA889223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275" y="3219450"/>
            <a:ext cx="4572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AB5E9451-CC12-9C4F-931C-65404B691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810000"/>
            <a:ext cx="5334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69C3685C-2D7A-724B-A096-E7FACB339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075" y="3219450"/>
            <a:ext cx="6096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ABED3A4C-47DE-C445-9282-D10CE4142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3219450"/>
            <a:ext cx="4572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CF409E97-C332-1B41-BDC7-1B197662C87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819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41373731-D5E4-0243-90F4-5563E1FA8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667000"/>
            <a:ext cx="304800" cy="304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E7CBEA11-763D-4C43-958D-5970A55EF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5052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1FA6780E-1D3E-EE40-94D2-67CFAD80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5052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A4F63466-FD44-0E4E-9F70-D9D68EB5A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5052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8B6B536C-69DB-694E-B055-F0077313C2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3505200"/>
            <a:ext cx="914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FAD4474C-F31E-0A47-9ECA-66354400387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5200" y="35052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737B13BD-A9D2-024E-89F5-04ADE4D93D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43400" y="35052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Oval 18">
            <a:extLst>
              <a:ext uri="{FF2B5EF4-FFF2-40B4-BE49-F238E27FC236}">
                <a16:creationId xmlns:a16="http://schemas.microsoft.com/office/drawing/2014/main" id="{30E08138-DB14-1045-892D-32BF9D359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9624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1" name="Oval 19">
            <a:extLst>
              <a:ext uri="{FF2B5EF4-FFF2-40B4-BE49-F238E27FC236}">
                <a16:creationId xmlns:a16="http://schemas.microsoft.com/office/drawing/2014/main" id="{8E583609-C592-E246-B8F1-87AF2012D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1148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2B80ACFF-047D-524C-BBB8-7000815CF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148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id="{DB066620-367B-7442-9B3A-E3C913087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7244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C9963F0C-F6C3-B54E-AF2E-A80B7811E0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39624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E954FBBB-244B-9444-B03B-61AEFABCF6B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0800" y="3962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4E778FD1-A64F-4E45-9D40-C6200AEDDD4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76600" y="40386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265A6987-B458-0748-9B2D-4B2D2392EFE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0800" y="45720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753452E2-D4D8-A148-9E6E-218E0E196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038600"/>
            <a:ext cx="356552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dirty="0">
                <a:latin typeface="Times New Roman" panose="02020603050405020304" pitchFamily="18" charset="0"/>
              </a:rPr>
              <a:t>1,2,8: Once</a:t>
            </a:r>
          </a:p>
          <a:p>
            <a:r>
              <a:rPr lang="en-GB" altLang="en-US" sz="2000" dirty="0">
                <a:latin typeface="Times New Roman" panose="02020603050405020304" pitchFamily="18" charset="0"/>
              </a:rPr>
              <a:t>3,4,5,6,7: Once per each iteration</a:t>
            </a:r>
          </a:p>
          <a:p>
            <a:r>
              <a:rPr lang="en-GB" altLang="en-US" sz="2000" dirty="0">
                <a:latin typeface="Times New Roman" panose="02020603050405020304" pitchFamily="18" charset="0"/>
              </a:rPr>
              <a:t>                of for loop, N iteration</a:t>
            </a:r>
          </a:p>
          <a:p>
            <a:r>
              <a:rPr lang="en-GB" altLang="en-US" sz="2000" dirty="0">
                <a:latin typeface="Times New Roman" panose="02020603050405020304" pitchFamily="18" charset="0"/>
              </a:rPr>
              <a:t>Total: 5N + 3</a:t>
            </a:r>
          </a:p>
          <a:p>
            <a:r>
              <a:rPr lang="en-GB" altLang="en-US" sz="2000" dirty="0">
                <a:latin typeface="Times New Roman" panose="02020603050405020304" pitchFamily="18" charset="0"/>
              </a:rPr>
              <a:t>The </a:t>
            </a:r>
            <a:r>
              <a:rPr lang="en-GB" altLang="en-US" sz="2000" i="1" dirty="0">
                <a:latin typeface="Times New Roman" panose="02020603050405020304" pitchFamily="18" charset="0"/>
              </a:rPr>
              <a:t>complexity function</a:t>
            </a:r>
            <a:r>
              <a:rPr lang="en-GB" altLang="en-US" sz="2000" dirty="0">
                <a:latin typeface="Times New Roman" panose="02020603050405020304" pitchFamily="18" charset="0"/>
              </a:rPr>
              <a:t> of the </a:t>
            </a:r>
          </a:p>
          <a:p>
            <a:r>
              <a:rPr lang="en-GB" altLang="en-US" sz="2000" dirty="0">
                <a:latin typeface="Times New Roman" panose="02020603050405020304" pitchFamily="18" charset="0"/>
              </a:rPr>
              <a:t>algorithm is : </a:t>
            </a:r>
            <a:r>
              <a:rPr lang="en-GB" altLang="en-US" sz="2000" i="1" dirty="0">
                <a:latin typeface="Times New Roman" panose="02020603050405020304" pitchFamily="18" charset="0"/>
              </a:rPr>
              <a:t>f(N) = 5N +3</a:t>
            </a:r>
            <a:endParaRPr lang="en-GB" altLang="en-US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01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BA0B8C-4E96-8442-BC64-D3581C81F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42489F-36D0-1648-990E-6D9A323DC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BA2AEF0-3908-CB48-AC4B-5D16353C87E5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36524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/>
              <a:t>Simple Example (3)</a:t>
            </a:r>
            <a:br>
              <a:rPr lang="en-US" altLang="en-US" sz="2800" dirty="0"/>
            </a:br>
            <a:endParaRPr lang="en-US" altLang="en-US" sz="28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1121AC1-9C86-194D-BF4A-ECC2B86EBB5F}"/>
              </a:ext>
            </a:extLst>
          </p:cNvPr>
          <p:cNvSpPr txBox="1">
            <a:spLocks noChangeArrowheads="1"/>
          </p:cNvSpPr>
          <p:nvPr/>
        </p:nvSpPr>
        <p:spPr>
          <a:xfrm>
            <a:off x="80963" y="1919868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GB" altLang="en-US" sz="2000" dirty="0"/>
              <a:t>Estimated running time for different values of N:</a:t>
            </a:r>
          </a:p>
          <a:p>
            <a:pPr>
              <a:buFontTx/>
              <a:buNone/>
            </a:pPr>
            <a:endParaRPr lang="en-GB" altLang="en-US" sz="2000" dirty="0"/>
          </a:p>
          <a:p>
            <a:pPr>
              <a:buFontTx/>
              <a:buNone/>
            </a:pPr>
            <a:r>
              <a:rPr lang="en-GB" altLang="en-US" sz="2000" dirty="0"/>
              <a:t>N = 10			=&gt; 53 steps</a:t>
            </a:r>
          </a:p>
          <a:p>
            <a:pPr>
              <a:buFontTx/>
              <a:buNone/>
            </a:pPr>
            <a:r>
              <a:rPr lang="en-GB" altLang="en-US" sz="2000" dirty="0"/>
              <a:t>N = 100			=&gt; 503 steps</a:t>
            </a:r>
          </a:p>
          <a:p>
            <a:pPr>
              <a:buFontTx/>
              <a:buNone/>
            </a:pPr>
            <a:r>
              <a:rPr lang="en-GB" altLang="en-US" sz="2000" dirty="0"/>
              <a:t>N = 1,000			=&gt; 5003 steps</a:t>
            </a:r>
          </a:p>
          <a:p>
            <a:pPr>
              <a:buFontTx/>
              <a:buNone/>
            </a:pPr>
            <a:r>
              <a:rPr lang="en-GB" altLang="en-US" sz="2000" dirty="0"/>
              <a:t>N = 1,000,000		=&gt; 5,000,003 steps</a:t>
            </a:r>
          </a:p>
          <a:p>
            <a:pPr>
              <a:buFontTx/>
              <a:buNone/>
            </a:pPr>
            <a:endParaRPr lang="en-GB" altLang="en-US" sz="2000" dirty="0"/>
          </a:p>
          <a:p>
            <a:pPr>
              <a:buFontTx/>
              <a:buNone/>
            </a:pPr>
            <a:r>
              <a:rPr lang="en-GB" altLang="en-US" sz="2000" dirty="0"/>
              <a:t>	As N grows, the number of steps grow in </a:t>
            </a:r>
            <a:r>
              <a:rPr lang="en-GB" altLang="en-US" sz="2000" i="1" dirty="0"/>
              <a:t>linear </a:t>
            </a:r>
            <a:r>
              <a:rPr lang="en-GB" altLang="en-US" sz="2000" dirty="0"/>
              <a:t>proportion to N for this function </a:t>
            </a:r>
            <a:r>
              <a:rPr lang="en-GB" altLang="en-US" sz="2000" i="1" dirty="0"/>
              <a:t>“Sum”</a:t>
            </a:r>
          </a:p>
          <a:p>
            <a:pPr>
              <a:buFontTx/>
              <a:buNone/>
            </a:pPr>
            <a:endParaRPr lang="en-US" alt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0C0860-2B09-1645-89A1-7259E398A941}"/>
              </a:ext>
            </a:extLst>
          </p:cNvPr>
          <p:cNvSpPr/>
          <p:nvPr/>
        </p:nvSpPr>
        <p:spPr>
          <a:xfrm>
            <a:off x="80963" y="1262630"/>
            <a:ext cx="2416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/>
              <a:t>Growth of 5n+3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3068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32BC98-C0FB-F540-B4FF-183C5E6F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804D90-3971-DE41-A753-149C5963A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B6A9DF2-9ABA-A844-8F6C-8B336ED7828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81000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2800"/>
              <a:t>What Dominates in Previous Example?</a:t>
            </a:r>
            <a:endParaRPr lang="en-US" altLang="en-US" sz="28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F905867-4491-2E49-A411-81EF7EB2202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95400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/>
              <a:t>What about the +3 and 5 in 5N+3? </a:t>
            </a:r>
          </a:p>
          <a:p>
            <a:pPr marL="692150" lvl="1" indent="-347663">
              <a:lnSpc>
                <a:spcPct val="80000"/>
              </a:lnSpc>
            </a:pPr>
            <a:r>
              <a:rPr lang="en-GB" altLang="en-US" sz="1800" dirty="0"/>
              <a:t>As N gets large, the +3 becomes insignificant</a:t>
            </a:r>
          </a:p>
          <a:p>
            <a:pPr marL="692150" lvl="1" indent="-347663">
              <a:lnSpc>
                <a:spcPct val="80000"/>
              </a:lnSpc>
            </a:pPr>
            <a:r>
              <a:rPr lang="en-GB" altLang="en-US" sz="1800" dirty="0"/>
              <a:t>5 is inaccurate, as different operations require varying amounts of time and also does not have any significant importance</a:t>
            </a:r>
            <a:br>
              <a:rPr lang="en-GB" altLang="en-US" sz="1800" dirty="0"/>
            </a:br>
            <a:endParaRPr lang="en-GB" altLang="en-US" sz="1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/>
              <a:t>What is fundamental is that the time is </a:t>
            </a:r>
            <a:r>
              <a:rPr lang="en-GB" altLang="en-US" sz="2000" i="1" dirty="0"/>
              <a:t>linear </a:t>
            </a:r>
            <a:r>
              <a:rPr lang="en-GB" altLang="en-US" sz="2000" dirty="0"/>
              <a:t>in N.</a:t>
            </a:r>
            <a:br>
              <a:rPr lang="en-GB" altLang="en-US" sz="2000" dirty="0"/>
            </a:br>
            <a:r>
              <a:rPr lang="en-GB" altLang="en-US" sz="2000" dirty="0"/>
              <a:t>As N gets large, concentrate on the highest order term:</a:t>
            </a:r>
          </a:p>
          <a:p>
            <a:pPr>
              <a:lnSpc>
                <a:spcPct val="80000"/>
              </a:lnSpc>
            </a:pPr>
            <a:r>
              <a:rPr lang="en-GB" altLang="en-US" sz="2000" dirty="0"/>
              <a:t> Drop lower order terms such as +3</a:t>
            </a:r>
          </a:p>
          <a:p>
            <a:pPr>
              <a:lnSpc>
                <a:spcPct val="80000"/>
              </a:lnSpc>
            </a:pPr>
            <a:r>
              <a:rPr lang="en-GB" altLang="en-US" sz="2000" dirty="0"/>
              <a:t> Drop the constant coefficient of the highest order term  i.e. N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7809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71BEE8-E5E8-5D41-B091-C8D5F1892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4EFC64-CD13-9C45-8F0C-45AE8A5A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E5FE84D-D19A-0B40-88BC-ACE7E4998A8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81000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2800"/>
              <a:t>Standard Analysis Techniques</a:t>
            </a:r>
            <a:endParaRPr lang="en-US" altLang="en-US" sz="28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A4963E8-06C4-6743-B450-09BDA898198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95400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>
                <a:solidFill>
                  <a:schemeClr val="tx2"/>
                </a:solidFill>
              </a:rPr>
              <a:t>Constant time</a:t>
            </a:r>
            <a:r>
              <a:rPr lang="en-GB" altLang="en-US"/>
              <a:t> </a:t>
            </a:r>
            <a:r>
              <a:rPr lang="en-GB" altLang="en-US">
                <a:solidFill>
                  <a:schemeClr val="tx2"/>
                </a:solidFill>
              </a:rPr>
              <a:t>statements</a:t>
            </a:r>
          </a:p>
          <a:p>
            <a:r>
              <a:rPr lang="en-GB" altLang="en-US" sz="2000"/>
              <a:t>Analyzing Loops</a:t>
            </a:r>
          </a:p>
          <a:p>
            <a:r>
              <a:rPr lang="en-GB" altLang="en-US" sz="2000"/>
              <a:t>Analyzing Nested Loops</a:t>
            </a:r>
          </a:p>
          <a:p>
            <a:r>
              <a:rPr lang="en-GB" altLang="en-US" sz="2000"/>
              <a:t>Analyzing Sequence of Statements</a:t>
            </a:r>
          </a:p>
          <a:p>
            <a:r>
              <a:rPr lang="en-GB" altLang="en-US" sz="2000"/>
              <a:t>Analyzing Conditional Statements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4741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41725D-923F-964D-8F98-8BE00CF82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6E8297-C4C7-BF4A-B0E4-FEE986CE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9347CA-7E45-D842-A506-EF17A4EC049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81000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/>
              <a:t>Constant time statements</a:t>
            </a: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BB4BE91-077D-854E-B654-9D1F834E345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95400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GB" altLang="en-US" sz="2000"/>
              <a:t>Simplest case: O(1) time statements</a:t>
            </a:r>
          </a:p>
          <a:p>
            <a:pPr>
              <a:lnSpc>
                <a:spcPct val="80000"/>
              </a:lnSpc>
            </a:pPr>
            <a:r>
              <a:rPr lang="en-GB" altLang="en-US" sz="2000"/>
              <a:t> Assignment statements of simple data types</a:t>
            </a:r>
            <a:br>
              <a:rPr lang="en-GB" altLang="en-US" sz="2000"/>
            </a:br>
            <a:r>
              <a:rPr lang="en-GB" altLang="en-US" sz="2000"/>
              <a:t>      int x = y;</a:t>
            </a:r>
          </a:p>
          <a:p>
            <a:pPr>
              <a:lnSpc>
                <a:spcPct val="80000"/>
              </a:lnSpc>
            </a:pPr>
            <a:r>
              <a:rPr lang="en-GB" altLang="en-US" sz="2000"/>
              <a:t> Arithmetic operations:</a:t>
            </a:r>
            <a:br>
              <a:rPr lang="en-GB" altLang="en-US" sz="2000"/>
            </a:br>
            <a:r>
              <a:rPr lang="en-GB" altLang="en-US" sz="2000"/>
              <a:t>   x = 5 * y + 4 - z;</a:t>
            </a:r>
          </a:p>
          <a:p>
            <a:pPr>
              <a:lnSpc>
                <a:spcPct val="80000"/>
              </a:lnSpc>
            </a:pPr>
            <a:r>
              <a:rPr lang="en-GB" altLang="en-US" sz="2000"/>
              <a:t> Array referencing:</a:t>
            </a:r>
            <a:br>
              <a:rPr lang="en-GB" altLang="en-US" sz="2000"/>
            </a:br>
            <a:r>
              <a:rPr lang="en-GB" altLang="en-US" sz="2000"/>
              <a:t>    A[j] = 5;</a:t>
            </a:r>
          </a:p>
          <a:p>
            <a:pPr>
              <a:lnSpc>
                <a:spcPct val="80000"/>
              </a:lnSpc>
            </a:pPr>
            <a:r>
              <a:rPr lang="en-GB" altLang="en-US" sz="2000"/>
              <a:t> Array assignment:</a:t>
            </a:r>
            <a:br>
              <a:rPr lang="en-GB" altLang="en-US" sz="2000"/>
            </a:br>
            <a:r>
              <a:rPr lang="en-GB" altLang="en-US" sz="2000"/>
              <a:t>    </a:t>
            </a:r>
            <a:r>
              <a:rPr lang="en-GB" altLang="en-US" sz="2000">
                <a:sym typeface="Symbol" pitchFamily="2" charset="2"/>
              </a:rPr>
              <a:t> j, </a:t>
            </a:r>
            <a:r>
              <a:rPr lang="en-GB" altLang="en-US" sz="2000"/>
              <a:t>A[j] = 5;</a:t>
            </a:r>
          </a:p>
          <a:p>
            <a:pPr>
              <a:lnSpc>
                <a:spcPct val="80000"/>
              </a:lnSpc>
            </a:pPr>
            <a:r>
              <a:rPr lang="en-GB" altLang="en-US" sz="2000"/>
              <a:t> Most conditional tests:</a:t>
            </a:r>
            <a:br>
              <a:rPr lang="en-GB" altLang="en-US" sz="2000"/>
            </a:br>
            <a:r>
              <a:rPr lang="en-GB" altLang="en-US" sz="2000"/>
              <a:t>   if (x &lt; 12) ...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166754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91EE0F-43F9-874D-B083-63214BC6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C81687-E920-CD40-937E-ED36B039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EC76276-6DB5-8E4C-AA7B-47B34C4E5D2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81000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2800"/>
              <a:t>Analyzing Sequence of Statements</a:t>
            </a:r>
            <a:endParaRPr lang="en-US" altLang="en-US" sz="280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ED93067-F2D7-D246-A420-D195CE6261E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95400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/>
              <a:t>For a sequence of statements, compute their complexity functions individually and add them up</a:t>
            </a:r>
          </a:p>
          <a:p>
            <a:pPr marL="987425" lvl="2" indent="-293688">
              <a:buFontTx/>
              <a:buNone/>
            </a:pPr>
            <a:r>
              <a:rPr lang="en-GB" altLang="en-US" sz="1800"/>
              <a:t>  </a:t>
            </a:r>
            <a:r>
              <a:rPr lang="en-GB" altLang="en-US" sz="1800" b="1"/>
              <a:t> </a:t>
            </a:r>
            <a:r>
              <a:rPr lang="en-GB" altLang="en-US" sz="1800"/>
              <a:t>for (j=0; j &lt; N; j++)</a:t>
            </a:r>
          </a:p>
          <a:p>
            <a:pPr marL="987425" lvl="2" indent="-293688">
              <a:buFontTx/>
              <a:buNone/>
            </a:pPr>
            <a:r>
              <a:rPr lang="en-GB" altLang="en-US" sz="1800"/>
              <a:t>      for (k =0; k &lt; j; k++)</a:t>
            </a:r>
          </a:p>
          <a:p>
            <a:pPr marL="987425" lvl="2" indent="-293688">
              <a:buFontTx/>
              <a:buNone/>
            </a:pPr>
            <a:r>
              <a:rPr lang="en-GB" altLang="en-US" sz="1800"/>
              <a:t>         sum = sum + j*k;</a:t>
            </a:r>
          </a:p>
          <a:p>
            <a:pPr marL="987425" lvl="2" indent="-293688">
              <a:buFontTx/>
              <a:buNone/>
            </a:pPr>
            <a:r>
              <a:rPr lang="en-GB" altLang="en-US" sz="1800"/>
              <a:t>   for (l=0; l &lt; N; l++)</a:t>
            </a:r>
          </a:p>
          <a:p>
            <a:pPr marL="987425" lvl="2" indent="-293688">
              <a:buFontTx/>
              <a:buNone/>
            </a:pPr>
            <a:r>
              <a:rPr lang="en-GB" altLang="en-US" sz="1800"/>
              <a:t>      sum = sum -l;</a:t>
            </a:r>
          </a:p>
          <a:p>
            <a:pPr marL="987425" lvl="2" indent="-293688">
              <a:buFontTx/>
              <a:buNone/>
            </a:pPr>
            <a:r>
              <a:rPr lang="en-GB" altLang="en-US" sz="1800"/>
              <a:t>   cout&lt;&lt;“Sum=”&lt;&lt;sum;</a:t>
            </a:r>
          </a:p>
          <a:p>
            <a:pPr marL="987425" lvl="2" indent="-293688">
              <a:buFontTx/>
              <a:buNone/>
            </a:pPr>
            <a:endParaRPr lang="en-GB" altLang="en-US" sz="1800"/>
          </a:p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GB" altLang="en-US"/>
              <a:t>Total cost is O(N</a:t>
            </a:r>
            <a:r>
              <a:rPr lang="en-GB" altLang="en-US" baseline="30000"/>
              <a:t>2</a:t>
            </a:r>
            <a:r>
              <a:rPr lang="en-GB" altLang="en-US"/>
              <a:t>) + O(N) +O(1) = O(N</a:t>
            </a:r>
            <a:r>
              <a:rPr lang="en-GB" altLang="en-US" baseline="30000"/>
              <a:t>2</a:t>
            </a:r>
            <a:r>
              <a:rPr lang="en-GB" altLang="en-US"/>
              <a:t>)</a:t>
            </a:r>
            <a:endParaRPr lang="en-US" altLang="en-US" dirty="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98E4D47D-BB86-5A44-9206-7F4D527CE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715000"/>
            <a:ext cx="2362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>
                <a:solidFill>
                  <a:srgbClr val="0000FF"/>
                </a:solidFill>
                <a:latin typeface="Times New Roman" panose="02020603050405020304" pitchFamily="18" charset="0"/>
              </a:rPr>
              <a:t>SUM</a:t>
            </a:r>
            <a:r>
              <a:rPr lang="en-US" altLang="en-US" sz="320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>
                <a:solidFill>
                  <a:srgbClr val="0000FF"/>
                </a:solidFill>
                <a:latin typeface="Times New Roman" panose="02020603050405020304" pitchFamily="18" charset="0"/>
              </a:rPr>
              <a:t>RULE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81457F3A-4736-C94C-8EA1-7F6ECBB09CF7}"/>
              </a:ext>
            </a:extLst>
          </p:cNvPr>
          <p:cNvSpPr>
            <a:spLocks/>
          </p:cNvSpPr>
          <p:nvPr/>
        </p:nvSpPr>
        <p:spPr bwMode="auto">
          <a:xfrm flipH="1">
            <a:off x="3352800" y="2057400"/>
            <a:ext cx="76200" cy="6858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EA76730A-5B77-9448-A2E2-D4518B115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133600"/>
            <a:ext cx="803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>
                <a:latin typeface="Times New Roman" panose="02020603050405020304" pitchFamily="18" charset="0"/>
              </a:rPr>
              <a:t>O(N</a:t>
            </a:r>
            <a:r>
              <a:rPr lang="en-GB" altLang="en-US" sz="2000" baseline="30000">
                <a:latin typeface="Times New Roman" panose="02020603050405020304" pitchFamily="18" charset="0"/>
              </a:rPr>
              <a:t>2</a:t>
            </a:r>
            <a:r>
              <a:rPr lang="en-GB" altLang="en-US" sz="2000">
                <a:latin typeface="Times New Roman" panose="02020603050405020304" pitchFamily="18" charset="0"/>
              </a:rPr>
              <a:t>)</a:t>
            </a:r>
            <a:endParaRPr lang="en-GB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D17E5653-3D56-6E4A-8A56-1499E24BCF79}"/>
              </a:ext>
            </a:extLst>
          </p:cNvPr>
          <p:cNvSpPr>
            <a:spLocks/>
          </p:cNvSpPr>
          <p:nvPr/>
        </p:nvSpPr>
        <p:spPr bwMode="auto">
          <a:xfrm>
            <a:off x="3352800" y="2819400"/>
            <a:ext cx="76200" cy="609600"/>
          </a:xfrm>
          <a:prstGeom prst="righ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54A2014A-B823-8149-A8F7-AF43F0B40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89560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>
                <a:latin typeface="Times New Roman" panose="02020603050405020304" pitchFamily="18" charset="0"/>
              </a:rPr>
              <a:t>O(N)</a:t>
            </a:r>
            <a:endParaRPr lang="en-GB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78EC4217-7ACC-3A45-9A05-6F85530B95B1}"/>
              </a:ext>
            </a:extLst>
          </p:cNvPr>
          <p:cNvSpPr>
            <a:spLocks/>
          </p:cNvSpPr>
          <p:nvPr/>
        </p:nvSpPr>
        <p:spPr bwMode="auto">
          <a:xfrm>
            <a:off x="3352800" y="3429000"/>
            <a:ext cx="76200" cy="3048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16709A1D-B959-5C4E-A1C7-2697F529E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429000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>
                <a:latin typeface="Times New Roman" panose="02020603050405020304" pitchFamily="18" charset="0"/>
              </a:rPr>
              <a:t>O(1)</a:t>
            </a:r>
            <a:endParaRPr lang="en-GB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05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DB3728-0E75-D345-A90F-94FCE6342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EBE5-1BAC-2B4B-A4A9-28A24333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72C5450-0CA5-2046-AD30-60C7CB542EE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70242"/>
            <a:ext cx="9144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2800"/>
              <a:t>Analyzing Conditional Statements</a:t>
            </a:r>
            <a:endParaRPr lang="en-US" altLang="en-US" sz="280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774C84A-61BD-D14C-B93C-FABBBDB9FB2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84642"/>
            <a:ext cx="91440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GB" altLang="en-US" sz="1800"/>
              <a:t>What about conditional statements such as</a:t>
            </a:r>
          </a:p>
          <a:p>
            <a:pPr>
              <a:lnSpc>
                <a:spcPct val="80000"/>
              </a:lnSpc>
              <a:buFontTx/>
              <a:buNone/>
            </a:pPr>
            <a:endParaRPr lang="en-GB" alt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1800"/>
              <a:t>  </a:t>
            </a:r>
            <a:r>
              <a:rPr lang="en-GB" altLang="en-US" sz="1800" b="1"/>
              <a:t> if (condition)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1800" b="1"/>
              <a:t>      statement1;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1800" b="1"/>
              <a:t>   else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1800" b="1"/>
              <a:t>      statement2;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1800"/>
              <a:t>where statement1 runs in O(N) time and statement2 runs in O(N</a:t>
            </a:r>
            <a:r>
              <a:rPr lang="en-GB" altLang="en-US" sz="1800" baseline="30000"/>
              <a:t>2</a:t>
            </a:r>
            <a:r>
              <a:rPr lang="en-GB" altLang="en-US" sz="1800"/>
              <a:t>) time?</a:t>
            </a:r>
          </a:p>
          <a:p>
            <a:pPr>
              <a:lnSpc>
                <a:spcPct val="80000"/>
              </a:lnSpc>
              <a:buFontTx/>
              <a:buNone/>
            </a:pPr>
            <a:endParaRPr lang="en-GB" alt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1800"/>
              <a:t>We use "worst case" complexity: among all inputs of size N, that is the maximum running time?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1800"/>
              <a:t>The analysis for the example above is O(N</a:t>
            </a:r>
            <a:r>
              <a:rPr lang="en-GB" altLang="en-US" sz="1800" baseline="30000"/>
              <a:t>2</a:t>
            </a:r>
            <a:r>
              <a:rPr lang="en-GB" altLang="en-US" sz="1800"/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86195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E0695-2401-AD4F-A312-397FB2FA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35481</TotalTime>
  <Words>1225</Words>
  <Application>Microsoft Macintosh PowerPoint</Application>
  <PresentationFormat>A4 Paper (210x297 mm)</PresentationFormat>
  <Paragraphs>217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Adobe Gothic Std B</vt:lpstr>
      <vt:lpstr>等线</vt:lpstr>
      <vt:lpstr>等线</vt:lpstr>
      <vt:lpstr>等线 Light</vt:lpstr>
      <vt:lpstr>SimSun</vt:lpstr>
      <vt:lpstr>Arial</vt:lpstr>
      <vt:lpstr>Calibri</vt:lpstr>
      <vt:lpstr>Courier New</vt:lpstr>
      <vt:lpstr>Symbol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660</cp:revision>
  <dcterms:created xsi:type="dcterms:W3CDTF">2018-07-17T04:46:00Z</dcterms:created>
  <dcterms:modified xsi:type="dcterms:W3CDTF">2025-11-11T05:17:13Z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
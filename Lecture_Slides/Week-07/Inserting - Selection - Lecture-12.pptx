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80" r:id="rId2"/>
    <p:sldId id="624" r:id="rId3"/>
    <p:sldId id="625" r:id="rId4"/>
    <p:sldId id="626" r:id="rId5"/>
    <p:sldId id="627" r:id="rId6"/>
    <p:sldId id="628" r:id="rId7"/>
    <p:sldId id="629" r:id="rId8"/>
    <p:sldId id="630" r:id="rId9"/>
    <p:sldId id="631" r:id="rId10"/>
    <p:sldId id="632" r:id="rId11"/>
    <p:sldId id="633" r:id="rId12"/>
    <p:sldId id="634" r:id="rId13"/>
    <p:sldId id="635" r:id="rId14"/>
    <p:sldId id="636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  <p:sldId id="645" r:id="rId24"/>
    <p:sldId id="646" r:id="rId25"/>
    <p:sldId id="647" r:id="rId26"/>
    <p:sldId id="648" r:id="rId27"/>
    <p:sldId id="649" r:id="rId28"/>
    <p:sldId id="650" r:id="rId29"/>
    <p:sldId id="651" r:id="rId30"/>
    <p:sldId id="653" r:id="rId31"/>
    <p:sldId id="372" r:id="rId32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615" autoAdjust="0"/>
  </p:normalViewPr>
  <p:slideViewPr>
    <p:cSldViewPr snapToGrid="0">
      <p:cViewPr varScale="1">
        <p:scale>
          <a:sx n="119" d="100"/>
          <a:sy n="119" d="100"/>
        </p:scale>
        <p:origin x="1720" y="176"/>
      </p:cViewPr>
      <p:guideLst>
        <p:guide orient="horz" pos="2306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8BEDC-6491-7F49-927C-70EE09C8F2BA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8AC73-E03B-E14D-BD74-5D0B0436B98C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52C16-5A4C-4C4D-AB3B-1798EFAD54A5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7A65B-BCF9-4E4A-BB3F-457FE68956F7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E529D-6F89-554F-B418-A20464507CB0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2FC76-40D9-D54E-BD5E-8E76D2E98753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6428-4EC9-5B45-9338-3BCC9DD7A1AB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6485F-3E40-2A4F-AE69-F886D205BBBD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66F82-F09D-CE42-81CB-58173323B5F4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90267-8015-7D49-9924-973837A98BF2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42FDE-55A8-E94D-B7E0-9C1F7F04B591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08948-27A6-5D40-9468-DF43318E3575}" type="datetime1">
              <a:rPr lang="en-US" altLang="zh-CN" smtClean="0"/>
              <a:t>10/16/25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Dr. Zubair Ahmad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1D7D9E-FB29-9D4A-9A84-AC73C8AAA8E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1842" y="0"/>
            <a:ext cx="1367045" cy="104692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42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sz="4000" b="1" dirty="0">
                <a:solidFill>
                  <a:schemeClr val="bg2">
                    <a:lumMod val="50000"/>
                  </a:schemeClr>
                </a:solidFill>
              </a:rPr>
              <a:t>Insertion and Selection Sort</a:t>
            </a:r>
            <a:endParaRPr lang="en-US" b="1" dirty="0">
              <a:solidFill>
                <a:schemeClr val="bg2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833816" y="1284843"/>
            <a:ext cx="4518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Data Structures and Algorithms</a:t>
            </a:r>
          </a:p>
          <a:p>
            <a:pPr algn="ctr"/>
            <a:r>
              <a:rPr lang="en-US" b="1" dirty="0"/>
              <a:t>(CS221)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48899-05E2-6049-B650-5E35DB45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9B78D1-27C5-7B41-95F9-543FC0FFA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D64D18-1EDB-DF4F-B335-3ED2634B0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71CF02-A982-E047-B281-C6A97A3F0939}"/>
              </a:ext>
            </a:extLst>
          </p:cNvPr>
          <p:cNvSpPr txBox="1">
            <a:spLocks/>
          </p:cNvSpPr>
          <p:nvPr/>
        </p:nvSpPr>
        <p:spPr bwMode="auto">
          <a:xfrm>
            <a:off x="256478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latin typeface="+mn-lt"/>
              </a:rPr>
              <a:t>Insertion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3027D3-7699-2B4A-AEAD-216F7326026E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Trebuchet MS" panose="020B0703020202090204" pitchFamily="34" charset="0"/>
              </a:rPr>
              <a:t>On the </a:t>
            </a:r>
            <a:r>
              <a:rPr lang="en-US" altLang="en-US" i="1" dirty="0" err="1">
                <a:solidFill>
                  <a:srgbClr val="0000CC"/>
                </a:solidFill>
                <a:latin typeface="Trebuchet MS" panose="020B0703020202090204" pitchFamily="34" charset="0"/>
              </a:rPr>
              <a:t>i</a:t>
            </a:r>
            <a:r>
              <a:rPr lang="en-US" altLang="en-US" dirty="0" err="1">
                <a:solidFill>
                  <a:srgbClr val="0000CC"/>
                </a:solidFill>
                <a:latin typeface="Trebuchet MS" panose="020B0703020202090204" pitchFamily="34" charset="0"/>
              </a:rPr>
              <a:t>th</a:t>
            </a:r>
            <a:r>
              <a:rPr lang="en-US" altLang="en-US" dirty="0">
                <a:latin typeface="Trebuchet MS" panose="020B0703020202090204" pitchFamily="34" charset="0"/>
              </a:rPr>
              <a:t> pass we “insert” the </a:t>
            </a:r>
            <a:r>
              <a:rPr lang="en-US" altLang="en-US" i="1" dirty="0" err="1">
                <a:solidFill>
                  <a:srgbClr val="0000CC"/>
                </a:solidFill>
                <a:latin typeface="Trebuchet MS" panose="020B0703020202090204" pitchFamily="34" charset="0"/>
              </a:rPr>
              <a:t>i</a:t>
            </a:r>
            <a:r>
              <a:rPr lang="en-US" altLang="en-US" dirty="0" err="1">
                <a:solidFill>
                  <a:srgbClr val="0000CC"/>
                </a:solidFill>
                <a:latin typeface="Trebuchet MS" panose="020B0703020202090204" pitchFamily="34" charset="0"/>
              </a:rPr>
              <a:t>th</a:t>
            </a:r>
            <a:r>
              <a:rPr lang="en-US" altLang="en-US" dirty="0">
                <a:latin typeface="Trebuchet MS" panose="020B0703020202090204" pitchFamily="34" charset="0"/>
              </a:rPr>
              <a:t> element 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</a:t>
            </a:r>
            <a:r>
              <a:rPr lang="en-US" altLang="en-US" dirty="0" err="1">
                <a:solidFill>
                  <a:srgbClr val="0000CC"/>
                </a:solidFill>
                <a:latin typeface="Trebuchet MS" panose="020B0703020202090204" pitchFamily="34" charset="0"/>
              </a:rPr>
              <a:t>i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]</a:t>
            </a:r>
            <a:r>
              <a:rPr lang="en-US" altLang="en-US" dirty="0">
                <a:latin typeface="Trebuchet MS" panose="020B0703020202090204" pitchFamily="34" charset="0"/>
              </a:rPr>
              <a:t> into its rightful place among 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[1],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[2],…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[i-1]</a:t>
            </a:r>
            <a:r>
              <a:rPr lang="en-US" altLang="en-US" dirty="0">
                <a:latin typeface="Trebuchet MS" panose="020B0703020202090204" pitchFamily="34" charset="0"/>
              </a:rPr>
              <a:t>.</a:t>
            </a:r>
          </a:p>
          <a:p>
            <a:endParaRPr lang="en-US" altLang="en-US" dirty="0">
              <a:latin typeface="Trebuchet MS" panose="020B0703020202090204" pitchFamily="34" charset="0"/>
            </a:endParaRPr>
          </a:p>
          <a:p>
            <a:r>
              <a:rPr lang="en-US" altLang="en-US" dirty="0">
                <a:latin typeface="Trebuchet MS" panose="020B0703020202090204" pitchFamily="34" charset="0"/>
              </a:rPr>
              <a:t>After this insertion 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[1],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[2],…</a:t>
            </a:r>
            <a:r>
              <a:rPr lang="en-US" altLang="en-US" i="1" dirty="0">
                <a:solidFill>
                  <a:srgbClr val="0000CC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[</a:t>
            </a:r>
            <a:r>
              <a:rPr lang="en-US" altLang="en-US" dirty="0" err="1">
                <a:solidFill>
                  <a:srgbClr val="0000CC"/>
                </a:solidFill>
                <a:latin typeface="Trebuchet MS" panose="020B0703020202090204" pitchFamily="34" charset="0"/>
              </a:rPr>
              <a:t>i</a:t>
            </a:r>
            <a:r>
              <a:rPr lang="en-US" altLang="en-US" dirty="0">
                <a:solidFill>
                  <a:srgbClr val="0000CC"/>
                </a:solidFill>
                <a:latin typeface="Trebuchet MS" panose="020B0703020202090204" pitchFamily="34" charset="0"/>
              </a:rPr>
              <a:t>]</a:t>
            </a:r>
            <a:r>
              <a:rPr lang="en-US" altLang="en-US" dirty="0">
                <a:latin typeface="Trebuchet MS" panose="020B0703020202090204" pitchFamily="34" charset="0"/>
              </a:rPr>
              <a:t> are in sorted order.</a:t>
            </a:r>
          </a:p>
          <a:p>
            <a:endParaRPr lang="en-US" altLang="en-US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r>
              <a:rPr lang="en-US" altLang="en-US" dirty="0">
                <a:latin typeface="Trebuchet MS" panose="020B0703020202090204" pitchFamily="34" charset="0"/>
              </a:rPr>
              <a:t>		</a:t>
            </a:r>
          </a:p>
          <a:p>
            <a:endParaRPr lang="en-US" altLang="en-US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6FD3860-7BA2-894F-8E24-74DE628E5A74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03F815F8-01C6-A343-8928-6E577256002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E225E-B0A5-E34F-BAA7-FFE9DB7B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579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078D41-E3E5-2946-A6D4-8518BC05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DE3F23-0C4C-B749-87A3-D1BE03FF772F}"/>
              </a:ext>
            </a:extLst>
          </p:cNvPr>
          <p:cNvSpPr txBox="1">
            <a:spLocks/>
          </p:cNvSpPr>
          <p:nvPr/>
        </p:nvSpPr>
        <p:spPr bwMode="auto">
          <a:xfrm>
            <a:off x="82550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latin typeface="+mn-lt"/>
              </a:rPr>
              <a:t>Insertion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485F05-4E9B-CE40-9F0A-F7AFE54CA828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=1,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</a:rPr>
              <a:t>&lt;  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  temp =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];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</a:t>
            </a: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j </a:t>
            </a:r>
            <a:r>
              <a:rPr lang="en-US" altLang="en-US" dirty="0">
                <a:latin typeface="Times New Roman" panose="02020603050405020304" pitchFamily="18" charset="0"/>
              </a:rPr>
              <a:t>= 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j&gt;0  &amp;&amp;  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-1]</a:t>
            </a:r>
            <a:r>
              <a:rPr lang="en-US" altLang="en-US" i="1" dirty="0">
                <a:latin typeface="Times New Roman" panose="02020603050405020304" pitchFamily="18" charset="0"/>
              </a:rPr>
              <a:t> &gt; temp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--)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     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] =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-1]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  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] = temp;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  }//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</a:p>
          <a:p>
            <a:pPr>
              <a:buFont typeface="Wingdings 2" pitchFamily="2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Complexity ?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43353F2C-C5EF-AD47-91F7-67285AACE661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617820E5-1D9D-7E46-A046-DE0408AEC366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9A0AD-5172-5A4D-A5AA-716A3FEC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91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68F714-014F-F847-871F-4506C126B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9C06D0-750F-014D-AC4F-C7A3DD2FF968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99E96E-015F-E44B-A321-063508650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1981200"/>
            <a:ext cx="31162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    </a:t>
            </a:r>
            <a:r>
              <a:rPr lang="en-US" altLang="en-US" b="1" i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j</a:t>
            </a:r>
            <a:r>
              <a:rPr lang="en-US" altLang="en-US" b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 &gt; 0  &amp;&amp;  A [</a:t>
            </a:r>
            <a:r>
              <a:rPr lang="en-US" altLang="en-US" b="1" i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j </a:t>
            </a:r>
            <a:r>
              <a:rPr lang="en-US" altLang="en-US" b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-1] &gt; </a:t>
            </a:r>
            <a:r>
              <a:rPr lang="en-US" altLang="en-US" b="1" i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temp</a:t>
            </a:r>
            <a:r>
              <a:rPr lang="en-US" altLang="en-US" b="1">
                <a:solidFill>
                  <a:srgbClr val="B53325"/>
                </a:solidFill>
                <a:latin typeface="Times" pitchFamily="2" charset="0"/>
                <a:sym typeface="Wingdings" pitchFamily="2" charset="2"/>
              </a:rPr>
              <a:t> </a:t>
            </a:r>
            <a:endParaRPr lang="en-US" altLang="en-US" b="1">
              <a:solidFill>
                <a:srgbClr val="B53325"/>
              </a:solidFill>
              <a:latin typeface="Times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4AFE35-80D1-6F43-AA08-BFF62762A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9575" y="1676400"/>
            <a:ext cx="1089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62  &gt;  58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31E70E-7536-1545-A9F8-98988D24C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2286000"/>
            <a:ext cx="19288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  <a:sym typeface="Wingdings" pitchFamily="2" charset="2"/>
              </a:rPr>
              <a:t>       </a:t>
            </a: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[1] = </a:t>
            </a: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[0]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A51A2DF-7D5C-E74D-94CB-328A2028222C}"/>
              </a:ext>
            </a:extLst>
          </p:cNvPr>
          <p:cNvSpPr txBox="1">
            <a:spLocks/>
          </p:cNvSpPr>
          <p:nvPr/>
        </p:nvSpPr>
        <p:spPr bwMode="auto">
          <a:xfrm>
            <a:off x="457200" y="15875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(First Pass)</a:t>
            </a:r>
          </a:p>
        </p:txBody>
      </p:sp>
      <p:graphicFrame>
        <p:nvGraphicFramePr>
          <p:cNvPr id="8" name="Group 3">
            <a:extLst>
              <a:ext uri="{FF2B5EF4-FFF2-40B4-BE49-F238E27FC236}">
                <a16:creationId xmlns:a16="http://schemas.microsoft.com/office/drawing/2014/main" id="{DBEAEC1F-B790-C241-AD8D-13E3BF5892D8}"/>
              </a:ext>
            </a:extLst>
          </p:cNvPr>
          <p:cNvGraphicFramePr>
            <a:graphicFrameLocks/>
          </p:cNvGraphicFramePr>
          <p:nvPr/>
        </p:nvGraphicFramePr>
        <p:xfrm>
          <a:off x="10287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(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Rectangle 23">
            <a:extLst>
              <a:ext uri="{FF2B5EF4-FFF2-40B4-BE49-F238E27FC236}">
                <a16:creationId xmlns:a16="http://schemas.microsoft.com/office/drawing/2014/main" id="{67640BB5-9268-B143-B139-7CB436354031}"/>
              </a:ext>
            </a:extLst>
          </p:cNvPr>
          <p:cNvSpPr>
            <a:spLocks/>
          </p:cNvSpPr>
          <p:nvPr/>
        </p:nvSpPr>
        <p:spPr bwMode="auto">
          <a:xfrm>
            <a:off x="609600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0" name="Text Box 24">
            <a:extLst>
              <a:ext uri="{FF2B5EF4-FFF2-40B4-BE49-F238E27FC236}">
                <a16:creationId xmlns:a16="http://schemas.microsoft.com/office/drawing/2014/main" id="{D1331161-1A34-744A-94CB-E9175CED8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11" name="Text Box 25">
            <a:extLst>
              <a:ext uri="{FF2B5EF4-FFF2-40B4-BE49-F238E27FC236}">
                <a16:creationId xmlns:a16="http://schemas.microsoft.com/office/drawing/2014/main" id="{394731FB-6B35-3944-B995-9F63E3321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" y="1219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2" name="Group 26">
            <a:extLst>
              <a:ext uri="{FF2B5EF4-FFF2-40B4-BE49-F238E27FC236}">
                <a16:creationId xmlns:a16="http://schemas.microsoft.com/office/drawing/2014/main" id="{E15FF1F4-62B1-D142-AE58-51D922712514}"/>
              </a:ext>
            </a:extLst>
          </p:cNvPr>
          <p:cNvGraphicFramePr>
            <a:graphicFrameLocks/>
          </p:cNvGraphicFramePr>
          <p:nvPr/>
        </p:nvGraphicFramePr>
        <p:xfrm>
          <a:off x="1028700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Freeform 67">
            <a:extLst>
              <a:ext uri="{FF2B5EF4-FFF2-40B4-BE49-F238E27FC236}">
                <a16:creationId xmlns:a16="http://schemas.microsoft.com/office/drawing/2014/main" id="{FBC68554-C2F6-ED4F-A6AF-C7D567C2A704}"/>
              </a:ext>
            </a:extLst>
          </p:cNvPr>
          <p:cNvSpPr>
            <a:spLocks/>
          </p:cNvSpPr>
          <p:nvPr/>
        </p:nvSpPr>
        <p:spPr bwMode="auto">
          <a:xfrm flipV="1">
            <a:off x="1323975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Text Box 183">
            <a:extLst>
              <a:ext uri="{FF2B5EF4-FFF2-40B4-BE49-F238E27FC236}">
                <a16:creationId xmlns:a16="http://schemas.microsoft.com/office/drawing/2014/main" id="{F817C776-F89C-6346-9F04-D4B39DBA0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813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58</a:t>
            </a:r>
          </a:p>
        </p:txBody>
      </p:sp>
      <p:sp>
        <p:nvSpPr>
          <p:cNvPr id="15" name="Rectangle 184">
            <a:extLst>
              <a:ext uri="{FF2B5EF4-FFF2-40B4-BE49-F238E27FC236}">
                <a16:creationId xmlns:a16="http://schemas.microsoft.com/office/drawing/2014/main" id="{0DFD4289-AE9E-E848-9BF7-D13589DFD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7050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16" name="Line 185">
            <a:extLst>
              <a:ext uri="{FF2B5EF4-FFF2-40B4-BE49-F238E27FC236}">
                <a16:creationId xmlns:a16="http://schemas.microsoft.com/office/drawing/2014/main" id="{D3D8EBC4-8A88-D54D-A1A9-A75E8A82FF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2625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Text Box 191">
            <a:extLst>
              <a:ext uri="{FF2B5EF4-FFF2-40B4-BE49-F238E27FC236}">
                <a16:creationId xmlns:a16="http://schemas.microsoft.com/office/drawing/2014/main" id="{CDCDCEA5-270B-C24C-8C16-2C682A24E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17240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18" name="Group 192">
            <a:extLst>
              <a:ext uri="{FF2B5EF4-FFF2-40B4-BE49-F238E27FC236}">
                <a16:creationId xmlns:a16="http://schemas.microsoft.com/office/drawing/2014/main" id="{A6664FE0-88CC-624E-9EF6-4E8213B25A44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Rectangle 215">
            <a:extLst>
              <a:ext uri="{FF2B5EF4-FFF2-40B4-BE49-F238E27FC236}">
                <a16:creationId xmlns:a16="http://schemas.microsoft.com/office/drawing/2014/main" id="{6BD6B8C5-3B40-AA44-9409-DFB6CDACE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2100" y="2254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0</a:t>
            </a:r>
            <a:r>
              <a:rPr lang="en-US" altLang="en-US" b="1">
                <a:solidFill>
                  <a:srgbClr val="FF0000"/>
                </a:solidFill>
              </a:rPr>
              <a:t>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58;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BCF3930B-26BF-B14F-B3CA-D40488130273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773F5D0A-FB1E-A445-93A1-681ABA28833E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EC67E9-580F-414A-A211-1044B5C6E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667000"/>
            <a:ext cx="1182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A23847"/>
                </a:solidFill>
                <a:latin typeface="Times" pitchFamily="2" charset="0"/>
                <a:sym typeface="Wingdings" pitchFamily="2" charset="2"/>
              </a:rPr>
              <a:t>      </a:t>
            </a:r>
            <a:r>
              <a:rPr lang="en-US" altLang="en-US" b="1" i="1">
                <a:solidFill>
                  <a:srgbClr val="A23847"/>
                </a:solidFill>
                <a:latin typeface="Times" pitchFamily="2" charset="0"/>
                <a:sym typeface="Wingdings" pitchFamily="2" charset="2"/>
              </a:rPr>
              <a:t>j</a:t>
            </a:r>
            <a:r>
              <a:rPr lang="en-US" altLang="en-US" b="1">
                <a:solidFill>
                  <a:srgbClr val="A23847"/>
                </a:solidFill>
                <a:latin typeface="Times" pitchFamily="2" charset="0"/>
                <a:sym typeface="Wingdings" pitchFamily="2" charset="2"/>
              </a:rPr>
              <a:t> = 0</a:t>
            </a:r>
            <a:endParaRPr lang="en-US" altLang="en-US" b="1">
              <a:solidFill>
                <a:srgbClr val="FF0000"/>
              </a:solidFill>
              <a:latin typeface="Times" pitchFamily="2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D5F7F2-B131-FA4E-90A0-4D46D8696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2678113"/>
            <a:ext cx="1020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  <a:latin typeface="Times" pitchFamily="2" charset="0"/>
                <a:sym typeface="Wingdings" pitchFamily="2" charset="2"/>
              </a:rPr>
              <a:t>    exit</a:t>
            </a:r>
            <a:endParaRPr lang="en-US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BF2C91-D118-D246-8604-68579BC9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8" y="2989263"/>
            <a:ext cx="2011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rgbClr val="FF0000"/>
                </a:solidFill>
                <a:latin typeface="Times New Roman" panose="02020603050405020304" pitchFamily="18" charset="0"/>
              </a:rPr>
              <a:t>j</a:t>
            </a:r>
            <a:r>
              <a:rPr lang="en-US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] = temp (= 58) </a:t>
            </a:r>
            <a:endParaRPr lang="en-US" altLang="en-US" b="1">
              <a:solidFill>
                <a:srgbClr val="FF0000"/>
              </a:solidFill>
            </a:endParaRP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F22238B-0B5A-DC41-B28A-74EEAD1B4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7424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4" grpId="1"/>
      <p:bldP spid="5" grpId="0"/>
      <p:bldP spid="5" grpId="1"/>
      <p:bldP spid="6" grpId="0"/>
      <p:bldP spid="6" grpId="1"/>
      <p:bldP spid="11" grpId="0"/>
      <p:bldP spid="13" grpId="0" animBg="1"/>
      <p:bldP spid="15" grpId="0"/>
      <p:bldP spid="17" grpId="0"/>
      <p:bldP spid="19" grpId="0"/>
      <p:bldP spid="22" grpId="0"/>
      <p:bldP spid="23" grpId="0"/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41FD63-0DCF-3B4B-88A0-74B47453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102F5-30BC-104C-AF1F-99A3E75EB520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0A27D84-A37D-A14A-BEF8-C0068C2EBA36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(Second Pass)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84027413-78BA-AF4A-A931-7E7B3C623463}"/>
              </a:ext>
            </a:extLst>
          </p:cNvPr>
          <p:cNvGraphicFramePr>
            <a:graphicFrameLocks/>
          </p:cNvGraphicFramePr>
          <p:nvPr/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Box 24">
            <a:extLst>
              <a:ext uri="{FF2B5EF4-FFF2-40B4-BE49-F238E27FC236}">
                <a16:creationId xmlns:a16="http://schemas.microsoft.com/office/drawing/2014/main" id="{15503B67-BB3A-6A4E-8FA9-CCA0FEA1F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7" name="Text Box 25">
            <a:extLst>
              <a:ext uri="{FF2B5EF4-FFF2-40B4-BE49-F238E27FC236}">
                <a16:creationId xmlns:a16="http://schemas.microsoft.com/office/drawing/2014/main" id="{5853842A-A980-9E4F-86BC-CF70D2E2DB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8" name="Group 75">
            <a:extLst>
              <a:ext uri="{FF2B5EF4-FFF2-40B4-BE49-F238E27FC236}">
                <a16:creationId xmlns:a16="http://schemas.microsoft.com/office/drawing/2014/main" id="{7560CDC4-DD5F-414C-B628-236BFDFFF233}"/>
              </a:ext>
            </a:extLst>
          </p:cNvPr>
          <p:cNvGraphicFramePr>
            <a:graphicFrameLocks/>
          </p:cNvGraphicFramePr>
          <p:nvPr/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Freeform 46">
            <a:extLst>
              <a:ext uri="{FF2B5EF4-FFF2-40B4-BE49-F238E27FC236}">
                <a16:creationId xmlns:a16="http://schemas.microsoft.com/office/drawing/2014/main" id="{ED6775FA-02FB-FD4B-AB60-E1681F52759E}"/>
              </a:ext>
            </a:extLst>
          </p:cNvPr>
          <p:cNvSpPr>
            <a:spLocks/>
          </p:cNvSpPr>
          <p:nvPr/>
        </p:nvSpPr>
        <p:spPr bwMode="auto">
          <a:xfrm flipV="1">
            <a:off x="1995488" y="12922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 Box 47">
            <a:extLst>
              <a:ext uri="{FF2B5EF4-FFF2-40B4-BE49-F238E27FC236}">
                <a16:creationId xmlns:a16="http://schemas.microsoft.com/office/drawing/2014/main" id="{599066CA-911E-FB4D-8F51-58D4095684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55</a:t>
            </a:r>
          </a:p>
        </p:txBody>
      </p:sp>
      <p:sp>
        <p:nvSpPr>
          <p:cNvPr id="11" name="Rectangle 48">
            <a:extLst>
              <a:ext uri="{FF2B5EF4-FFF2-40B4-BE49-F238E27FC236}">
                <a16:creationId xmlns:a16="http://schemas.microsoft.com/office/drawing/2014/main" id="{519F76AE-3D2B-B743-81AA-B3B049D0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12" name="Line 49">
            <a:extLst>
              <a:ext uri="{FF2B5EF4-FFF2-40B4-BE49-F238E27FC236}">
                <a16:creationId xmlns:a16="http://schemas.microsoft.com/office/drawing/2014/main" id="{9B4B9F44-C479-1C4A-BE28-E322731233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9850" y="1430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50">
            <a:extLst>
              <a:ext uri="{FF2B5EF4-FFF2-40B4-BE49-F238E27FC236}">
                <a16:creationId xmlns:a16="http://schemas.microsoft.com/office/drawing/2014/main" id="{B9C720F8-BBE2-5747-A28F-12640C78C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14" name="Group 77">
            <a:extLst>
              <a:ext uri="{FF2B5EF4-FFF2-40B4-BE49-F238E27FC236}">
                <a16:creationId xmlns:a16="http://schemas.microsoft.com/office/drawing/2014/main" id="{85D01821-2782-B44D-B1DC-49F7DD236F3D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Line 71">
            <a:extLst>
              <a:ext uri="{FF2B5EF4-FFF2-40B4-BE49-F238E27FC236}">
                <a16:creationId xmlns:a16="http://schemas.microsoft.com/office/drawing/2014/main" id="{49CA0BFA-8BB5-684F-BC12-D2984F43EB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8975" y="19478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76">
            <a:extLst>
              <a:ext uri="{FF2B5EF4-FFF2-40B4-BE49-F238E27FC236}">
                <a16:creationId xmlns:a16="http://schemas.microsoft.com/office/drawing/2014/main" id="{E3B1692A-50E8-1045-A21A-8C5C76BEDE2A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7" name="Rectangle 79">
            <a:extLst>
              <a:ext uri="{FF2B5EF4-FFF2-40B4-BE49-F238E27FC236}">
                <a16:creationId xmlns:a16="http://schemas.microsoft.com/office/drawing/2014/main" id="{21EE594B-7278-CB4C-BD3E-FD253F0C47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18" name="Freeform 80">
            <a:extLst>
              <a:ext uri="{FF2B5EF4-FFF2-40B4-BE49-F238E27FC236}">
                <a16:creationId xmlns:a16="http://schemas.microsoft.com/office/drawing/2014/main" id="{57E56A27-81D7-2C47-B9A1-343D7FE38216}"/>
              </a:ext>
            </a:extLst>
          </p:cNvPr>
          <p:cNvSpPr>
            <a:spLocks/>
          </p:cNvSpPr>
          <p:nvPr/>
        </p:nvSpPr>
        <p:spPr bwMode="auto">
          <a:xfrm flipV="1">
            <a:off x="1343025" y="1809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Text Box 81">
            <a:extLst>
              <a:ext uri="{FF2B5EF4-FFF2-40B4-BE49-F238E27FC236}">
                <a16:creationId xmlns:a16="http://schemas.microsoft.com/office/drawing/2014/main" id="{AC280801-99F7-2942-B654-895333684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20" name="Group 82">
            <a:extLst>
              <a:ext uri="{FF2B5EF4-FFF2-40B4-BE49-F238E27FC236}">
                <a16:creationId xmlns:a16="http://schemas.microsoft.com/office/drawing/2014/main" id="{DFC68A83-20DE-934C-B5B1-2C8E3D4584F4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Rectangle 105">
            <a:extLst>
              <a:ext uri="{FF2B5EF4-FFF2-40B4-BE49-F238E27FC236}">
                <a16:creationId xmlns:a16="http://schemas.microsoft.com/office/drawing/2014/main" id="{A734A57E-AA3F-E44C-AF71-DEBDEA2B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0" y="26670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0</a:t>
            </a:r>
            <a:r>
              <a:rPr lang="en-US" altLang="en-US" b="1">
                <a:solidFill>
                  <a:srgbClr val="FF0000"/>
                </a:solidFill>
              </a:rPr>
              <a:t>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23" name="Slide Number Placeholder 20">
            <a:extLst>
              <a:ext uri="{FF2B5EF4-FFF2-40B4-BE49-F238E27FC236}">
                <a16:creationId xmlns:a16="http://schemas.microsoft.com/office/drawing/2014/main" id="{2884E69F-1A58-2340-BFB0-8E2219A922D9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859FA33F-FF39-0D4E-A51D-4E7645BB2094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23D26C-304F-F84C-B65F-27D4785E4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0863" y="1044575"/>
            <a:ext cx="990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62  &gt;  55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F22CB1-BD54-0347-9C5C-85C42F603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595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58  &gt;  55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1508274-047C-A34B-961E-AD8421B38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58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9" grpId="0" animBg="1"/>
      <p:bldP spid="11" grpId="0"/>
      <p:bldP spid="13" grpId="0"/>
      <p:bldP spid="17" grpId="0"/>
      <p:bldP spid="18" grpId="0" animBg="1"/>
      <p:bldP spid="19" grpId="0"/>
      <p:bldP spid="21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448225-79E3-B44E-829E-983DD668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EC6C7C-1776-864D-9C35-B0440DFDE7F0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3975A6F-ECD4-604A-88A1-AE7BE505D194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(Third Pass)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E247F5D4-5221-7D4D-87CB-CA2224EF69E8}"/>
              </a:ext>
            </a:extLst>
          </p:cNvPr>
          <p:cNvGraphicFramePr>
            <a:graphicFrameLocks/>
          </p:cNvGraphicFramePr>
          <p:nvPr/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 Box 23">
            <a:extLst>
              <a:ext uri="{FF2B5EF4-FFF2-40B4-BE49-F238E27FC236}">
                <a16:creationId xmlns:a16="http://schemas.microsoft.com/office/drawing/2014/main" id="{4596591D-A7F6-BA45-9583-758610E39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7" name="Text Box 24">
            <a:extLst>
              <a:ext uri="{FF2B5EF4-FFF2-40B4-BE49-F238E27FC236}">
                <a16:creationId xmlns:a16="http://schemas.microsoft.com/office/drawing/2014/main" id="{D8DCAAC9-BD04-3A4D-A1DC-15B22ABAA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8" name="Group 101">
            <a:extLst>
              <a:ext uri="{FF2B5EF4-FFF2-40B4-BE49-F238E27FC236}">
                <a16:creationId xmlns:a16="http://schemas.microsoft.com/office/drawing/2014/main" id="{DDEF6042-24CA-4A44-AF4F-AD78CBA4DA65}"/>
              </a:ext>
            </a:extLst>
          </p:cNvPr>
          <p:cNvGraphicFramePr>
            <a:graphicFrameLocks/>
          </p:cNvGraphicFramePr>
          <p:nvPr/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Freeform 45">
            <a:extLst>
              <a:ext uri="{FF2B5EF4-FFF2-40B4-BE49-F238E27FC236}">
                <a16:creationId xmlns:a16="http://schemas.microsoft.com/office/drawing/2014/main" id="{EDFDE1B4-C8D0-D647-A9BD-B2B9BEE9677F}"/>
              </a:ext>
            </a:extLst>
          </p:cNvPr>
          <p:cNvSpPr>
            <a:spLocks/>
          </p:cNvSpPr>
          <p:nvPr/>
        </p:nvSpPr>
        <p:spPr bwMode="auto">
          <a:xfrm flipV="1">
            <a:off x="2819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 Box 46">
            <a:extLst>
              <a:ext uri="{FF2B5EF4-FFF2-40B4-BE49-F238E27FC236}">
                <a16:creationId xmlns:a16="http://schemas.microsoft.com/office/drawing/2014/main" id="{B208E087-ADF5-404D-A4BC-58C0919B5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10</a:t>
            </a:r>
          </a:p>
        </p:txBody>
      </p:sp>
      <p:sp>
        <p:nvSpPr>
          <p:cNvPr id="11" name="Rectangle 47">
            <a:extLst>
              <a:ext uri="{FF2B5EF4-FFF2-40B4-BE49-F238E27FC236}">
                <a16:creationId xmlns:a16="http://schemas.microsoft.com/office/drawing/2014/main" id="{60584FF4-0B78-6B49-80E3-4F3E8844C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12" name="Line 48">
            <a:extLst>
              <a:ext uri="{FF2B5EF4-FFF2-40B4-BE49-F238E27FC236}">
                <a16:creationId xmlns:a16="http://schemas.microsoft.com/office/drawing/2014/main" id="{3C22A103-E5E9-5444-9D86-632410C9D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49">
            <a:extLst>
              <a:ext uri="{FF2B5EF4-FFF2-40B4-BE49-F238E27FC236}">
                <a16:creationId xmlns:a16="http://schemas.microsoft.com/office/drawing/2014/main" id="{F2FF6EF5-761D-DF49-A04F-641200572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14" name="Group 103">
            <a:extLst>
              <a:ext uri="{FF2B5EF4-FFF2-40B4-BE49-F238E27FC236}">
                <a16:creationId xmlns:a16="http://schemas.microsoft.com/office/drawing/2014/main" id="{123D2EF7-1828-6542-954B-562B0E9014B8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Line 70">
            <a:extLst>
              <a:ext uri="{FF2B5EF4-FFF2-40B4-BE49-F238E27FC236}">
                <a16:creationId xmlns:a16="http://schemas.microsoft.com/office/drawing/2014/main" id="{76AD119B-8E41-5E41-A8B5-FFA116ACB3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81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71">
            <a:extLst>
              <a:ext uri="{FF2B5EF4-FFF2-40B4-BE49-F238E27FC236}">
                <a16:creationId xmlns:a16="http://schemas.microsoft.com/office/drawing/2014/main" id="{D25A8AC6-2BBE-CA49-82B1-ACBAE04E6A5E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7" name="Rectangle 72">
            <a:extLst>
              <a:ext uri="{FF2B5EF4-FFF2-40B4-BE49-F238E27FC236}">
                <a16:creationId xmlns:a16="http://schemas.microsoft.com/office/drawing/2014/main" id="{79DD6586-12AA-084C-86C6-38B4F0EA3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18" name="Freeform 73">
            <a:extLst>
              <a:ext uri="{FF2B5EF4-FFF2-40B4-BE49-F238E27FC236}">
                <a16:creationId xmlns:a16="http://schemas.microsoft.com/office/drawing/2014/main" id="{A50ABE57-8073-0E40-8BC2-A81EE3E5CC10}"/>
              </a:ext>
            </a:extLst>
          </p:cNvPr>
          <p:cNvSpPr>
            <a:spLocks/>
          </p:cNvSpPr>
          <p:nvPr/>
        </p:nvSpPr>
        <p:spPr bwMode="auto">
          <a:xfrm flipV="1">
            <a:off x="216693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Text Box 74">
            <a:extLst>
              <a:ext uri="{FF2B5EF4-FFF2-40B4-BE49-F238E27FC236}">
                <a16:creationId xmlns:a16="http://schemas.microsoft.com/office/drawing/2014/main" id="{1B73BE65-3E83-B943-89C3-8C4B2C3AB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20" name="Group 104">
            <a:extLst>
              <a:ext uri="{FF2B5EF4-FFF2-40B4-BE49-F238E27FC236}">
                <a16:creationId xmlns:a16="http://schemas.microsoft.com/office/drawing/2014/main" id="{9E4402E6-8A09-B04D-9CFE-C5CB2BFF1E12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Line 95">
            <a:extLst>
              <a:ext uri="{FF2B5EF4-FFF2-40B4-BE49-F238E27FC236}">
                <a16:creationId xmlns:a16="http://schemas.microsoft.com/office/drawing/2014/main" id="{8D64DFB4-3D9B-DD4A-A999-5BB8123560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685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" name="Freeform 96">
            <a:extLst>
              <a:ext uri="{FF2B5EF4-FFF2-40B4-BE49-F238E27FC236}">
                <a16:creationId xmlns:a16="http://schemas.microsoft.com/office/drawing/2014/main" id="{89FCDEC9-AD1D-1747-8A1B-8C59579E4BB8}"/>
              </a:ext>
            </a:extLst>
          </p:cNvPr>
          <p:cNvSpPr>
            <a:spLocks/>
          </p:cNvSpPr>
          <p:nvPr/>
        </p:nvSpPr>
        <p:spPr bwMode="auto">
          <a:xfrm flipV="1">
            <a:off x="135255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Rectangle 97">
            <a:extLst>
              <a:ext uri="{FF2B5EF4-FFF2-40B4-BE49-F238E27FC236}">
                <a16:creationId xmlns:a16="http://schemas.microsoft.com/office/drawing/2014/main" id="{39371A54-3073-0649-B484-4C8AA5A0E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092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0</a:t>
            </a:r>
            <a:r>
              <a:rPr lang="en-US" altLang="en-US" b="1">
                <a:solidFill>
                  <a:srgbClr val="FF0000"/>
                </a:solidFill>
              </a:rPr>
              <a:t>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55;</a:t>
            </a:r>
          </a:p>
        </p:txBody>
      </p:sp>
      <p:sp>
        <p:nvSpPr>
          <p:cNvPr id="24" name="Rectangle 102">
            <a:extLst>
              <a:ext uri="{FF2B5EF4-FFF2-40B4-BE49-F238E27FC236}">
                <a16:creationId xmlns:a16="http://schemas.microsoft.com/office/drawing/2014/main" id="{9CC6429C-C77C-C246-9CFF-7F763BDB3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25" name="Text Box 105">
            <a:extLst>
              <a:ext uri="{FF2B5EF4-FFF2-40B4-BE49-F238E27FC236}">
                <a16:creationId xmlns:a16="http://schemas.microsoft.com/office/drawing/2014/main" id="{DFD8BED9-1A43-7A40-9AA5-8C5873CAA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26" name="Group 106">
            <a:extLst>
              <a:ext uri="{FF2B5EF4-FFF2-40B4-BE49-F238E27FC236}">
                <a16:creationId xmlns:a16="http://schemas.microsoft.com/office/drawing/2014/main" id="{CAAA9FE4-534C-D145-8EFD-DD275C6E592F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Slide Number Placeholder 25">
            <a:extLst>
              <a:ext uri="{FF2B5EF4-FFF2-40B4-BE49-F238E27FC236}">
                <a16:creationId xmlns:a16="http://schemas.microsoft.com/office/drawing/2014/main" id="{A3109217-B1A7-B547-8BB5-46967C89F54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66E101CA-606E-7B4F-B505-032966E295EA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6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35498B72-1FFF-6348-B4F0-0C317C0D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22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/>
      <p:bldP spid="9" grpId="0" animBg="1"/>
      <p:bldP spid="11" grpId="0"/>
      <p:bldP spid="13" grpId="0"/>
      <p:bldP spid="17" grpId="0"/>
      <p:bldP spid="18" grpId="0" animBg="1"/>
      <p:bldP spid="19" grpId="0"/>
      <p:bldP spid="22" grpId="0" animBg="1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0EE58A-9502-E54F-AACC-E7BECDF3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84DF43-E5AD-A342-B5F8-6A9CC4932515}"/>
              </a:ext>
            </a:extLst>
          </p:cNvPr>
          <p:cNvSpPr/>
          <p:nvPr/>
        </p:nvSpPr>
        <p:spPr>
          <a:xfrm>
            <a:off x="3965575" y="5364163"/>
            <a:ext cx="1504950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89E9D23-51F0-3940-8B7F-3751589D51F3}"/>
              </a:ext>
            </a:extLst>
          </p:cNvPr>
          <p:cNvSpPr/>
          <p:nvPr/>
        </p:nvSpPr>
        <p:spPr>
          <a:xfrm>
            <a:off x="1063625" y="6096000"/>
            <a:ext cx="1755775" cy="381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84ABB0-DB6B-8A4C-AA63-BF39FE33A853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(Fourth Pass)</a:t>
            </a:r>
          </a:p>
        </p:txBody>
      </p:sp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1AC48B4-7CC8-A942-8CD0-A811FA72E799}"/>
              </a:ext>
            </a:extLst>
          </p:cNvPr>
          <p:cNvGraphicFramePr>
            <a:graphicFrameLocks/>
          </p:cNvGraphicFramePr>
          <p:nvPr/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 Box 23">
            <a:extLst>
              <a:ext uri="{FF2B5EF4-FFF2-40B4-BE49-F238E27FC236}">
                <a16:creationId xmlns:a16="http://schemas.microsoft.com/office/drawing/2014/main" id="{C250580E-0CF1-6643-8D90-B22337D03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8" name="Text Box 24">
            <a:extLst>
              <a:ext uri="{FF2B5EF4-FFF2-40B4-BE49-F238E27FC236}">
                <a16:creationId xmlns:a16="http://schemas.microsoft.com/office/drawing/2014/main" id="{34FC8FAA-7884-3748-999F-185C49479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9" name="Group 25">
            <a:extLst>
              <a:ext uri="{FF2B5EF4-FFF2-40B4-BE49-F238E27FC236}">
                <a16:creationId xmlns:a16="http://schemas.microsoft.com/office/drawing/2014/main" id="{0E428801-5254-704D-8775-05DA9ED801D7}"/>
              </a:ext>
            </a:extLst>
          </p:cNvPr>
          <p:cNvGraphicFramePr>
            <a:graphicFrameLocks/>
          </p:cNvGraphicFramePr>
          <p:nvPr/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Freeform 45">
            <a:extLst>
              <a:ext uri="{FF2B5EF4-FFF2-40B4-BE49-F238E27FC236}">
                <a16:creationId xmlns:a16="http://schemas.microsoft.com/office/drawing/2014/main" id="{F1D90728-8DDE-3E4B-8070-E33DDB889820}"/>
              </a:ext>
            </a:extLst>
          </p:cNvPr>
          <p:cNvSpPr>
            <a:spLocks/>
          </p:cNvSpPr>
          <p:nvPr/>
        </p:nvSpPr>
        <p:spPr bwMode="auto">
          <a:xfrm flipV="1">
            <a:off x="352425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Text Box 46">
            <a:extLst>
              <a:ext uri="{FF2B5EF4-FFF2-40B4-BE49-F238E27FC236}">
                <a16:creationId xmlns:a16="http://schemas.microsoft.com/office/drawing/2014/main" id="{FA8E3696-B5D7-9C4B-A350-C343C7B0A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45</a:t>
            </a:r>
          </a:p>
        </p:txBody>
      </p:sp>
      <p:sp>
        <p:nvSpPr>
          <p:cNvPr id="12" name="Rectangle 47">
            <a:extLst>
              <a:ext uri="{FF2B5EF4-FFF2-40B4-BE49-F238E27FC236}">
                <a16:creationId xmlns:a16="http://schemas.microsoft.com/office/drawing/2014/main" id="{CA0E7D35-E813-C046-841B-220EDD8F3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13" name="Line 48">
            <a:extLst>
              <a:ext uri="{FF2B5EF4-FFF2-40B4-BE49-F238E27FC236}">
                <a16:creationId xmlns:a16="http://schemas.microsoft.com/office/drawing/2014/main" id="{C4711BC9-5C49-BB4E-8174-2C8BBDF025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75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Text Box 49">
            <a:extLst>
              <a:ext uri="{FF2B5EF4-FFF2-40B4-BE49-F238E27FC236}">
                <a16:creationId xmlns:a16="http://schemas.microsoft.com/office/drawing/2014/main" id="{C5C8469F-F6E2-2D4E-B97E-5892F88A73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5" name="Group 123">
            <a:extLst>
              <a:ext uri="{FF2B5EF4-FFF2-40B4-BE49-F238E27FC236}">
                <a16:creationId xmlns:a16="http://schemas.microsoft.com/office/drawing/2014/main" id="{2A1094C9-D015-5440-BBF8-CC477F21A0F6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Line 70">
            <a:extLst>
              <a:ext uri="{FF2B5EF4-FFF2-40B4-BE49-F238E27FC236}">
                <a16:creationId xmlns:a16="http://schemas.microsoft.com/office/drawing/2014/main" id="{2F936F70-051F-C344-B0F1-E1F793221F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6625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71">
            <a:extLst>
              <a:ext uri="{FF2B5EF4-FFF2-40B4-BE49-F238E27FC236}">
                <a16:creationId xmlns:a16="http://schemas.microsoft.com/office/drawing/2014/main" id="{4D6D7FD0-D6A3-F549-8081-24718991A601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 </a:t>
            </a:r>
            <a:r>
              <a:rPr lang="en-US" altLang="en-US" sz="2000">
                <a:latin typeface="Times New Roman" panose="02020603050405020304" pitchFamily="18" charset="0"/>
              </a:rPr>
              <a:t>, 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8" name="Rectangle 72">
            <a:extLst>
              <a:ext uri="{FF2B5EF4-FFF2-40B4-BE49-F238E27FC236}">
                <a16:creationId xmlns:a16="http://schemas.microsoft.com/office/drawing/2014/main" id="{D5E63139-CB94-3441-A8ED-11FB4B8C8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19" name="Freeform 73">
            <a:extLst>
              <a:ext uri="{FF2B5EF4-FFF2-40B4-BE49-F238E27FC236}">
                <a16:creationId xmlns:a16="http://schemas.microsoft.com/office/drawing/2014/main" id="{53B55918-B24E-D94B-B687-2C2D0BD428B2}"/>
              </a:ext>
            </a:extLst>
          </p:cNvPr>
          <p:cNvSpPr>
            <a:spLocks/>
          </p:cNvSpPr>
          <p:nvPr/>
        </p:nvSpPr>
        <p:spPr bwMode="auto">
          <a:xfrm flipV="1">
            <a:off x="2871788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Text Box 74">
            <a:extLst>
              <a:ext uri="{FF2B5EF4-FFF2-40B4-BE49-F238E27FC236}">
                <a16:creationId xmlns:a16="http://schemas.microsoft.com/office/drawing/2014/main" id="{AD3D3F73-9A44-8149-AC12-AA3EC65B0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21" name="Group 126">
            <a:extLst>
              <a:ext uri="{FF2B5EF4-FFF2-40B4-BE49-F238E27FC236}">
                <a16:creationId xmlns:a16="http://schemas.microsoft.com/office/drawing/2014/main" id="{5D2C3489-2D91-5547-9BF5-022361B13CB6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Line 95">
            <a:extLst>
              <a:ext uri="{FF2B5EF4-FFF2-40B4-BE49-F238E27FC236}">
                <a16:creationId xmlns:a16="http://schemas.microsoft.com/office/drawing/2014/main" id="{31833C46-D16B-1F44-B90C-3ADAD2DBA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Freeform 96">
            <a:extLst>
              <a:ext uri="{FF2B5EF4-FFF2-40B4-BE49-F238E27FC236}">
                <a16:creationId xmlns:a16="http://schemas.microsoft.com/office/drawing/2014/main" id="{A544CEBD-2ECE-5946-9407-0F3696F001C3}"/>
              </a:ext>
            </a:extLst>
          </p:cNvPr>
          <p:cNvSpPr>
            <a:spLocks/>
          </p:cNvSpPr>
          <p:nvPr/>
        </p:nvSpPr>
        <p:spPr bwMode="auto">
          <a:xfrm flipV="1">
            <a:off x="2057400" y="210026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" name="Rectangle 97">
            <a:extLst>
              <a:ext uri="{FF2B5EF4-FFF2-40B4-BE49-F238E27FC236}">
                <a16:creationId xmlns:a16="http://schemas.microsoft.com/office/drawing/2014/main" id="{9A5A1099-F73C-EF48-AEDF-968C8B703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162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1</a:t>
            </a:r>
            <a:r>
              <a:rPr lang="en-US" altLang="en-US" b="1">
                <a:solidFill>
                  <a:srgbClr val="FF0000"/>
                </a:solidFill>
              </a:rPr>
              <a:t>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45;</a:t>
            </a:r>
          </a:p>
        </p:txBody>
      </p:sp>
      <p:sp>
        <p:nvSpPr>
          <p:cNvPr id="25" name="Rectangle 98">
            <a:extLst>
              <a:ext uri="{FF2B5EF4-FFF2-40B4-BE49-F238E27FC236}">
                <a16:creationId xmlns:a16="http://schemas.microsoft.com/office/drawing/2014/main" id="{27E63492-54FA-2A44-B159-1438A9350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26" name="Text Box 99">
            <a:extLst>
              <a:ext uri="{FF2B5EF4-FFF2-40B4-BE49-F238E27FC236}">
                <a16:creationId xmlns:a16="http://schemas.microsoft.com/office/drawing/2014/main" id="{1150B0E1-19BB-BE4B-B7B4-B13BE767C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27" name="Group 128">
            <a:extLst>
              <a:ext uri="{FF2B5EF4-FFF2-40B4-BE49-F238E27FC236}">
                <a16:creationId xmlns:a16="http://schemas.microsoft.com/office/drawing/2014/main" id="{5BFB58EC-8D81-354A-8BD3-B5A04CD6A07E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Slide Number Placeholder 25">
            <a:extLst>
              <a:ext uri="{FF2B5EF4-FFF2-40B4-BE49-F238E27FC236}">
                <a16:creationId xmlns:a16="http://schemas.microsoft.com/office/drawing/2014/main" id="{C883C0C9-9624-9341-A256-5C8817A4EB5D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13F426C4-9EC6-3B41-9452-E40228EDF010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0D5977-FD98-D144-806F-B9BF3E156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484438"/>
            <a:ext cx="9906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10  &gt;  45</a:t>
            </a:r>
          </a:p>
        </p:txBody>
      </p:sp>
      <p:sp>
        <p:nvSpPr>
          <p:cNvPr id="31" name="Multiply 30">
            <a:extLst>
              <a:ext uri="{FF2B5EF4-FFF2-40B4-BE49-F238E27FC236}">
                <a16:creationId xmlns:a16="http://schemas.microsoft.com/office/drawing/2014/main" id="{75A6EBBD-38CE-5E41-B27E-12C8BACC6F01}"/>
              </a:ext>
            </a:extLst>
          </p:cNvPr>
          <p:cNvSpPr/>
          <p:nvPr/>
        </p:nvSpPr>
        <p:spPr>
          <a:xfrm>
            <a:off x="4435475" y="4922838"/>
            <a:ext cx="609600" cy="533400"/>
          </a:xfrm>
          <a:prstGeom prst="mathMultiply">
            <a:avLst/>
          </a:prstGeom>
          <a:ln w="127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EAC10FA7-693E-314F-844F-7829D20DC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25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/>
      <p:bldP spid="10" grpId="0" animBg="1"/>
      <p:bldP spid="12" grpId="0"/>
      <p:bldP spid="14" grpId="0"/>
      <p:bldP spid="18" grpId="0"/>
      <p:bldP spid="19" grpId="0" animBg="1"/>
      <p:bldP spid="20" grpId="0"/>
      <p:bldP spid="23" grpId="0" animBg="1"/>
      <p:bldP spid="24" grpId="0"/>
      <p:bldP spid="25" grpId="0"/>
      <p:bldP spid="26" grpId="0"/>
      <p:bldP spid="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33FD34-9953-004C-9BC6-62AE143C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3A391D-4383-4E47-A5BA-51E3BE10B58B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(Fifth Pass)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B3F5FBA-3DFC-C74F-A6CD-141DC32B23F8}"/>
              </a:ext>
            </a:extLst>
          </p:cNvPr>
          <p:cNvGraphicFramePr>
            <a:graphicFrameLocks/>
          </p:cNvGraphicFramePr>
          <p:nvPr/>
        </p:nvGraphicFramePr>
        <p:xfrm>
          <a:off x="1000125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27702A7B-F6B4-4345-A199-281BE0E8D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632B5C30-388D-534B-B1D4-64CB5F4EE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7" name="Group 124">
            <a:extLst>
              <a:ext uri="{FF2B5EF4-FFF2-40B4-BE49-F238E27FC236}">
                <a16:creationId xmlns:a16="http://schemas.microsoft.com/office/drawing/2014/main" id="{EE09E392-2EB6-2549-961F-595B8EA365D8}"/>
              </a:ext>
            </a:extLst>
          </p:cNvPr>
          <p:cNvGraphicFramePr>
            <a:graphicFrameLocks/>
          </p:cNvGraphicFramePr>
          <p:nvPr/>
        </p:nvGraphicFramePr>
        <p:xfrm>
          <a:off x="1000125" y="14049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reeform 45">
            <a:extLst>
              <a:ext uri="{FF2B5EF4-FFF2-40B4-BE49-F238E27FC236}">
                <a16:creationId xmlns:a16="http://schemas.microsoft.com/office/drawing/2014/main" id="{FCEF17A7-7E61-C84C-BFA6-BF9FF6D77A35}"/>
              </a:ext>
            </a:extLst>
          </p:cNvPr>
          <p:cNvSpPr>
            <a:spLocks/>
          </p:cNvSpPr>
          <p:nvPr/>
        </p:nvSpPr>
        <p:spPr bwMode="auto">
          <a:xfrm flipV="1">
            <a:off x="4343400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Text Box 46">
            <a:extLst>
              <a:ext uri="{FF2B5EF4-FFF2-40B4-BE49-F238E27FC236}">
                <a16:creationId xmlns:a16="http://schemas.microsoft.com/office/drawing/2014/main" id="{84BF1A52-A524-DA47-A0A6-E90B359A5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44</a:t>
            </a:r>
          </a:p>
        </p:txBody>
      </p:sp>
      <p:sp>
        <p:nvSpPr>
          <p:cNvPr id="10" name="Rectangle 47">
            <a:extLst>
              <a:ext uri="{FF2B5EF4-FFF2-40B4-BE49-F238E27FC236}">
                <a16:creationId xmlns:a16="http://schemas.microsoft.com/office/drawing/2014/main" id="{0587C9E5-64DE-424F-B0CB-BAA7D1316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11" name="Line 48">
            <a:extLst>
              <a:ext uri="{FF2B5EF4-FFF2-40B4-BE49-F238E27FC236}">
                <a16:creationId xmlns:a16="http://schemas.microsoft.com/office/drawing/2014/main" id="{AF13AF88-1CD7-E74D-B97C-49493785B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530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49">
            <a:extLst>
              <a:ext uri="{FF2B5EF4-FFF2-40B4-BE49-F238E27FC236}">
                <a16:creationId xmlns:a16="http://schemas.microsoft.com/office/drawing/2014/main" id="{2E07FEFA-2E12-9C4E-B55B-1C41D241D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3" name="Group 129">
            <a:extLst>
              <a:ext uri="{FF2B5EF4-FFF2-40B4-BE49-F238E27FC236}">
                <a16:creationId xmlns:a16="http://schemas.microsoft.com/office/drawing/2014/main" id="{3CD1A3C1-42F1-014A-8A3E-0CCB4F3506A7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Line 70">
            <a:extLst>
              <a:ext uri="{FF2B5EF4-FFF2-40B4-BE49-F238E27FC236}">
                <a16:creationId xmlns:a16="http://schemas.microsoft.com/office/drawing/2014/main" id="{EC18DDF1-C1A4-1D48-A84E-54EC5B5480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0E569EEC-56A8-B046-9BFC-06A8BFF67799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6" name="Rectangle 72">
            <a:extLst>
              <a:ext uri="{FF2B5EF4-FFF2-40B4-BE49-F238E27FC236}">
                <a16:creationId xmlns:a16="http://schemas.microsoft.com/office/drawing/2014/main" id="{C0D2FE09-993C-FB48-B861-3D209AEAE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17" name="Text Box 74">
            <a:extLst>
              <a:ext uri="{FF2B5EF4-FFF2-40B4-BE49-F238E27FC236}">
                <a16:creationId xmlns:a16="http://schemas.microsoft.com/office/drawing/2014/main" id="{D2220D92-5A6C-DF43-A464-CBB44A5CE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18" name="Group 130">
            <a:extLst>
              <a:ext uri="{FF2B5EF4-FFF2-40B4-BE49-F238E27FC236}">
                <a16:creationId xmlns:a16="http://schemas.microsoft.com/office/drawing/2014/main" id="{19DC2D6B-9519-4841-A4DD-771448071312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Line 95">
            <a:extLst>
              <a:ext uri="{FF2B5EF4-FFF2-40B4-BE49-F238E27FC236}">
                <a16:creationId xmlns:a16="http://schemas.microsoft.com/office/drawing/2014/main" id="{8F6370DE-FFBA-9E40-AD5A-BA5E9BE5D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97">
            <a:extLst>
              <a:ext uri="{FF2B5EF4-FFF2-40B4-BE49-F238E27FC236}">
                <a16:creationId xmlns:a16="http://schemas.microsoft.com/office/drawing/2014/main" id="{387BA95F-6FDF-1741-9856-78C33BD8E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50520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1</a:t>
            </a:r>
            <a:r>
              <a:rPr lang="en-US" altLang="en-US" b="1">
                <a:solidFill>
                  <a:srgbClr val="FF0000"/>
                </a:solidFill>
              </a:rPr>
              <a:t>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44;</a:t>
            </a:r>
          </a:p>
        </p:txBody>
      </p:sp>
      <p:sp>
        <p:nvSpPr>
          <p:cNvPr id="21" name="Rectangle 98">
            <a:extLst>
              <a:ext uri="{FF2B5EF4-FFF2-40B4-BE49-F238E27FC236}">
                <a16:creationId xmlns:a16="http://schemas.microsoft.com/office/drawing/2014/main" id="{CBFB12F7-5D18-D04F-91F9-844D69013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22" name="Text Box 99">
            <a:extLst>
              <a:ext uri="{FF2B5EF4-FFF2-40B4-BE49-F238E27FC236}">
                <a16:creationId xmlns:a16="http://schemas.microsoft.com/office/drawing/2014/main" id="{84695CFA-AE64-DF40-A568-7CF110C4A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23" name="Group 131">
            <a:extLst>
              <a:ext uri="{FF2B5EF4-FFF2-40B4-BE49-F238E27FC236}">
                <a16:creationId xmlns:a16="http://schemas.microsoft.com/office/drawing/2014/main" id="{E8548056-33B8-2F4D-A25D-60B6E1258FEE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Freeform 125">
            <a:extLst>
              <a:ext uri="{FF2B5EF4-FFF2-40B4-BE49-F238E27FC236}">
                <a16:creationId xmlns:a16="http://schemas.microsoft.com/office/drawing/2014/main" id="{446D4D2C-ADAF-F84B-8124-C9C2F98F9A1A}"/>
              </a:ext>
            </a:extLst>
          </p:cNvPr>
          <p:cNvSpPr>
            <a:spLocks/>
          </p:cNvSpPr>
          <p:nvPr/>
        </p:nvSpPr>
        <p:spPr bwMode="auto">
          <a:xfrm flipV="1">
            <a:off x="35814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Freeform 126">
            <a:extLst>
              <a:ext uri="{FF2B5EF4-FFF2-40B4-BE49-F238E27FC236}">
                <a16:creationId xmlns:a16="http://schemas.microsoft.com/office/drawing/2014/main" id="{0FCE4465-AD1F-5D4A-B0CF-000CCC726344}"/>
              </a:ext>
            </a:extLst>
          </p:cNvPr>
          <p:cNvSpPr>
            <a:spLocks/>
          </p:cNvSpPr>
          <p:nvPr/>
        </p:nvSpPr>
        <p:spPr bwMode="auto">
          <a:xfrm flipV="1">
            <a:off x="28956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Line 127">
            <a:extLst>
              <a:ext uri="{FF2B5EF4-FFF2-40B4-BE49-F238E27FC236}">
                <a16:creationId xmlns:a16="http://schemas.microsoft.com/office/drawing/2014/main" id="{8030DD80-2A62-BE4E-BB0F-26CD369BDC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128">
            <a:extLst>
              <a:ext uri="{FF2B5EF4-FFF2-40B4-BE49-F238E27FC236}">
                <a16:creationId xmlns:a16="http://schemas.microsoft.com/office/drawing/2014/main" id="{648F3BB5-A502-1744-B511-DEA0E4F5E730}"/>
              </a:ext>
            </a:extLst>
          </p:cNvPr>
          <p:cNvSpPr>
            <a:spLocks/>
          </p:cNvSpPr>
          <p:nvPr/>
        </p:nvSpPr>
        <p:spPr bwMode="auto">
          <a:xfrm flipV="1">
            <a:off x="21336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" name="Rectangle 132">
            <a:extLst>
              <a:ext uri="{FF2B5EF4-FFF2-40B4-BE49-F238E27FC236}">
                <a16:creationId xmlns:a16="http://schemas.microsoft.com/office/drawing/2014/main" id="{7A4B3674-B2F4-0948-9DC2-51B351DE2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29" name="Text Box 133">
            <a:extLst>
              <a:ext uri="{FF2B5EF4-FFF2-40B4-BE49-F238E27FC236}">
                <a16:creationId xmlns:a16="http://schemas.microsoft.com/office/drawing/2014/main" id="{78FD40BE-7A15-6044-B0B4-E298C38F9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30" name="Group 134">
            <a:extLst>
              <a:ext uri="{FF2B5EF4-FFF2-40B4-BE49-F238E27FC236}">
                <a16:creationId xmlns:a16="http://schemas.microsoft.com/office/drawing/2014/main" id="{096008C3-E446-464D-9D27-510FE474188C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Slide Number Placeholder 30">
            <a:extLst>
              <a:ext uri="{FF2B5EF4-FFF2-40B4-BE49-F238E27FC236}">
                <a16:creationId xmlns:a16="http://schemas.microsoft.com/office/drawing/2014/main" id="{BF8F77FC-C8BF-2141-8525-ACA54AD0F045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C437C7EA-1D37-3A4E-A628-E5CC5F9FE082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8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AB8353E6-EA82-BA44-8961-17ECD5AC4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29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86B74E-07FA-3943-AC4B-2A26552E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43" name="Rectangle 2">
            <a:extLst>
              <a:ext uri="{FF2B5EF4-FFF2-40B4-BE49-F238E27FC236}">
                <a16:creationId xmlns:a16="http://schemas.microsoft.com/office/drawing/2014/main" id="{C6629FC4-8E16-E24A-8242-CD74B76830AA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(Sixth Pass)</a:t>
            </a:r>
          </a:p>
        </p:txBody>
      </p:sp>
      <p:graphicFrame>
        <p:nvGraphicFramePr>
          <p:cNvPr id="44" name="Group 3">
            <a:extLst>
              <a:ext uri="{FF2B5EF4-FFF2-40B4-BE49-F238E27FC236}">
                <a16:creationId xmlns:a16="http://schemas.microsoft.com/office/drawing/2014/main" id="{4EE33DCD-2FDB-5441-A9E4-A23852ED1965}"/>
              </a:ext>
            </a:extLst>
          </p:cNvPr>
          <p:cNvGraphicFramePr>
            <a:graphicFrameLocks/>
          </p:cNvGraphicFramePr>
          <p:nvPr/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Text Box 23">
            <a:extLst>
              <a:ext uri="{FF2B5EF4-FFF2-40B4-BE49-F238E27FC236}">
                <a16:creationId xmlns:a16="http://schemas.microsoft.com/office/drawing/2014/main" id="{D7071D5D-F06A-2848-B49E-E0424104A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46" name="Text Box 24">
            <a:extLst>
              <a:ext uri="{FF2B5EF4-FFF2-40B4-BE49-F238E27FC236}">
                <a16:creationId xmlns:a16="http://schemas.microsoft.com/office/drawing/2014/main" id="{FE83C571-9C00-464F-8661-1263DDED5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graphicFrame>
        <p:nvGraphicFramePr>
          <p:cNvPr id="47" name="Group 166">
            <a:extLst>
              <a:ext uri="{FF2B5EF4-FFF2-40B4-BE49-F238E27FC236}">
                <a16:creationId xmlns:a16="http://schemas.microsoft.com/office/drawing/2014/main" id="{87BD6084-FCF3-6048-B687-7E89BE54475E}"/>
              </a:ext>
            </a:extLst>
          </p:cNvPr>
          <p:cNvGraphicFramePr>
            <a:graphicFrameLocks/>
          </p:cNvGraphicFramePr>
          <p:nvPr/>
        </p:nvGraphicFramePr>
        <p:xfrm>
          <a:off x="1033463" y="14478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" name="Freeform 45">
            <a:extLst>
              <a:ext uri="{FF2B5EF4-FFF2-40B4-BE49-F238E27FC236}">
                <a16:creationId xmlns:a16="http://schemas.microsoft.com/office/drawing/2014/main" id="{7ACEBB18-9286-C14D-B80D-1CB7348970B3}"/>
              </a:ext>
            </a:extLst>
          </p:cNvPr>
          <p:cNvSpPr>
            <a:spLocks/>
          </p:cNvSpPr>
          <p:nvPr/>
        </p:nvSpPr>
        <p:spPr bwMode="auto">
          <a:xfrm flipV="1">
            <a:off x="5272088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Text Box 46">
            <a:extLst>
              <a:ext uri="{FF2B5EF4-FFF2-40B4-BE49-F238E27FC236}">
                <a16:creationId xmlns:a16="http://schemas.microsoft.com/office/drawing/2014/main" id="{35E79F3E-F6FF-CB44-A03E-1F800785A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117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50" name="Rectangle 47">
            <a:extLst>
              <a:ext uri="{FF2B5EF4-FFF2-40B4-BE49-F238E27FC236}">
                <a16:creationId xmlns:a16="http://schemas.microsoft.com/office/drawing/2014/main" id="{3E1266B5-2127-9F47-A6F7-5FE48D777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[6]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51" name="Line 48">
            <a:extLst>
              <a:ext uri="{FF2B5EF4-FFF2-40B4-BE49-F238E27FC236}">
                <a16:creationId xmlns:a16="http://schemas.microsoft.com/office/drawing/2014/main" id="{F90D5959-192A-BB4B-AB9C-AC27503F29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" name="Text Box 49">
            <a:extLst>
              <a:ext uri="{FF2B5EF4-FFF2-40B4-BE49-F238E27FC236}">
                <a16:creationId xmlns:a16="http://schemas.microsoft.com/office/drawing/2014/main" id="{207AD1EE-2FF5-4743-A1BA-29196344F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53" name="Group 184">
            <a:extLst>
              <a:ext uri="{FF2B5EF4-FFF2-40B4-BE49-F238E27FC236}">
                <a16:creationId xmlns:a16="http://schemas.microsoft.com/office/drawing/2014/main" id="{5167AEA2-A2EA-B441-B92F-312BE7E3FF1A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" name="Line 70">
            <a:extLst>
              <a:ext uri="{FF2B5EF4-FFF2-40B4-BE49-F238E27FC236}">
                <a16:creationId xmlns:a16="http://schemas.microsoft.com/office/drawing/2014/main" id="{6A3463E6-FB5E-8748-B1AB-1C462E4E6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5" name="Rectangle 71">
            <a:extLst>
              <a:ext uri="{FF2B5EF4-FFF2-40B4-BE49-F238E27FC236}">
                <a16:creationId xmlns:a16="http://schemas.microsoft.com/office/drawing/2014/main" id="{14AF70E9-3CA8-6643-92E2-7C2F017D15AC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56" name="Rectangle 72">
            <a:extLst>
              <a:ext uri="{FF2B5EF4-FFF2-40B4-BE49-F238E27FC236}">
                <a16:creationId xmlns:a16="http://schemas.microsoft.com/office/drawing/2014/main" id="{BCEE12F7-7AE4-0F43-851B-B79FA4B8C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57" name="Text Box 73">
            <a:extLst>
              <a:ext uri="{FF2B5EF4-FFF2-40B4-BE49-F238E27FC236}">
                <a16:creationId xmlns:a16="http://schemas.microsoft.com/office/drawing/2014/main" id="{73A3AF74-3A5F-2142-B8AF-D7DBAE2F5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58" name="Group 202">
            <a:extLst>
              <a:ext uri="{FF2B5EF4-FFF2-40B4-BE49-F238E27FC236}">
                <a16:creationId xmlns:a16="http://schemas.microsoft.com/office/drawing/2014/main" id="{978028D2-3149-6248-907A-7BF60D770CD8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" name="Line 94">
            <a:extLst>
              <a:ext uri="{FF2B5EF4-FFF2-40B4-BE49-F238E27FC236}">
                <a16:creationId xmlns:a16="http://schemas.microsoft.com/office/drawing/2014/main" id="{D9EA4E52-2A0D-6647-9B91-6017514F7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0" name="Rectangle 95">
            <a:extLst>
              <a:ext uri="{FF2B5EF4-FFF2-40B4-BE49-F238E27FC236}">
                <a16:creationId xmlns:a16="http://schemas.microsoft.com/office/drawing/2014/main" id="{6E6C7322-F3C0-F647-84B1-CA49EEDAE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35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6;</a:t>
            </a:r>
          </a:p>
        </p:txBody>
      </p:sp>
      <p:sp>
        <p:nvSpPr>
          <p:cNvPr id="61" name="Rectangle 96">
            <a:extLst>
              <a:ext uri="{FF2B5EF4-FFF2-40B4-BE49-F238E27FC236}">
                <a16:creationId xmlns:a16="http://schemas.microsoft.com/office/drawing/2014/main" id="{0D18051D-F1AA-FE46-BA7C-55BAE9EEF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62" name="Text Box 97">
            <a:extLst>
              <a:ext uri="{FF2B5EF4-FFF2-40B4-BE49-F238E27FC236}">
                <a16:creationId xmlns:a16="http://schemas.microsoft.com/office/drawing/2014/main" id="{62BFC72B-8640-104B-9C0F-498FEAFF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63" name="Group 203">
            <a:extLst>
              <a:ext uri="{FF2B5EF4-FFF2-40B4-BE49-F238E27FC236}">
                <a16:creationId xmlns:a16="http://schemas.microsoft.com/office/drawing/2014/main" id="{035C9ACD-E73E-0E40-BE3E-5B24C54A3E2C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4" name="Freeform 118">
            <a:extLst>
              <a:ext uri="{FF2B5EF4-FFF2-40B4-BE49-F238E27FC236}">
                <a16:creationId xmlns:a16="http://schemas.microsoft.com/office/drawing/2014/main" id="{6CA902DC-D8D8-904F-B2A7-0D9F389EE8CA}"/>
              </a:ext>
            </a:extLst>
          </p:cNvPr>
          <p:cNvSpPr>
            <a:spLocks/>
          </p:cNvSpPr>
          <p:nvPr/>
        </p:nvSpPr>
        <p:spPr bwMode="auto">
          <a:xfrm flipV="1">
            <a:off x="43053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5" name="Freeform 119">
            <a:extLst>
              <a:ext uri="{FF2B5EF4-FFF2-40B4-BE49-F238E27FC236}">
                <a16:creationId xmlns:a16="http://schemas.microsoft.com/office/drawing/2014/main" id="{FBB4EEF1-2DDD-5848-B0BB-1C0CDA7A8761}"/>
              </a:ext>
            </a:extLst>
          </p:cNvPr>
          <p:cNvSpPr>
            <a:spLocks/>
          </p:cNvSpPr>
          <p:nvPr/>
        </p:nvSpPr>
        <p:spPr bwMode="auto">
          <a:xfrm flipV="1">
            <a:off x="36195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6" name="Line 120">
            <a:extLst>
              <a:ext uri="{FF2B5EF4-FFF2-40B4-BE49-F238E27FC236}">
                <a16:creationId xmlns:a16="http://schemas.microsoft.com/office/drawing/2014/main" id="{09CDEC37-C331-0C43-A7C3-2D62361B89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" name="Freeform 121">
            <a:extLst>
              <a:ext uri="{FF2B5EF4-FFF2-40B4-BE49-F238E27FC236}">
                <a16:creationId xmlns:a16="http://schemas.microsoft.com/office/drawing/2014/main" id="{B06DF057-5261-FF46-860F-DC38E8D375A6}"/>
              </a:ext>
            </a:extLst>
          </p:cNvPr>
          <p:cNvSpPr>
            <a:spLocks/>
          </p:cNvSpPr>
          <p:nvPr/>
        </p:nvSpPr>
        <p:spPr bwMode="auto">
          <a:xfrm flipV="1">
            <a:off x="28575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8" name="Rectangle 122">
            <a:extLst>
              <a:ext uri="{FF2B5EF4-FFF2-40B4-BE49-F238E27FC236}">
                <a16:creationId xmlns:a16="http://schemas.microsoft.com/office/drawing/2014/main" id="{326FD523-9AE3-8F49-AFD3-6C9704452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69" name="Text Box 123">
            <a:extLst>
              <a:ext uri="{FF2B5EF4-FFF2-40B4-BE49-F238E27FC236}">
                <a16:creationId xmlns:a16="http://schemas.microsoft.com/office/drawing/2014/main" id="{BB63ECB0-2FF9-C34A-814E-751D3421A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70" name="Group 254">
            <a:extLst>
              <a:ext uri="{FF2B5EF4-FFF2-40B4-BE49-F238E27FC236}">
                <a16:creationId xmlns:a16="http://schemas.microsoft.com/office/drawing/2014/main" id="{5CAC6842-8F9E-954A-993D-0D9A3A56E8F2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Freeform 204">
            <a:extLst>
              <a:ext uri="{FF2B5EF4-FFF2-40B4-BE49-F238E27FC236}">
                <a16:creationId xmlns:a16="http://schemas.microsoft.com/office/drawing/2014/main" id="{2F83773C-C09F-B747-A9C4-A396833C69C7}"/>
              </a:ext>
            </a:extLst>
          </p:cNvPr>
          <p:cNvSpPr>
            <a:spLocks/>
          </p:cNvSpPr>
          <p:nvPr/>
        </p:nvSpPr>
        <p:spPr bwMode="auto">
          <a:xfrm flipV="1">
            <a:off x="2209800" y="30194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2" name="Line 205">
            <a:extLst>
              <a:ext uri="{FF2B5EF4-FFF2-40B4-BE49-F238E27FC236}">
                <a16:creationId xmlns:a16="http://schemas.microsoft.com/office/drawing/2014/main" id="{32935701-92AC-464B-952A-A405E04E47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" name="Text Box 206">
            <a:extLst>
              <a:ext uri="{FF2B5EF4-FFF2-40B4-BE49-F238E27FC236}">
                <a16:creationId xmlns:a16="http://schemas.microsoft.com/office/drawing/2014/main" id="{BA6BE4BB-8912-2A43-97E9-1C59B10DB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3552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74" name="Group 255">
            <a:extLst>
              <a:ext uri="{FF2B5EF4-FFF2-40B4-BE49-F238E27FC236}">
                <a16:creationId xmlns:a16="http://schemas.microsoft.com/office/drawing/2014/main" id="{6CD2E663-001D-1844-BA95-93F208EC4409}"/>
              </a:ext>
            </a:extLst>
          </p:cNvPr>
          <p:cNvGraphicFramePr>
            <a:graphicFrameLocks noGrp="1"/>
          </p:cNvGraphicFramePr>
          <p:nvPr/>
        </p:nvGraphicFramePr>
        <p:xfrm>
          <a:off x="1081088" y="3571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5" name="Freeform 227">
            <a:extLst>
              <a:ext uri="{FF2B5EF4-FFF2-40B4-BE49-F238E27FC236}">
                <a16:creationId xmlns:a16="http://schemas.microsoft.com/office/drawing/2014/main" id="{ACD718C4-B9E3-C641-8152-55ACFDC17786}"/>
              </a:ext>
            </a:extLst>
          </p:cNvPr>
          <p:cNvSpPr>
            <a:spLocks/>
          </p:cNvSpPr>
          <p:nvPr/>
        </p:nvSpPr>
        <p:spPr bwMode="auto">
          <a:xfrm flipV="1">
            <a:off x="1447800" y="34147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6" name="Line 228">
            <a:extLst>
              <a:ext uri="{FF2B5EF4-FFF2-40B4-BE49-F238E27FC236}">
                <a16:creationId xmlns:a16="http://schemas.microsoft.com/office/drawing/2014/main" id="{567C1C65-300C-E64B-A62A-3F669098A6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9568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7" name="Text Box 229">
            <a:extLst>
              <a:ext uri="{FF2B5EF4-FFF2-40B4-BE49-F238E27FC236}">
                <a16:creationId xmlns:a16="http://schemas.microsoft.com/office/drawing/2014/main" id="{AFD86749-33AD-FA4F-8B1C-99262ACF0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33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78" name="Group 256">
            <a:extLst>
              <a:ext uri="{FF2B5EF4-FFF2-40B4-BE49-F238E27FC236}">
                <a16:creationId xmlns:a16="http://schemas.microsoft.com/office/drawing/2014/main" id="{095C9367-F702-4247-9E5F-F40A7E417C13}"/>
              </a:ext>
            </a:extLst>
          </p:cNvPr>
          <p:cNvGraphicFramePr>
            <a:graphicFrameLocks noGrp="1"/>
          </p:cNvGraphicFramePr>
          <p:nvPr/>
        </p:nvGraphicFramePr>
        <p:xfrm>
          <a:off x="1092200" y="3952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9" name="Rectangle 252">
            <a:extLst>
              <a:ext uri="{FF2B5EF4-FFF2-40B4-BE49-F238E27FC236}">
                <a16:creationId xmlns:a16="http://schemas.microsoft.com/office/drawing/2014/main" id="{A9441331-195D-9B43-9ACD-04961F149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1384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80" name="Rectangle 253">
            <a:extLst>
              <a:ext uri="{FF2B5EF4-FFF2-40B4-BE49-F238E27FC236}">
                <a16:creationId xmlns:a16="http://schemas.microsoft.com/office/drawing/2014/main" id="{6A9D88DE-4CF0-D144-9C30-137DE8402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5956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82" name="Slide Number Placeholder 40">
            <a:extLst>
              <a:ext uri="{FF2B5EF4-FFF2-40B4-BE49-F238E27FC236}">
                <a16:creationId xmlns:a16="http://schemas.microsoft.com/office/drawing/2014/main" id="{0323A0F7-1E07-F747-904A-B0404973FC78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294832D-83D7-334E-817C-40D4F7A30BC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9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AE728D-D598-FF4C-A419-FBB165BE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54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2E9F63-7FAA-FB40-BDB9-807984A1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31CB73-82B7-BD41-9D05-EA28C0417F39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(Sixth Pass)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4168CE53-1CF8-1342-B976-C976E6EC3871}"/>
              </a:ext>
            </a:extLst>
          </p:cNvPr>
          <p:cNvGraphicFramePr>
            <a:graphicFrameLocks/>
          </p:cNvGraphicFramePr>
          <p:nvPr/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F8A8B658-0E7D-B542-A622-7BFEF5C9B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57150" y="86677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DEEF95A3-42EB-4044-A908-AA4DEE979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13858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graphicFrame>
        <p:nvGraphicFramePr>
          <p:cNvPr id="7" name="Group 166">
            <a:extLst>
              <a:ext uri="{FF2B5EF4-FFF2-40B4-BE49-F238E27FC236}">
                <a16:creationId xmlns:a16="http://schemas.microsoft.com/office/drawing/2014/main" id="{B2B82B49-E16C-FB4B-ADFC-EBDCFFF8227F}"/>
              </a:ext>
            </a:extLst>
          </p:cNvPr>
          <p:cNvGraphicFramePr>
            <a:graphicFrameLocks/>
          </p:cNvGraphicFramePr>
          <p:nvPr/>
        </p:nvGraphicFramePr>
        <p:xfrm>
          <a:off x="1033463" y="1447800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Freeform 45">
            <a:extLst>
              <a:ext uri="{FF2B5EF4-FFF2-40B4-BE49-F238E27FC236}">
                <a16:creationId xmlns:a16="http://schemas.microsoft.com/office/drawing/2014/main" id="{84AA1EF4-A035-444E-B007-AFE8702D8A21}"/>
              </a:ext>
            </a:extLst>
          </p:cNvPr>
          <p:cNvSpPr>
            <a:spLocks/>
          </p:cNvSpPr>
          <p:nvPr/>
        </p:nvSpPr>
        <p:spPr bwMode="auto">
          <a:xfrm flipV="1">
            <a:off x="5272088" y="12049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" name="Text Box 46">
            <a:extLst>
              <a:ext uri="{FF2B5EF4-FFF2-40B4-BE49-F238E27FC236}">
                <a16:creationId xmlns:a16="http://schemas.microsoft.com/office/drawing/2014/main" id="{D97A8620-F4FA-6B4A-8D90-7D0E1B734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117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6</a:t>
            </a:r>
          </a:p>
        </p:txBody>
      </p:sp>
      <p:sp>
        <p:nvSpPr>
          <p:cNvPr id="10" name="Rectangle 47">
            <a:extLst>
              <a:ext uri="{FF2B5EF4-FFF2-40B4-BE49-F238E27FC236}">
                <a16:creationId xmlns:a16="http://schemas.microsoft.com/office/drawing/2014/main" id="{7D13C62E-B00A-9D49-9AD6-FD26CE62B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8475" y="1371600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[6]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</a:t>
            </a:r>
          </a:p>
        </p:txBody>
      </p:sp>
      <p:sp>
        <p:nvSpPr>
          <p:cNvPr id="11" name="Line 48">
            <a:extLst>
              <a:ext uri="{FF2B5EF4-FFF2-40B4-BE49-F238E27FC236}">
                <a16:creationId xmlns:a16="http://schemas.microsoft.com/office/drawing/2014/main" id="{3ACAB203-DFC8-B94F-A892-537F4F43A9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14049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Text Box 49">
            <a:extLst>
              <a:ext uri="{FF2B5EF4-FFF2-40B4-BE49-F238E27FC236}">
                <a16:creationId xmlns:a16="http://schemas.microsoft.com/office/drawing/2014/main" id="{867A3BDE-C0CD-B541-9679-A10ADCB4E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1890713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5</a:t>
            </a:r>
          </a:p>
        </p:txBody>
      </p:sp>
      <p:graphicFrame>
        <p:nvGraphicFramePr>
          <p:cNvPr id="13" name="Group 184">
            <a:extLst>
              <a:ext uri="{FF2B5EF4-FFF2-40B4-BE49-F238E27FC236}">
                <a16:creationId xmlns:a16="http://schemas.microsoft.com/office/drawing/2014/main" id="{27259B2F-B60D-DF40-BD95-9C0DA0EF0B08}"/>
              </a:ext>
            </a:extLst>
          </p:cNvPr>
          <p:cNvGraphicFramePr>
            <a:graphicFrameLocks noGrp="1"/>
          </p:cNvGraphicFramePr>
          <p:nvPr/>
        </p:nvGraphicFramePr>
        <p:xfrm>
          <a:off x="1035050" y="1909763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58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Line 70">
            <a:extLst>
              <a:ext uri="{FF2B5EF4-FFF2-40B4-BE49-F238E27FC236}">
                <a16:creationId xmlns:a16="http://schemas.microsoft.com/office/drawing/2014/main" id="{A53FB4B9-7F44-B040-AF1F-A0ED3C45C7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1909763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71">
            <a:extLst>
              <a:ext uri="{FF2B5EF4-FFF2-40B4-BE49-F238E27FC236}">
                <a16:creationId xmlns:a16="http://schemas.microsoft.com/office/drawing/2014/main" id="{C163B91D-93DF-D34F-8073-731C7E8C5FF0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6" name="Rectangle 72">
            <a:extLst>
              <a:ext uri="{FF2B5EF4-FFF2-40B4-BE49-F238E27FC236}">
                <a16:creationId xmlns:a16="http://schemas.microsoft.com/office/drawing/2014/main" id="{3AEBBFC5-8FB9-ED4A-810F-99DBFF5AC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18430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[5]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</a:t>
            </a:r>
          </a:p>
        </p:txBody>
      </p:sp>
      <p:sp>
        <p:nvSpPr>
          <p:cNvPr id="17" name="Text Box 73">
            <a:extLst>
              <a:ext uri="{FF2B5EF4-FFF2-40B4-BE49-F238E27FC236}">
                <a16:creationId xmlns:a16="http://schemas.microsoft.com/office/drawing/2014/main" id="{A7365EB6-9AF0-644E-A4D4-86A6DF132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5" y="230028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4</a:t>
            </a:r>
          </a:p>
        </p:txBody>
      </p:sp>
      <p:graphicFrame>
        <p:nvGraphicFramePr>
          <p:cNvPr id="18" name="Group 202">
            <a:extLst>
              <a:ext uri="{FF2B5EF4-FFF2-40B4-BE49-F238E27FC236}">
                <a16:creationId xmlns:a16="http://schemas.microsoft.com/office/drawing/2014/main" id="{FA924B87-4973-F644-934E-2173006B0963}"/>
              </a:ext>
            </a:extLst>
          </p:cNvPr>
          <p:cNvGraphicFramePr>
            <a:graphicFrameLocks noGrp="1"/>
          </p:cNvGraphicFramePr>
          <p:nvPr/>
        </p:nvGraphicFramePr>
        <p:xfrm>
          <a:off x="1044575" y="231933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55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Line 94">
            <a:extLst>
              <a:ext uri="{FF2B5EF4-FFF2-40B4-BE49-F238E27FC236}">
                <a16:creationId xmlns:a16="http://schemas.microsoft.com/office/drawing/2014/main" id="{9D8557C7-6FD0-124A-9F30-EDE904933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31933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ectangle 95">
            <a:extLst>
              <a:ext uri="{FF2B5EF4-FFF2-40B4-BE49-F238E27FC236}">
                <a16:creationId xmlns:a16="http://schemas.microsoft.com/office/drawing/2014/main" id="{99F7BEAC-2AB0-9C49-8C35-C01F8F208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235450"/>
            <a:ext cx="14351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 = </a:t>
            </a:r>
            <a:r>
              <a:rPr lang="en-US" altLang="en-US" b="1" i="1">
                <a:solidFill>
                  <a:srgbClr val="FF0000"/>
                </a:solidFill>
              </a:rPr>
              <a:t>temp</a:t>
            </a:r>
          </a:p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 = 6;</a:t>
            </a:r>
          </a:p>
        </p:txBody>
      </p:sp>
      <p:sp>
        <p:nvSpPr>
          <p:cNvPr id="21" name="Rectangle 96">
            <a:extLst>
              <a:ext uri="{FF2B5EF4-FFF2-40B4-BE49-F238E27FC236}">
                <a16:creationId xmlns:a16="http://schemas.microsoft.com/office/drawing/2014/main" id="{992B4EC2-DD15-0B40-BB6D-C8F2BED55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3002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[4]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</a:t>
            </a:r>
          </a:p>
        </p:txBody>
      </p:sp>
      <p:sp>
        <p:nvSpPr>
          <p:cNvPr id="22" name="Text Box 97">
            <a:extLst>
              <a:ext uri="{FF2B5EF4-FFF2-40B4-BE49-F238E27FC236}">
                <a16:creationId xmlns:a16="http://schemas.microsoft.com/office/drawing/2014/main" id="{0ADF3CB9-4035-1F44-A121-8B61C4609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" y="27146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3</a:t>
            </a:r>
          </a:p>
        </p:txBody>
      </p:sp>
      <p:graphicFrame>
        <p:nvGraphicFramePr>
          <p:cNvPr id="23" name="Group 203">
            <a:extLst>
              <a:ext uri="{FF2B5EF4-FFF2-40B4-BE49-F238E27FC236}">
                <a16:creationId xmlns:a16="http://schemas.microsoft.com/office/drawing/2014/main" id="{E7AD1E41-F951-2F48-8FAB-D29A67E445C6}"/>
              </a:ext>
            </a:extLst>
          </p:cNvPr>
          <p:cNvGraphicFramePr>
            <a:graphicFrameLocks noGrp="1"/>
          </p:cNvGraphicFramePr>
          <p:nvPr/>
        </p:nvGraphicFramePr>
        <p:xfrm>
          <a:off x="1054100" y="27336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Freeform 118">
            <a:extLst>
              <a:ext uri="{FF2B5EF4-FFF2-40B4-BE49-F238E27FC236}">
                <a16:creationId xmlns:a16="http://schemas.microsoft.com/office/drawing/2014/main" id="{79088073-32DD-BC4E-B24B-207BE38E5467}"/>
              </a:ext>
            </a:extLst>
          </p:cNvPr>
          <p:cNvSpPr>
            <a:spLocks/>
          </p:cNvSpPr>
          <p:nvPr/>
        </p:nvSpPr>
        <p:spPr bwMode="auto">
          <a:xfrm flipV="1">
            <a:off x="4305300" y="16906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id="{0A8E981B-F7F1-A342-A1CC-DCBC1A2199E6}"/>
              </a:ext>
            </a:extLst>
          </p:cNvPr>
          <p:cNvSpPr>
            <a:spLocks/>
          </p:cNvSpPr>
          <p:nvPr/>
        </p:nvSpPr>
        <p:spPr bwMode="auto">
          <a:xfrm flipV="1">
            <a:off x="3619500" y="2147888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" name="Line 120">
            <a:extLst>
              <a:ext uri="{FF2B5EF4-FFF2-40B4-BE49-F238E27FC236}">
                <a16:creationId xmlns:a16="http://schemas.microsoft.com/office/drawing/2014/main" id="{33E5BCE4-BC76-E944-9BE1-D0E8D3B4E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7100" y="2743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id="{C2F6846D-0D10-EB42-A734-2585BDB1A2A3}"/>
              </a:ext>
            </a:extLst>
          </p:cNvPr>
          <p:cNvSpPr>
            <a:spLocks/>
          </p:cNvSpPr>
          <p:nvPr/>
        </p:nvSpPr>
        <p:spPr bwMode="auto">
          <a:xfrm flipV="1">
            <a:off x="2857500" y="2571750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" name="Rectangle 122">
            <a:extLst>
              <a:ext uri="{FF2B5EF4-FFF2-40B4-BE49-F238E27FC236}">
                <a16:creationId xmlns:a16="http://schemas.microsoft.com/office/drawing/2014/main" id="{88263CFC-D970-CA41-9E6B-492CDD0A7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6100" y="2695575"/>
            <a:ext cx="133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[3]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</a:t>
            </a:r>
          </a:p>
        </p:txBody>
      </p:sp>
      <p:sp>
        <p:nvSpPr>
          <p:cNvPr id="29" name="Text Box 123">
            <a:extLst>
              <a:ext uri="{FF2B5EF4-FFF2-40B4-BE49-F238E27FC236}">
                <a16:creationId xmlns:a16="http://schemas.microsoft.com/office/drawing/2014/main" id="{2BB01D36-676D-7448-AEB9-D5EFA5BCE7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3157538"/>
            <a:ext cx="63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2</a:t>
            </a:r>
          </a:p>
        </p:txBody>
      </p:sp>
      <p:graphicFrame>
        <p:nvGraphicFramePr>
          <p:cNvPr id="30" name="Group 254">
            <a:extLst>
              <a:ext uri="{FF2B5EF4-FFF2-40B4-BE49-F238E27FC236}">
                <a16:creationId xmlns:a16="http://schemas.microsoft.com/office/drawing/2014/main" id="{25FA5793-EA58-DA46-A57C-E6FE3F08086A}"/>
              </a:ext>
            </a:extLst>
          </p:cNvPr>
          <p:cNvGraphicFramePr>
            <a:graphicFrameLocks noGrp="1"/>
          </p:cNvGraphicFramePr>
          <p:nvPr/>
        </p:nvGraphicFramePr>
        <p:xfrm>
          <a:off x="1063625" y="3176588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45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Freeform 204">
            <a:extLst>
              <a:ext uri="{FF2B5EF4-FFF2-40B4-BE49-F238E27FC236}">
                <a16:creationId xmlns:a16="http://schemas.microsoft.com/office/drawing/2014/main" id="{06D77A14-8816-5A4D-8F7F-DBF1AAFAB07C}"/>
              </a:ext>
            </a:extLst>
          </p:cNvPr>
          <p:cNvSpPr>
            <a:spLocks/>
          </p:cNvSpPr>
          <p:nvPr/>
        </p:nvSpPr>
        <p:spPr bwMode="auto">
          <a:xfrm flipV="1">
            <a:off x="2209800" y="3019425"/>
            <a:ext cx="609600" cy="214313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2" name="Line 205">
            <a:extLst>
              <a:ext uri="{FF2B5EF4-FFF2-40B4-BE49-F238E27FC236}">
                <a16:creationId xmlns:a16="http://schemas.microsoft.com/office/drawing/2014/main" id="{910B6F7E-80EC-374C-BDF9-2D12471F2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200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" name="Text Box 206">
            <a:extLst>
              <a:ext uri="{FF2B5EF4-FFF2-40B4-BE49-F238E27FC236}">
                <a16:creationId xmlns:a16="http://schemas.microsoft.com/office/drawing/2014/main" id="{9AD974CC-3F98-B147-9611-11C3F0243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088" y="3552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1</a:t>
            </a:r>
          </a:p>
        </p:txBody>
      </p:sp>
      <p:graphicFrame>
        <p:nvGraphicFramePr>
          <p:cNvPr id="34" name="Group 255">
            <a:extLst>
              <a:ext uri="{FF2B5EF4-FFF2-40B4-BE49-F238E27FC236}">
                <a16:creationId xmlns:a16="http://schemas.microsoft.com/office/drawing/2014/main" id="{C9B4F592-88C2-C74E-8278-4522DE603704}"/>
              </a:ext>
            </a:extLst>
          </p:cNvPr>
          <p:cNvGraphicFramePr>
            <a:graphicFrameLocks noGrp="1"/>
          </p:cNvGraphicFramePr>
          <p:nvPr/>
        </p:nvGraphicFramePr>
        <p:xfrm>
          <a:off x="1081088" y="3571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5" name="Freeform 227">
            <a:extLst>
              <a:ext uri="{FF2B5EF4-FFF2-40B4-BE49-F238E27FC236}">
                <a16:creationId xmlns:a16="http://schemas.microsoft.com/office/drawing/2014/main" id="{FCB0F92A-1289-AF4C-A988-13D2D3A4655B}"/>
              </a:ext>
            </a:extLst>
          </p:cNvPr>
          <p:cNvSpPr>
            <a:spLocks/>
          </p:cNvSpPr>
          <p:nvPr/>
        </p:nvSpPr>
        <p:spPr bwMode="auto">
          <a:xfrm flipV="1">
            <a:off x="1447800" y="3414713"/>
            <a:ext cx="609600" cy="214312"/>
          </a:xfrm>
          <a:custGeom>
            <a:avLst/>
            <a:gdLst>
              <a:gd name="T0" fmla="*/ 0 w 384"/>
              <a:gd name="T1" fmla="*/ 0 h 112"/>
              <a:gd name="T2" fmla="*/ 2147483647 w 384"/>
              <a:gd name="T3" fmla="*/ 2147483647 h 112"/>
              <a:gd name="T4" fmla="*/ 2147483647 w 384"/>
              <a:gd name="T5" fmla="*/ 2147483647 h 112"/>
              <a:gd name="T6" fmla="*/ 2147483647 w 384"/>
              <a:gd name="T7" fmla="*/ 0 h 112"/>
              <a:gd name="T8" fmla="*/ 0 60000 65536"/>
              <a:gd name="T9" fmla="*/ 0 60000 65536"/>
              <a:gd name="T10" fmla="*/ 0 60000 65536"/>
              <a:gd name="T11" fmla="*/ 0 60000 65536"/>
              <a:gd name="T12" fmla="*/ 0 w 384"/>
              <a:gd name="T13" fmla="*/ 0 h 112"/>
              <a:gd name="T14" fmla="*/ 384 w 384"/>
              <a:gd name="T15" fmla="*/ 112 h 1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4" h="112">
                <a:moveTo>
                  <a:pt x="0" y="0"/>
                </a:moveTo>
                <a:cubicBezTo>
                  <a:pt x="20" y="40"/>
                  <a:pt x="40" y="80"/>
                  <a:pt x="96" y="96"/>
                </a:cubicBezTo>
                <a:cubicBezTo>
                  <a:pt x="152" y="112"/>
                  <a:pt x="288" y="112"/>
                  <a:pt x="336" y="96"/>
                </a:cubicBezTo>
                <a:cubicBezTo>
                  <a:pt x="384" y="80"/>
                  <a:pt x="384" y="40"/>
                  <a:pt x="3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" name="Line 228">
            <a:extLst>
              <a:ext uri="{FF2B5EF4-FFF2-40B4-BE49-F238E27FC236}">
                <a16:creationId xmlns:a16="http://schemas.microsoft.com/office/drawing/2014/main" id="{2086F28A-0917-7C49-8EFF-C5F5920C779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595688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" name="Text Box 229">
            <a:extLst>
              <a:ext uri="{FF2B5EF4-FFF2-40B4-BE49-F238E27FC236}">
                <a16:creationId xmlns:a16="http://schemas.microsoft.com/office/drawing/2014/main" id="{64D686EC-A11E-884B-9A89-57A25E390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933825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 = 0</a:t>
            </a:r>
          </a:p>
        </p:txBody>
      </p:sp>
      <p:graphicFrame>
        <p:nvGraphicFramePr>
          <p:cNvPr id="38" name="Group 256">
            <a:extLst>
              <a:ext uri="{FF2B5EF4-FFF2-40B4-BE49-F238E27FC236}">
                <a16:creationId xmlns:a16="http://schemas.microsoft.com/office/drawing/2014/main" id="{E808676F-99D1-6941-A61A-B6A74D1BBBBA}"/>
              </a:ext>
            </a:extLst>
          </p:cNvPr>
          <p:cNvGraphicFramePr>
            <a:graphicFrameLocks noGrp="1"/>
          </p:cNvGraphicFramePr>
          <p:nvPr/>
        </p:nvGraphicFramePr>
        <p:xfrm>
          <a:off x="1092200" y="3952875"/>
          <a:ext cx="5943600" cy="320675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marT="45811" marB="45811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Rectangle 252">
            <a:extLst>
              <a:ext uri="{FF2B5EF4-FFF2-40B4-BE49-F238E27FC236}">
                <a16:creationId xmlns:a16="http://schemas.microsoft.com/office/drawing/2014/main" id="{6AF26CCB-15D0-C940-8D14-DE82B41C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1384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[2]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</a:t>
            </a:r>
          </a:p>
        </p:txBody>
      </p:sp>
      <p:sp>
        <p:nvSpPr>
          <p:cNvPr id="40" name="Rectangle 253">
            <a:extLst>
              <a:ext uri="{FF2B5EF4-FFF2-40B4-BE49-F238E27FC236}">
                <a16:creationId xmlns:a16="http://schemas.microsoft.com/office/drawing/2014/main" id="{227DE67F-4C6A-CB43-80FF-D1CBDF1DD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0" y="3595688"/>
            <a:ext cx="133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[1] = </a:t>
            </a:r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[0]</a:t>
            </a:r>
          </a:p>
        </p:txBody>
      </p:sp>
      <p:sp>
        <p:nvSpPr>
          <p:cNvPr id="42" name="Slide Number Placeholder 40">
            <a:extLst>
              <a:ext uri="{FF2B5EF4-FFF2-40B4-BE49-F238E27FC236}">
                <a16:creationId xmlns:a16="http://schemas.microsoft.com/office/drawing/2014/main" id="{47A22A4C-88BC-E442-8983-E7A13A8FB077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294832D-83D7-334E-817C-40D4F7A30BC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10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07AAE0BB-2F80-A54E-B19E-BA8387261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87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021900-A017-3A46-A308-2409E3F74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9880FC-C208-C64A-B1F5-8D78A651D772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(Sixth Pass)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93F95B2F-18B8-D243-B961-F9C7E5A42086}"/>
              </a:ext>
            </a:extLst>
          </p:cNvPr>
          <p:cNvGraphicFramePr>
            <a:graphicFrameLocks/>
          </p:cNvGraphicFramePr>
          <p:nvPr/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12EC2359-0D15-9C43-AEC7-20B0B9C5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6" name="Text Box 46">
            <a:extLst>
              <a:ext uri="{FF2B5EF4-FFF2-40B4-BE49-F238E27FC236}">
                <a16:creationId xmlns:a16="http://schemas.microsoft.com/office/drawing/2014/main" id="{53915E30-FBE9-4047-AB95-EC8E8AFC7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1A60060C-744E-2B44-BC76-0E95B97CA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-1]</a:t>
            </a:r>
            <a:r>
              <a:rPr lang="en-US" altLang="en-US" b="1" i="1">
                <a:solidFill>
                  <a:srgbClr val="FF0000"/>
                </a:solidFill>
              </a:rPr>
              <a:t> &gt; temp?</a:t>
            </a:r>
          </a:p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No</a:t>
            </a:r>
          </a:p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B3861F0A-20B0-6946-89A8-BAC83316901C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17557A40-CFB2-C344-A6EE-0F96AD0D791C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146CF8EE-3833-A44F-B871-D861EAC6DD7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11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152E513-09F8-8245-BECA-CF6722728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68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3D4E3C-540B-C943-BC0E-AC0DA694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DE959B-74BC-FE40-B755-E0239315BAD2}"/>
              </a:ext>
            </a:extLst>
          </p:cNvPr>
          <p:cNvSpPr txBox="1">
            <a:spLocks/>
          </p:cNvSpPr>
          <p:nvPr/>
        </p:nvSpPr>
        <p:spPr bwMode="auto">
          <a:xfrm>
            <a:off x="428625" y="15875"/>
            <a:ext cx="7572375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400">
                <a:latin typeface="Trebuchet MS" panose="020B0703020202090204" pitchFamily="34" charset="0"/>
              </a:rPr>
              <a:t>Insertion Sort Example (Sixth Pass)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8CC9A27E-4B96-AE48-BE30-EAA94AE71CEB}"/>
              </a:ext>
            </a:extLst>
          </p:cNvPr>
          <p:cNvGraphicFramePr>
            <a:graphicFrameLocks/>
          </p:cNvGraphicFramePr>
          <p:nvPr/>
        </p:nvGraphicFramePr>
        <p:xfrm>
          <a:off x="99060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</a:t>
                      </a: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Text Box 23">
            <a:extLst>
              <a:ext uri="{FF2B5EF4-FFF2-40B4-BE49-F238E27FC236}">
                <a16:creationId xmlns:a16="http://schemas.microsoft.com/office/drawing/2014/main" id="{D4FA69D6-314C-804A-B2FA-2F562546CA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8200"/>
            <a:ext cx="63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6" name="Text Box 46">
            <a:extLst>
              <a:ext uri="{FF2B5EF4-FFF2-40B4-BE49-F238E27FC236}">
                <a16:creationId xmlns:a16="http://schemas.microsoft.com/office/drawing/2014/main" id="{E2D0B7FF-B4E5-E742-92D7-06E6F94C98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3238" y="874713"/>
            <a:ext cx="124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temp</a:t>
            </a:r>
            <a:r>
              <a:rPr lang="en-US" altLang="en-US" b="1">
                <a:solidFill>
                  <a:srgbClr val="FF0000"/>
                </a:solidFill>
              </a:rPr>
              <a:t> = 90</a:t>
            </a:r>
          </a:p>
        </p:txBody>
      </p:sp>
      <p:sp>
        <p:nvSpPr>
          <p:cNvPr id="7" name="Rectangle 47">
            <a:extLst>
              <a:ext uri="{FF2B5EF4-FFF2-40B4-BE49-F238E27FC236}">
                <a16:creationId xmlns:a16="http://schemas.microsoft.com/office/drawing/2014/main" id="{08E9F66B-BC55-3A48-B57F-E82592180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1447800"/>
            <a:ext cx="17145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A</a:t>
            </a:r>
            <a:r>
              <a:rPr lang="en-US" altLang="en-US" b="1">
                <a:solidFill>
                  <a:srgbClr val="FF0000"/>
                </a:solidFill>
              </a:rPr>
              <a:t>[</a:t>
            </a:r>
            <a:r>
              <a:rPr lang="en-US" altLang="en-US" b="1" i="1">
                <a:solidFill>
                  <a:srgbClr val="FF0000"/>
                </a:solidFill>
              </a:rPr>
              <a:t>j</a:t>
            </a:r>
            <a:r>
              <a:rPr lang="en-US" altLang="en-US" b="1">
                <a:solidFill>
                  <a:srgbClr val="FF0000"/>
                </a:solidFill>
              </a:rPr>
              <a:t>-1]</a:t>
            </a:r>
            <a:r>
              <a:rPr lang="en-US" altLang="en-US" b="1" i="1">
                <a:solidFill>
                  <a:srgbClr val="FF0000"/>
                </a:solidFill>
              </a:rPr>
              <a:t> &gt; temp?</a:t>
            </a:r>
          </a:p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No</a:t>
            </a:r>
          </a:p>
          <a:p>
            <a:pPr eaLnBrk="1" hangingPunct="1"/>
            <a:r>
              <a:rPr lang="en-US" altLang="en-US" b="1" i="1">
                <a:solidFill>
                  <a:srgbClr val="FF0000"/>
                </a:solidFill>
              </a:rPr>
              <a:t>Quit</a:t>
            </a:r>
          </a:p>
        </p:txBody>
      </p:sp>
      <p:sp>
        <p:nvSpPr>
          <p:cNvPr id="8" name="Rectangle 71">
            <a:extLst>
              <a:ext uri="{FF2B5EF4-FFF2-40B4-BE49-F238E27FC236}">
                <a16:creationId xmlns:a16="http://schemas.microsoft.com/office/drawing/2014/main" id="{27A6C5A7-210D-3049-8923-50A68D038EAC}"/>
              </a:ext>
            </a:extLst>
          </p:cNvPr>
          <p:cNvSpPr>
            <a:spLocks/>
          </p:cNvSpPr>
          <p:nvPr/>
        </p:nvSpPr>
        <p:spPr bwMode="auto">
          <a:xfrm>
            <a:off x="581025" y="4572000"/>
            <a:ext cx="7239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	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latin typeface="Times New Roman" panose="02020603050405020304" pitchFamily="18" charset="0"/>
              </a:rPr>
              <a:t>=1, </a:t>
            </a:r>
            <a:r>
              <a:rPr lang="en-US" altLang="en-US" sz="2000" i="1">
                <a:latin typeface="Times New Roman" panose="02020603050405020304" pitchFamily="18" charset="0"/>
              </a:rPr>
              <a:t>i  </a:t>
            </a:r>
            <a:r>
              <a:rPr lang="en-US" altLang="en-US" sz="2000">
                <a:latin typeface="Times New Roman" panose="02020603050405020304" pitchFamily="18" charset="0"/>
              </a:rPr>
              <a:t>&lt;  </a:t>
            </a:r>
            <a:r>
              <a:rPr lang="en-US" altLang="en-US" sz="2000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latin typeface="Times New Roman" panose="02020603050405020304" pitchFamily="18" charset="0"/>
              </a:rPr>
              <a:t>++){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temp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[i];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i="1">
                <a:latin typeface="Times New Roman" panose="02020603050405020304" pitchFamily="18" charset="0"/>
              </a:rPr>
              <a:t>j </a:t>
            </a:r>
            <a:r>
              <a:rPr lang="en-US" altLang="en-US" sz="2000">
                <a:latin typeface="Times New Roman" panose="02020603050405020304" pitchFamily="18" charset="0"/>
              </a:rPr>
              <a:t>= i, </a:t>
            </a:r>
            <a:r>
              <a:rPr lang="en-US" altLang="en-US" sz="2000" i="1">
                <a:latin typeface="Times New Roman" panose="02020603050405020304" pitchFamily="18" charset="0"/>
              </a:rPr>
              <a:t>j &gt; 0  &amp;&amp;  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  <a:r>
              <a:rPr lang="en-US" altLang="en-US" sz="2000" i="1">
                <a:latin typeface="Times New Roman" panose="02020603050405020304" pitchFamily="18" charset="0"/>
              </a:rPr>
              <a:t> &gt; temp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--)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	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-1]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</a:t>
            </a:r>
            <a:r>
              <a:rPr lang="en-US" altLang="en-US" sz="2000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i="1">
                <a:latin typeface="Times New Roman" panose="02020603050405020304" pitchFamily="18" charset="0"/>
              </a:rPr>
              <a:t>j</a:t>
            </a:r>
            <a:r>
              <a:rPr lang="en-US" altLang="en-US" sz="2000">
                <a:latin typeface="Times New Roman" panose="02020603050405020304" pitchFamily="18" charset="0"/>
              </a:rPr>
              <a:t>] = temp;</a:t>
            </a:r>
          </a:p>
          <a:p>
            <a:pPr eaLnBrk="1" hangingPunct="1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}// </a:t>
            </a:r>
            <a:r>
              <a:rPr lang="en-US" altLang="en-US" sz="2000">
                <a:solidFill>
                  <a:srgbClr val="FF0000"/>
                </a:solidFill>
                <a:latin typeface="Times New Roman" panose="02020603050405020304" pitchFamily="18" charset="0"/>
              </a:rPr>
              <a:t>end outer for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B28F6F7-63AB-B244-9448-67D06CC1B85D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0E59C257-3A17-2A4B-9100-22D5AC3096D7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A158586-99F5-5F4C-AFC7-574169947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2417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7B835C-A0EE-644D-89A1-76C79B0A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9610A5-7649-F342-8760-C026EEFFF67D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Analysis of Insertion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36CBD-E432-E54F-A35E-88A29A729216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76200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/>
              <a:t>Because of the nested loops, each of which can take 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/>
              <a:t> iterations, insertion sort is </a:t>
            </a:r>
            <a:r>
              <a:rPr lang="en-US" altLang="en-US" sz="2400" i="1">
                <a:solidFill>
                  <a:srgbClr val="0000CC"/>
                </a:solidFill>
              </a:rPr>
              <a:t>O</a:t>
            </a:r>
            <a:r>
              <a:rPr lang="en-US" altLang="en-US" sz="2400">
                <a:solidFill>
                  <a:srgbClr val="0000CC"/>
                </a:solidFill>
              </a:rPr>
              <a:t>(</a:t>
            </a:r>
            <a:r>
              <a:rPr lang="en-US" altLang="en-US" sz="2400" i="1">
                <a:solidFill>
                  <a:srgbClr val="0000CC"/>
                </a:solidFill>
              </a:rPr>
              <a:t>n</a:t>
            </a:r>
            <a:r>
              <a:rPr lang="en-US" altLang="en-US" sz="2400" baseline="30000">
                <a:solidFill>
                  <a:srgbClr val="0000CC"/>
                </a:solidFill>
              </a:rPr>
              <a:t>2</a:t>
            </a:r>
            <a:r>
              <a:rPr lang="en-US" altLang="en-US" sz="2400">
                <a:solidFill>
                  <a:srgbClr val="0000CC"/>
                </a:solidFill>
              </a:rPr>
              <a:t>)</a:t>
            </a:r>
            <a:r>
              <a:rPr lang="en-US" altLang="en-US" sz="2400"/>
              <a:t>. </a:t>
            </a:r>
          </a:p>
          <a:p>
            <a:r>
              <a:rPr lang="en-US" altLang="en-US" sz="2400"/>
              <a:t>Furthermore, this bound is tight, because input in reverse order can actually achieve this bound. </a:t>
            </a:r>
          </a:p>
          <a:p>
            <a:r>
              <a:rPr lang="en-US" altLang="en-US" sz="2400"/>
              <a:t>A precise calculation shows that the test at line </a:t>
            </a:r>
            <a:r>
              <a:rPr lang="en-US" altLang="en-US" sz="2400">
                <a:solidFill>
                  <a:srgbClr val="0000CC"/>
                </a:solidFill>
              </a:rPr>
              <a:t>3</a:t>
            </a:r>
            <a:r>
              <a:rPr lang="en-US" altLang="en-US" sz="2400"/>
              <a:t> can be executed at most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times for each value of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. Summing over all </a:t>
            </a:r>
            <a:r>
              <a:rPr lang="en-US" altLang="en-US" sz="2400" b="1" i="1">
                <a:solidFill>
                  <a:srgbClr val="0000CC"/>
                </a:solidFill>
              </a:rPr>
              <a:t>i</a:t>
            </a:r>
            <a:r>
              <a:rPr lang="en-US" altLang="en-US" sz="2400"/>
              <a:t> gives a total of </a:t>
            </a:r>
          </a:p>
          <a:p>
            <a:endParaRPr lang="en-US" altLang="en-US" sz="2400"/>
          </a:p>
          <a:p>
            <a:endParaRPr lang="en-US" altLang="en-US" sz="2400"/>
          </a:p>
          <a:p>
            <a:endParaRPr lang="en-US" altLang="en-US" sz="2400"/>
          </a:p>
          <a:p>
            <a:r>
              <a:rPr lang="en-US" altLang="en-US" sz="2400"/>
              <a:t>If the input is presorted, the running time is</a:t>
            </a:r>
            <a:r>
              <a:rPr lang="en-US" altLang="en-US" sz="2400">
                <a:solidFill>
                  <a:srgbClr val="0000CC"/>
                </a:solidFill>
              </a:rPr>
              <a:t> </a:t>
            </a:r>
            <a:r>
              <a:rPr lang="en-US" altLang="en-US" sz="2400" b="1" i="1">
                <a:solidFill>
                  <a:srgbClr val="0000CC"/>
                </a:solidFill>
              </a:rPr>
              <a:t>O</a:t>
            </a:r>
            <a:r>
              <a:rPr lang="en-US" altLang="en-US" sz="2400" b="1">
                <a:solidFill>
                  <a:srgbClr val="0000CC"/>
                </a:solidFill>
              </a:rPr>
              <a:t>(</a:t>
            </a:r>
            <a:r>
              <a:rPr lang="en-US" altLang="en-US" sz="2400" b="1" i="1">
                <a:solidFill>
                  <a:srgbClr val="0000CC"/>
                </a:solidFill>
              </a:rPr>
              <a:t>n</a:t>
            </a:r>
            <a:r>
              <a:rPr lang="en-US" altLang="en-US" sz="2400" b="1">
                <a:solidFill>
                  <a:srgbClr val="0000CC"/>
                </a:solidFill>
              </a:rPr>
              <a:t>)</a:t>
            </a:r>
          </a:p>
          <a:p>
            <a:pPr lvl="1"/>
            <a:r>
              <a:rPr lang="en-US" altLang="en-US" sz="2100"/>
              <a:t>because the test in the inner </a:t>
            </a:r>
            <a:r>
              <a:rPr lang="en-US" altLang="en-US" sz="2100" i="1"/>
              <a:t>for</a:t>
            </a:r>
            <a:r>
              <a:rPr lang="en-US" altLang="en-US" sz="2100"/>
              <a:t> loop always fails immediately</a:t>
            </a:r>
          </a:p>
          <a:p>
            <a:r>
              <a:rPr lang="en-US" altLang="en-US" sz="2400"/>
              <a:t>The average running time also </a:t>
            </a:r>
            <a:r>
              <a:rPr lang="en-US" altLang="en-US" b="1" i="1">
                <a:solidFill>
                  <a:srgbClr val="0000CC"/>
                </a:solidFill>
              </a:rPr>
              <a:t>O</a:t>
            </a:r>
            <a:r>
              <a:rPr lang="en-US" altLang="en-US" b="1">
                <a:solidFill>
                  <a:srgbClr val="0000CC"/>
                </a:solidFill>
              </a:rPr>
              <a:t>(</a:t>
            </a:r>
            <a:r>
              <a:rPr lang="en-US" altLang="en-US" b="1" i="1">
                <a:solidFill>
                  <a:srgbClr val="0000CC"/>
                </a:solidFill>
              </a:rPr>
              <a:t>n</a:t>
            </a:r>
            <a:r>
              <a:rPr lang="en-US" altLang="en-US" b="1" baseline="30000">
                <a:solidFill>
                  <a:srgbClr val="0000CC"/>
                </a:solidFill>
              </a:rPr>
              <a:t>2</a:t>
            </a:r>
            <a:r>
              <a:rPr lang="en-US" altLang="en-US" b="1">
                <a:solidFill>
                  <a:srgbClr val="0000CC"/>
                </a:solidFill>
              </a:rPr>
              <a:t>)</a:t>
            </a:r>
            <a:endParaRPr lang="en-US" altLang="en-US" sz="2400" b="1">
              <a:solidFill>
                <a:srgbClr val="0000CC"/>
              </a:solidFill>
            </a:endParaRPr>
          </a:p>
          <a:p>
            <a:endParaRPr lang="en-US" altLang="en-US" sz="2400">
              <a:latin typeface="Trebuchet MS" panose="020B0703020202090204" pitchFamily="34" charset="0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00DB8AAB-46B4-BE4D-B3FC-278A786FED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7550" y="3810000"/>
          <a:ext cx="4464050" cy="1217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Equation" r:id="rId3" imgW="42710100" imgH="11696700" progId="Equation.3">
                  <p:embed/>
                </p:oleObj>
              </mc:Choice>
              <mc:Fallback>
                <p:oleObj name="Equation" r:id="rId3" imgW="42710100" imgH="11696700" progId="Equation.3">
                  <p:embed/>
                  <p:pic>
                    <p:nvPicPr>
                      <p:cNvPr id="1026" name="Object 3">
                        <a:extLst>
                          <a:ext uri="{FF2B5EF4-FFF2-40B4-BE49-F238E27FC236}">
                            <a16:creationId xmlns:a16="http://schemas.microsoft.com/office/drawing/2014/main" id="{6C0AC487-3115-2F4A-A6B5-2344FA494C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810000"/>
                        <a:ext cx="4464050" cy="1217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4A965D6-EA1F-FF4B-ACD8-928332B942FF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42CF8180-F5E9-3348-929E-864D206BADC9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5EE1D-BD7C-744F-9DBD-A0F717659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550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3E880D-02DC-0E47-8363-7043E7AFE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3DDB4-AFB6-0642-A9F8-75224BF57485}"/>
              </a:ext>
            </a:extLst>
          </p:cNvPr>
          <p:cNvSpPr txBox="1">
            <a:spLocks/>
          </p:cNvSpPr>
          <p:nvPr/>
        </p:nvSpPr>
        <p:spPr bwMode="auto">
          <a:xfrm>
            <a:off x="82550" y="201612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800" b="1" dirty="0">
                <a:latin typeface="+mn-lt"/>
              </a:rPr>
              <a:t>Selection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B4EC4-6239-BF4B-AB8B-2CCDDC63F71E}"/>
              </a:ext>
            </a:extLst>
          </p:cNvPr>
          <p:cNvSpPr txBox="1">
            <a:spLocks/>
          </p:cNvSpPr>
          <p:nvPr/>
        </p:nvSpPr>
        <p:spPr>
          <a:xfrm>
            <a:off x="457200" y="1609725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Find the minimum value in the list</a:t>
            </a:r>
          </a:p>
          <a:p>
            <a:r>
              <a:rPr lang="en-US" altLang="en-US"/>
              <a:t>Swap it with the value in the first position</a:t>
            </a:r>
          </a:p>
          <a:p>
            <a:r>
              <a:rPr lang="en-US" altLang="en-US"/>
              <a:t>Repeat the steps above for the remainder of the list (starting at the second position and advancing each time)</a:t>
            </a:r>
            <a:r>
              <a:rPr lang="en-US" altLang="en-US" sz="3600">
                <a:latin typeface="Trebuchet MS" panose="020B0703020202090204" pitchFamily="34" charset="0"/>
              </a:rPr>
              <a:t>	</a:t>
            </a:r>
          </a:p>
          <a:p>
            <a:endParaRPr lang="en-US" altLang="en-US" sz="3600">
              <a:latin typeface="Trebuchet MS" panose="020B070302020209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D16994-849C-B646-A7B2-1917C2D490F0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48CF2F0-B6EB-F645-9254-5A3694F705C6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D1B8D-D0EF-FB4C-A300-9F5C14FE5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513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B278B0-3FFE-EF41-A59B-16DD5599F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4C8E18-55D2-9D45-9480-8D96CDC3F14E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Selection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12200-191C-404F-BFF5-1C84F60C6C30}"/>
              </a:ext>
            </a:extLst>
          </p:cNvPr>
          <p:cNvSpPr txBox="1">
            <a:spLocks/>
          </p:cNvSpPr>
          <p:nvPr/>
        </p:nvSpPr>
        <p:spPr>
          <a:xfrm>
            <a:off x="228600" y="1066800"/>
            <a:ext cx="47244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=0,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  </a:t>
            </a:r>
            <a:r>
              <a:rPr lang="en-US" altLang="en-US" dirty="0">
                <a:latin typeface="Times New Roman" panose="02020603050405020304" pitchFamily="18" charset="0"/>
              </a:rPr>
              <a:t>&lt;  </a:t>
            </a:r>
            <a:r>
              <a:rPr lang="en-US" altLang="en-US" i="1" dirty="0">
                <a:latin typeface="Times New Roman" panose="02020603050405020304" pitchFamily="18" charset="0"/>
              </a:rPr>
              <a:t>n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++){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min = 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;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    </a:t>
            </a:r>
            <a:r>
              <a:rPr lang="en-US" altLang="en-US" dirty="0">
                <a:solidFill>
                  <a:srgbClr val="0000CC"/>
                </a:solidFill>
                <a:latin typeface="Times New Roman" panose="02020603050405020304" pitchFamily="18" charset="0"/>
              </a:rPr>
              <a:t>for</a:t>
            </a:r>
            <a:r>
              <a:rPr lang="en-US" altLang="en-US" dirty="0">
                <a:latin typeface="Times New Roman" panose="02020603050405020304" pitchFamily="18" charset="0"/>
              </a:rPr>
              <a:t> (</a:t>
            </a:r>
            <a:r>
              <a:rPr lang="en-US" altLang="en-US" dirty="0" err="1">
                <a:solidFill>
                  <a:srgbClr val="0000CC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en-US" dirty="0">
                <a:latin typeface="Times New Roman" panose="02020603050405020304" pitchFamily="18" charset="0"/>
              </a:rPr>
              <a:t> </a:t>
            </a:r>
            <a:r>
              <a:rPr lang="en-US" altLang="en-US" i="1" dirty="0">
                <a:latin typeface="Times New Roman" panose="02020603050405020304" pitchFamily="18" charset="0"/>
              </a:rPr>
              <a:t>j </a:t>
            </a:r>
            <a:r>
              <a:rPr lang="en-US" altLang="en-US" dirty="0">
                <a:latin typeface="Times New Roman" panose="02020603050405020304" pitchFamily="18" charset="0"/>
              </a:rPr>
              <a:t>= i+1, </a:t>
            </a:r>
            <a:r>
              <a:rPr lang="en-US" altLang="en-US" i="1" dirty="0">
                <a:latin typeface="Times New Roman" panose="02020603050405020304" pitchFamily="18" charset="0"/>
              </a:rPr>
              <a:t>j &lt; n 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 err="1">
                <a:latin typeface="Times New Roman" panose="02020603050405020304" pitchFamily="18" charset="0"/>
              </a:rPr>
              <a:t>j++</a:t>
            </a:r>
            <a:r>
              <a:rPr lang="en-US" altLang="en-US" dirty="0">
                <a:latin typeface="Times New Roman" panose="02020603050405020304" pitchFamily="18" charset="0"/>
              </a:rPr>
              <a:t>){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if (	</a:t>
            </a:r>
            <a:r>
              <a:rPr lang="en-US" altLang="en-US" i="1" dirty="0">
                <a:latin typeface="Times New Roman" panose="02020603050405020304" pitchFamily="18" charset="0"/>
              </a:rPr>
              <a:t> 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] &lt;</a:t>
            </a:r>
            <a:r>
              <a:rPr lang="en-US" altLang="en-US" i="1" dirty="0">
                <a:latin typeface="Times New Roman" panose="02020603050405020304" pitchFamily="18" charset="0"/>
              </a:rPr>
              <a:t> A</a:t>
            </a:r>
            <a:r>
              <a:rPr lang="en-US" altLang="en-US" dirty="0">
                <a:latin typeface="Times New Roman" panose="02020603050405020304" pitchFamily="18" charset="0"/>
              </a:rPr>
              <a:t>[min]){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       min = j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     } 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if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      }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inner for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	     </a:t>
            </a:r>
            <a:r>
              <a:rPr lang="en-US" altLang="en-US" dirty="0">
                <a:latin typeface="Times New Roman" panose="02020603050405020304" pitchFamily="18" charset="0"/>
              </a:rPr>
              <a:t>swap(</a:t>
            </a:r>
            <a:r>
              <a:rPr lang="en-US" altLang="en-US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,</a:t>
            </a:r>
            <a:r>
              <a:rPr lang="en-US" altLang="en-US" i="1" dirty="0">
                <a:latin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</a:rPr>
              <a:t>min)    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  }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// end outer for</a:t>
            </a: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Complexity ?</a:t>
            </a:r>
          </a:p>
          <a:p>
            <a:pPr>
              <a:buFont typeface="Wingdings 2" pitchFamily="2" charset="2"/>
              <a:buNone/>
            </a:pPr>
            <a:r>
              <a:rPr lang="en-US" altLang="en-US" dirty="0">
                <a:latin typeface="Times New Roman" panose="02020603050405020304" pitchFamily="18" charset="0"/>
              </a:rPr>
              <a:t>		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</a:p>
          <a:p>
            <a:endParaRPr lang="en-US" altLang="en-US" dirty="0">
              <a:latin typeface="Trebuchet MS" panose="020B0703020202090204" pitchFamily="34" charset="0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864CA9A-B950-404A-A486-C2A8E42EE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763" y="3352800"/>
            <a:ext cx="3957637" cy="2246313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// Swap function assumes that</a:t>
            </a:r>
          </a:p>
          <a:p>
            <a:pPr eaLnBrk="1" hangingPunct="1"/>
            <a:r>
              <a:rPr lang="en-US" altLang="en-US" sz="2000" dirty="0">
                <a:solidFill>
                  <a:srgbClr val="FF0000"/>
                </a:solidFill>
              </a:rPr>
              <a:t>// A[n] is a globally declared array</a:t>
            </a:r>
          </a:p>
          <a:p>
            <a:pPr eaLnBrk="1" hangingPunct="1"/>
            <a:r>
              <a:rPr lang="en-US" altLang="en-US" sz="2000" dirty="0"/>
              <a:t>swap(</a:t>
            </a:r>
            <a:r>
              <a:rPr lang="en-US" altLang="en-US" sz="2000" dirty="0" err="1"/>
              <a:t>i</a:t>
            </a:r>
            <a:r>
              <a:rPr lang="en-US" altLang="en-US" sz="2000" dirty="0"/>
              <a:t>, min</a:t>
            </a:r>
            <a:r>
              <a:rPr lang="en-US" altLang="en-US" sz="2000" dirty="0">
                <a:latin typeface="Times New Roman" panose="02020603050405020304" pitchFamily="18" charset="0"/>
              </a:rPr>
              <a:t>) {</a:t>
            </a:r>
          </a:p>
          <a:p>
            <a:pPr eaLnBrk="1" hangingPunct="1"/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 err="1">
                <a:solidFill>
                  <a:srgbClr val="0000CC"/>
                </a:solidFill>
              </a:rPr>
              <a:t>int</a:t>
            </a:r>
            <a:r>
              <a:rPr lang="en-US" altLang="en-US" sz="2000" dirty="0">
                <a:solidFill>
                  <a:srgbClr val="0000CC"/>
                </a:solidFill>
              </a:rPr>
              <a:t> </a:t>
            </a:r>
            <a:r>
              <a:rPr lang="en-US" altLang="en-US" sz="2000" dirty="0"/>
              <a:t>temp = 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];</a:t>
            </a:r>
          </a:p>
          <a:p>
            <a:pPr eaLnBrk="1" hangingPunct="1"/>
            <a:r>
              <a:rPr lang="en-US" altLang="en-US" sz="2000" dirty="0"/>
              <a:t>A[</a:t>
            </a:r>
            <a:r>
              <a:rPr lang="en-US" altLang="en-US" sz="2000" dirty="0" err="1"/>
              <a:t>i</a:t>
            </a:r>
            <a:r>
              <a:rPr lang="en-US" altLang="en-US" sz="2000" dirty="0"/>
              <a:t>] = A[min];</a:t>
            </a:r>
          </a:p>
          <a:p>
            <a:pPr eaLnBrk="1" hangingPunct="1"/>
            <a:r>
              <a:rPr lang="en-US" altLang="en-US" sz="2000" dirty="0"/>
              <a:t>A[min] = temp;</a:t>
            </a:r>
          </a:p>
          <a:p>
            <a:pPr eaLnBrk="1" hangingPunct="1"/>
            <a:r>
              <a:rPr lang="en-US" altLang="en-US" sz="2000" dirty="0"/>
              <a:t>}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0BABF89-E814-6048-B230-22A296ED189E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9A0983FB-7B6C-024B-952A-4FDB35DF9A95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EA60B-EF96-E048-B4EB-5032434AC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703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0939A5-5C54-E04F-9F74-CCEEC759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303830E-A0CF-494C-80D8-5FEB367ED266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0" y="1600200"/>
            <a:ext cx="5867400" cy="4876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The Selection Sort might swap an array element with itself--this is harmless.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C038A21-9092-F544-A598-CEB932A80EB9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1900238"/>
            <a:ext cx="1525587" cy="306387"/>
            <a:chOff x="575" y="1197"/>
            <a:chExt cx="961" cy="193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957C8DB3-65B4-9142-9DA3-16004E0D75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5" y="1197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solidFill>
                    <a:schemeClr val="tx2"/>
                  </a:solidFill>
                  <a:latin typeface="Trebuchet MS" panose="020B0703020202090204" pitchFamily="34" charset="0"/>
                </a:rPr>
                <a:t>7</a:t>
              </a:r>
              <a:endParaRPr lang="en-US" altLang="en-US" sz="2400">
                <a:solidFill>
                  <a:schemeClr val="tx2"/>
                </a:solidFill>
                <a:latin typeface="Times" pitchFamily="2" charset="0"/>
              </a:endParaRPr>
            </a:p>
          </p:txBody>
        </p:sp>
        <p:sp>
          <p:nvSpPr>
            <p:cNvPr id="6" name="AutoShape 6">
              <a:extLst>
                <a:ext uri="{FF2B5EF4-FFF2-40B4-BE49-F238E27FC236}">
                  <a16:creationId xmlns:a16="http://schemas.microsoft.com/office/drawing/2014/main" id="{10D169C9-004B-AB4F-A90F-BFF2D1BF3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rebuchet MS" panose="020B0703020202090204" pitchFamily="34" charset="0"/>
                </a:rPr>
                <a:t>2</a:t>
              </a:r>
              <a:endParaRPr lang="en-US" altLang="en-US" sz="2400">
                <a:latin typeface="Times" pitchFamily="2" charset="0"/>
              </a:endParaRPr>
            </a:p>
          </p:txBody>
        </p:sp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FC1A2539-9E22-7C45-BA35-AEB92DE3AB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rebuchet MS" panose="020B0703020202090204" pitchFamily="34" charset="0"/>
                </a:rPr>
                <a:t>8</a:t>
              </a:r>
              <a:endParaRPr lang="en-US" altLang="en-US" sz="2400">
                <a:latin typeface="Times" pitchFamily="2" charset="0"/>
              </a:endParaRPr>
            </a:p>
          </p:txBody>
        </p:sp>
        <p:sp>
          <p:nvSpPr>
            <p:cNvPr id="8" name="AutoShape 8">
              <a:extLst>
                <a:ext uri="{FF2B5EF4-FFF2-40B4-BE49-F238E27FC236}">
                  <a16:creationId xmlns:a16="http://schemas.microsoft.com/office/drawing/2014/main" id="{0EEE79F2-E32D-0F45-88F4-B065C4AF0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1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rebuchet MS" panose="020B0703020202090204" pitchFamily="34" charset="0"/>
                </a:rPr>
                <a:t>5</a:t>
              </a:r>
              <a:endParaRPr lang="en-US" altLang="en-US" sz="2400">
                <a:latin typeface="Times" pitchFamily="2" charset="0"/>
              </a:endParaRPr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C22F2DA7-5930-3A44-BA50-63BEC8D20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3" y="1200"/>
              <a:ext cx="193" cy="190"/>
            </a:xfrm>
            <a:prstGeom prst="flowChartProcess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2400">
                  <a:latin typeface="Trebuchet MS" panose="020B0703020202090204" pitchFamily="34" charset="0"/>
                </a:rPr>
                <a:t>4</a:t>
              </a:r>
              <a:endParaRPr lang="en-US" altLang="en-US" sz="2400">
                <a:latin typeface="Times" pitchFamily="2" charset="0"/>
              </a:endParaRPr>
            </a:p>
          </p:txBody>
        </p:sp>
      </p:grpSp>
      <p:sp>
        <p:nvSpPr>
          <p:cNvPr id="10" name="Line 10">
            <a:extLst>
              <a:ext uri="{FF2B5EF4-FFF2-40B4-BE49-F238E27FC236}">
                <a16:creationId xmlns:a16="http://schemas.microsoft.com/office/drawing/2014/main" id="{4B7EF56D-FA88-624A-A1D4-C9C3E6F44E6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68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1">
            <a:extLst>
              <a:ext uri="{FF2B5EF4-FFF2-40B4-BE49-F238E27FC236}">
                <a16:creationId xmlns:a16="http://schemas.microsoft.com/office/drawing/2014/main" id="{6CA52FF0-6738-EB46-89CD-81DEB75803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2EDC19FD-958F-A14B-BDD5-14443532E45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64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06989046-1AAC-304C-8BBE-AB8EE1E4B35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12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2999D9E1-2B9E-F94C-BAC7-DD8749B6374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22098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E967F9D-090B-7F44-9818-507E6770BFB3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209800"/>
            <a:ext cx="1525588" cy="838200"/>
            <a:chOff x="576" y="1392"/>
            <a:chExt cx="961" cy="528"/>
          </a:xfrm>
        </p:grpSpPr>
        <p:grpSp>
          <p:nvGrpSpPr>
            <p:cNvPr id="16" name="Group 16">
              <a:extLst>
                <a:ext uri="{FF2B5EF4-FFF2-40B4-BE49-F238E27FC236}">
                  <a16:creationId xmlns:a16="http://schemas.microsoft.com/office/drawing/2014/main" id="{0F3DC5C1-3035-1342-933F-65F89A330D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727"/>
              <a:ext cx="961" cy="193"/>
              <a:chOff x="575" y="1197"/>
              <a:chExt cx="961" cy="193"/>
            </a:xfrm>
          </p:grpSpPr>
          <p:sp>
            <p:nvSpPr>
              <p:cNvPr id="19" name="AutoShape 17">
                <a:extLst>
                  <a:ext uri="{FF2B5EF4-FFF2-40B4-BE49-F238E27FC236}">
                    <a16:creationId xmlns:a16="http://schemas.microsoft.com/office/drawing/2014/main" id="{EB86551A-972F-EF4B-B96A-E1216D94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2</a:t>
                </a:r>
                <a:endParaRPr lang="en-US" altLang="en-US" sz="2400">
                  <a:solidFill>
                    <a:schemeClr val="accent1"/>
                  </a:solidFill>
                  <a:latin typeface="Times" pitchFamily="2" charset="0"/>
                </a:endParaRPr>
              </a:p>
            </p:txBody>
          </p:sp>
          <p:sp>
            <p:nvSpPr>
              <p:cNvPr id="20" name="AutoShape 18">
                <a:extLst>
                  <a:ext uri="{FF2B5EF4-FFF2-40B4-BE49-F238E27FC236}">
                    <a16:creationId xmlns:a16="http://schemas.microsoft.com/office/drawing/2014/main" id="{08108248-F5CC-B144-9512-AACE97649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2"/>
                    </a:solidFill>
                    <a:latin typeface="Trebuchet MS" panose="020B0703020202090204" pitchFamily="34" charset="0"/>
                  </a:rPr>
                  <a:t>7</a:t>
                </a:r>
              </a:p>
            </p:txBody>
          </p:sp>
          <p:sp>
            <p:nvSpPr>
              <p:cNvPr id="21" name="AutoShape 19">
                <a:extLst>
                  <a:ext uri="{FF2B5EF4-FFF2-40B4-BE49-F238E27FC236}">
                    <a16:creationId xmlns:a16="http://schemas.microsoft.com/office/drawing/2014/main" id="{3E73C417-A727-6A4C-B99A-DAB38E4B3C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8</a:t>
                </a:r>
                <a:endParaRPr lang="en-US" altLang="en-US" sz="2400">
                  <a:latin typeface="Times" pitchFamily="2" charset="0"/>
                </a:endParaRPr>
              </a:p>
            </p:txBody>
          </p:sp>
          <p:sp>
            <p:nvSpPr>
              <p:cNvPr id="22" name="AutoShape 20">
                <a:extLst>
                  <a:ext uri="{FF2B5EF4-FFF2-40B4-BE49-F238E27FC236}">
                    <a16:creationId xmlns:a16="http://schemas.microsoft.com/office/drawing/2014/main" id="{001E6B5F-F11C-7A41-93F4-630F8759B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5</a:t>
                </a:r>
                <a:endParaRPr lang="en-US" altLang="en-US" sz="2400">
                  <a:latin typeface="Times" pitchFamily="2" charset="0"/>
                </a:endParaRPr>
              </a:p>
            </p:txBody>
          </p:sp>
          <p:sp>
            <p:nvSpPr>
              <p:cNvPr id="23" name="AutoShape 21">
                <a:extLst>
                  <a:ext uri="{FF2B5EF4-FFF2-40B4-BE49-F238E27FC236}">
                    <a16:creationId xmlns:a16="http://schemas.microsoft.com/office/drawing/2014/main" id="{CFF4CFCB-82E6-3D44-BE57-47867E767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4</a:t>
                </a:r>
                <a:endParaRPr lang="en-US" altLang="en-US" sz="2400">
                  <a:latin typeface="Times" pitchFamily="2" charset="0"/>
                </a:endParaRPr>
              </a:p>
            </p:txBody>
          </p:sp>
        </p:grpSp>
        <p:sp>
          <p:nvSpPr>
            <p:cNvPr id="17" name="Line 22">
              <a:extLst>
                <a:ext uri="{FF2B5EF4-FFF2-40B4-BE49-F238E27FC236}">
                  <a16:creationId xmlns:a16="http://schemas.microsoft.com/office/drawing/2014/main" id="{2FD32535-B734-4944-94ED-E446286A2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C60DB8DD-6E99-BD42-AD54-44F72EC4D7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1392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Line 24">
            <a:extLst>
              <a:ext uri="{FF2B5EF4-FFF2-40B4-BE49-F238E27FC236}">
                <a16:creationId xmlns:a16="http://schemas.microsoft.com/office/drawing/2014/main" id="{9DAC59BB-37F0-FE46-825A-6CB5CC89882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31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7924EA14-138E-1D43-8806-C6ECB37ECCC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779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0F51B946-A9E5-FF4C-8AB2-77AFAEF5992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9827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Line 27">
            <a:extLst>
              <a:ext uri="{FF2B5EF4-FFF2-40B4-BE49-F238E27FC236}">
                <a16:creationId xmlns:a16="http://schemas.microsoft.com/office/drawing/2014/main" id="{ADABE4B8-6012-574C-A81B-98BC3DB922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7588" y="30480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A59D6E4-A03C-5641-BEAB-C69621B18457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048000"/>
            <a:ext cx="1525588" cy="838200"/>
            <a:chOff x="576" y="1920"/>
            <a:chExt cx="961" cy="528"/>
          </a:xfrm>
        </p:grpSpPr>
        <p:grpSp>
          <p:nvGrpSpPr>
            <p:cNvPr id="29" name="Group 29">
              <a:extLst>
                <a:ext uri="{FF2B5EF4-FFF2-40B4-BE49-F238E27FC236}">
                  <a16:creationId xmlns:a16="http://schemas.microsoft.com/office/drawing/2014/main" id="{562D1265-7CD1-8247-B475-C167C9D30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255"/>
              <a:ext cx="961" cy="193"/>
              <a:chOff x="575" y="1197"/>
              <a:chExt cx="961" cy="193"/>
            </a:xfrm>
          </p:grpSpPr>
          <p:sp>
            <p:nvSpPr>
              <p:cNvPr id="32" name="AutoShape 30">
                <a:extLst>
                  <a:ext uri="{FF2B5EF4-FFF2-40B4-BE49-F238E27FC236}">
                    <a16:creationId xmlns:a16="http://schemas.microsoft.com/office/drawing/2014/main" id="{D38966EE-A93D-674F-B3E3-44DC38948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2</a:t>
                </a:r>
              </a:p>
            </p:txBody>
          </p:sp>
          <p:sp>
            <p:nvSpPr>
              <p:cNvPr id="33" name="AutoShape 31">
                <a:extLst>
                  <a:ext uri="{FF2B5EF4-FFF2-40B4-BE49-F238E27FC236}">
                    <a16:creationId xmlns:a16="http://schemas.microsoft.com/office/drawing/2014/main" id="{0CAEE90C-EA4D-2948-987C-422DA38C9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4</a:t>
                </a:r>
              </a:p>
            </p:txBody>
          </p:sp>
          <p:sp>
            <p:nvSpPr>
              <p:cNvPr id="34" name="AutoShape 32">
                <a:extLst>
                  <a:ext uri="{FF2B5EF4-FFF2-40B4-BE49-F238E27FC236}">
                    <a16:creationId xmlns:a16="http://schemas.microsoft.com/office/drawing/2014/main" id="{6C59C463-3F11-6841-AEA1-61C741F8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2"/>
                    </a:solidFill>
                    <a:latin typeface="Trebuchet MS" panose="020B0703020202090204" pitchFamily="34" charset="0"/>
                  </a:rPr>
                  <a:t>8</a:t>
                </a:r>
              </a:p>
            </p:txBody>
          </p:sp>
          <p:sp>
            <p:nvSpPr>
              <p:cNvPr id="35" name="AutoShape 33">
                <a:extLst>
                  <a:ext uri="{FF2B5EF4-FFF2-40B4-BE49-F238E27FC236}">
                    <a16:creationId xmlns:a16="http://schemas.microsoft.com/office/drawing/2014/main" id="{EF7489E5-54FA-7740-9C97-288F9B916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5</a:t>
                </a:r>
                <a:endParaRPr lang="en-US" altLang="en-US" sz="2400">
                  <a:latin typeface="Times" pitchFamily="2" charset="0"/>
                </a:endParaRPr>
              </a:p>
            </p:txBody>
          </p:sp>
          <p:sp>
            <p:nvSpPr>
              <p:cNvPr id="36" name="AutoShape 34">
                <a:extLst>
                  <a:ext uri="{FF2B5EF4-FFF2-40B4-BE49-F238E27FC236}">
                    <a16:creationId xmlns:a16="http://schemas.microsoft.com/office/drawing/2014/main" id="{A276B00F-091B-7F48-AC22-536F66D8F3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7</a:t>
                </a:r>
                <a:endParaRPr lang="en-US" altLang="en-US" sz="2400">
                  <a:latin typeface="Times" pitchFamily="2" charset="0"/>
                </a:endParaRPr>
              </a:p>
            </p:txBody>
          </p:sp>
        </p:grpSp>
        <p:sp>
          <p:nvSpPr>
            <p:cNvPr id="30" name="Line 35">
              <a:extLst>
                <a:ext uri="{FF2B5EF4-FFF2-40B4-BE49-F238E27FC236}">
                  <a16:creationId xmlns:a16="http://schemas.microsoft.com/office/drawing/2014/main" id="{B9FDF840-49E1-C44F-9998-9EFB304DE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36">
              <a:extLst>
                <a:ext uri="{FF2B5EF4-FFF2-40B4-BE49-F238E27FC236}">
                  <a16:creationId xmlns:a16="http://schemas.microsoft.com/office/drawing/2014/main" id="{C6F84001-BD38-F944-8D27-F4179344A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920"/>
              <a:ext cx="576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7" name="Line 37">
            <a:extLst>
              <a:ext uri="{FF2B5EF4-FFF2-40B4-BE49-F238E27FC236}">
                <a16:creationId xmlns:a16="http://schemas.microsoft.com/office/drawing/2014/main" id="{56514BAB-7003-F94C-A828-10CD600B02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804E92FF-CE4B-C04D-8AB7-4FE556112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39">
            <a:extLst>
              <a:ext uri="{FF2B5EF4-FFF2-40B4-BE49-F238E27FC236}">
                <a16:creationId xmlns:a16="http://schemas.microsoft.com/office/drawing/2014/main" id="{B978003F-7927-CB46-B811-7CDC795FB3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38862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0" name="Group 40">
            <a:extLst>
              <a:ext uri="{FF2B5EF4-FFF2-40B4-BE49-F238E27FC236}">
                <a16:creationId xmlns:a16="http://schemas.microsoft.com/office/drawing/2014/main" id="{E99858E7-A7DA-024F-9E6C-C21D64FA059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3886200"/>
            <a:ext cx="1525588" cy="838200"/>
            <a:chOff x="576" y="2448"/>
            <a:chExt cx="961" cy="528"/>
          </a:xfrm>
        </p:grpSpPr>
        <p:grpSp>
          <p:nvGrpSpPr>
            <p:cNvPr id="41" name="Group 41">
              <a:extLst>
                <a:ext uri="{FF2B5EF4-FFF2-40B4-BE49-F238E27FC236}">
                  <a16:creationId xmlns:a16="http://schemas.microsoft.com/office/drawing/2014/main" id="{B8002B69-64AC-3C44-82B4-F8964B639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2783"/>
              <a:ext cx="961" cy="193"/>
              <a:chOff x="575" y="1197"/>
              <a:chExt cx="961" cy="193"/>
            </a:xfrm>
          </p:grpSpPr>
          <p:sp>
            <p:nvSpPr>
              <p:cNvPr id="44" name="AutoShape 42">
                <a:extLst>
                  <a:ext uri="{FF2B5EF4-FFF2-40B4-BE49-F238E27FC236}">
                    <a16:creationId xmlns:a16="http://schemas.microsoft.com/office/drawing/2014/main" id="{7FD0DDC3-047F-5443-9BC0-BFB2867501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2</a:t>
                </a:r>
              </a:p>
            </p:txBody>
          </p:sp>
          <p:sp>
            <p:nvSpPr>
              <p:cNvPr id="45" name="AutoShape 43">
                <a:extLst>
                  <a:ext uri="{FF2B5EF4-FFF2-40B4-BE49-F238E27FC236}">
                    <a16:creationId xmlns:a16="http://schemas.microsoft.com/office/drawing/2014/main" id="{C5B3192D-101C-4A44-8A1E-7B0B88B30C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4</a:t>
                </a:r>
              </a:p>
            </p:txBody>
          </p:sp>
          <p:sp>
            <p:nvSpPr>
              <p:cNvPr id="46" name="AutoShape 44">
                <a:extLst>
                  <a:ext uri="{FF2B5EF4-FFF2-40B4-BE49-F238E27FC236}">
                    <a16:creationId xmlns:a16="http://schemas.microsoft.com/office/drawing/2014/main" id="{1D45EF7C-12FF-2244-9BB6-5853DDFD49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5</a:t>
                </a:r>
              </a:p>
            </p:txBody>
          </p:sp>
          <p:sp>
            <p:nvSpPr>
              <p:cNvPr id="47" name="AutoShape 45">
                <a:extLst>
                  <a:ext uri="{FF2B5EF4-FFF2-40B4-BE49-F238E27FC236}">
                    <a16:creationId xmlns:a16="http://schemas.microsoft.com/office/drawing/2014/main" id="{2063E7A6-71F9-2F48-AE59-2FAA2700B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2"/>
                    </a:solidFill>
                    <a:latin typeface="Trebuchet MS" panose="020B0703020202090204" pitchFamily="34" charset="0"/>
                  </a:rPr>
                  <a:t>8</a:t>
                </a:r>
              </a:p>
            </p:txBody>
          </p:sp>
          <p:sp>
            <p:nvSpPr>
              <p:cNvPr id="48" name="AutoShape 46">
                <a:extLst>
                  <a:ext uri="{FF2B5EF4-FFF2-40B4-BE49-F238E27FC236}">
                    <a16:creationId xmlns:a16="http://schemas.microsoft.com/office/drawing/2014/main" id="{BFBCEA7B-2F3A-C44B-AEDC-D815A9729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latin typeface="Trebuchet MS" panose="020B0703020202090204" pitchFamily="34" charset="0"/>
                  </a:rPr>
                  <a:t>7</a:t>
                </a:r>
                <a:endParaRPr lang="en-US" altLang="en-US" sz="2400">
                  <a:latin typeface="Times" pitchFamily="2" charset="0"/>
                </a:endParaRPr>
              </a:p>
            </p:txBody>
          </p:sp>
        </p:grpSp>
        <p:sp>
          <p:nvSpPr>
            <p:cNvPr id="42" name="Line 47">
              <a:extLst>
                <a:ext uri="{FF2B5EF4-FFF2-40B4-BE49-F238E27FC236}">
                  <a16:creationId xmlns:a16="http://schemas.microsoft.com/office/drawing/2014/main" id="{911207AF-6FEF-6749-8558-D5D03CC39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Line 48">
              <a:extLst>
                <a:ext uri="{FF2B5EF4-FFF2-40B4-BE49-F238E27FC236}">
                  <a16:creationId xmlns:a16="http://schemas.microsoft.com/office/drawing/2014/main" id="{9EEEDBF8-9C93-EB48-BB21-3589A33AD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448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9" name="Group 49">
            <a:extLst>
              <a:ext uri="{FF2B5EF4-FFF2-40B4-BE49-F238E27FC236}">
                <a16:creationId xmlns:a16="http://schemas.microsoft.com/office/drawing/2014/main" id="{A6F77C56-572F-D641-A69D-C4B13E46B91A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724400"/>
            <a:ext cx="1525588" cy="838200"/>
            <a:chOff x="576" y="2976"/>
            <a:chExt cx="961" cy="528"/>
          </a:xfrm>
        </p:grpSpPr>
        <p:grpSp>
          <p:nvGrpSpPr>
            <p:cNvPr id="50" name="Group 50">
              <a:extLst>
                <a:ext uri="{FF2B5EF4-FFF2-40B4-BE49-F238E27FC236}">
                  <a16:creationId xmlns:a16="http://schemas.microsoft.com/office/drawing/2014/main" id="{53344A28-DECD-1A4C-AE84-FA7CD2C25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311"/>
              <a:ext cx="961" cy="193"/>
              <a:chOff x="575" y="1197"/>
              <a:chExt cx="961" cy="193"/>
            </a:xfrm>
          </p:grpSpPr>
          <p:sp>
            <p:nvSpPr>
              <p:cNvPr id="53" name="AutoShape 51">
                <a:extLst>
                  <a:ext uri="{FF2B5EF4-FFF2-40B4-BE49-F238E27FC236}">
                    <a16:creationId xmlns:a16="http://schemas.microsoft.com/office/drawing/2014/main" id="{A6A45E5D-C160-5B4B-9C5A-A5582D7B8C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5" y="1197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2</a:t>
                </a:r>
              </a:p>
            </p:txBody>
          </p:sp>
          <p:sp>
            <p:nvSpPr>
              <p:cNvPr id="54" name="AutoShape 52">
                <a:extLst>
                  <a:ext uri="{FF2B5EF4-FFF2-40B4-BE49-F238E27FC236}">
                    <a16:creationId xmlns:a16="http://schemas.microsoft.com/office/drawing/2014/main" id="{5C38CB97-BAFD-424B-9545-95074629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7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4</a:t>
                </a:r>
              </a:p>
            </p:txBody>
          </p:sp>
          <p:sp>
            <p:nvSpPr>
              <p:cNvPr id="55" name="AutoShape 53">
                <a:extLst>
                  <a:ext uri="{FF2B5EF4-FFF2-40B4-BE49-F238E27FC236}">
                    <a16:creationId xmlns:a16="http://schemas.microsoft.com/office/drawing/2014/main" id="{76B4B336-71E5-C648-88A0-BA103D99A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9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5</a:t>
                </a:r>
              </a:p>
            </p:txBody>
          </p:sp>
          <p:sp>
            <p:nvSpPr>
              <p:cNvPr id="56" name="AutoShape 54">
                <a:extLst>
                  <a:ext uri="{FF2B5EF4-FFF2-40B4-BE49-F238E27FC236}">
                    <a16:creationId xmlns:a16="http://schemas.microsoft.com/office/drawing/2014/main" id="{5837DB56-7D2E-6F4D-8D84-760A53F7F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1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accent1"/>
                    </a:solidFill>
                    <a:latin typeface="Trebuchet MS" panose="020B0703020202090204" pitchFamily="34" charset="0"/>
                  </a:rPr>
                  <a:t>7</a:t>
                </a:r>
              </a:p>
            </p:txBody>
          </p:sp>
          <p:sp>
            <p:nvSpPr>
              <p:cNvPr id="57" name="AutoShape 55">
                <a:extLst>
                  <a:ext uri="{FF2B5EF4-FFF2-40B4-BE49-F238E27FC236}">
                    <a16:creationId xmlns:a16="http://schemas.microsoft.com/office/drawing/2014/main" id="{34C6160F-D753-F148-BCE0-45EDD8AD6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3" y="1200"/>
                <a:ext cx="193" cy="190"/>
              </a:xfrm>
              <a:prstGeom prst="flowChartProcess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/>
                <a:r>
                  <a:rPr lang="en-US" altLang="en-US" sz="2400">
                    <a:solidFill>
                      <a:schemeClr val="tx2"/>
                    </a:solidFill>
                    <a:latin typeface="Trebuchet MS" panose="020B0703020202090204" pitchFamily="34" charset="0"/>
                  </a:rPr>
                  <a:t>8</a:t>
                </a:r>
              </a:p>
            </p:txBody>
          </p:sp>
        </p:grpSp>
        <p:sp>
          <p:nvSpPr>
            <p:cNvPr id="51" name="Line 56">
              <a:extLst>
                <a:ext uri="{FF2B5EF4-FFF2-40B4-BE49-F238E27FC236}">
                  <a16:creationId xmlns:a16="http://schemas.microsoft.com/office/drawing/2014/main" id="{862B71E0-E201-994B-920C-D85CC6CF5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Line 57">
              <a:extLst>
                <a:ext uri="{FF2B5EF4-FFF2-40B4-BE49-F238E27FC236}">
                  <a16:creationId xmlns:a16="http://schemas.microsoft.com/office/drawing/2014/main" id="{01632CA2-AD79-4C48-9FC1-AC845F10F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2976"/>
              <a:ext cx="192" cy="33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8" name="Line 58">
            <a:extLst>
              <a:ext uri="{FF2B5EF4-FFF2-40B4-BE49-F238E27FC236}">
                <a16:creationId xmlns:a16="http://schemas.microsoft.com/office/drawing/2014/main" id="{8967D9C7-05CF-C745-BD0F-A816A28179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59">
            <a:extLst>
              <a:ext uri="{FF2B5EF4-FFF2-40B4-BE49-F238E27FC236}">
                <a16:creationId xmlns:a16="http://schemas.microsoft.com/office/drawing/2014/main" id="{B8A758D5-D887-8B4F-9B47-38E910C63B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4724400"/>
            <a:ext cx="0" cy="304800"/>
          </a:xfrm>
          <a:prstGeom prst="line">
            <a:avLst/>
          </a:prstGeom>
          <a:noFill/>
          <a:ln w="15875">
            <a:solidFill>
              <a:schemeClr val="accent2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2">
            <a:extLst>
              <a:ext uri="{FF2B5EF4-FFF2-40B4-BE49-F238E27FC236}">
                <a16:creationId xmlns:a16="http://schemas.microsoft.com/office/drawing/2014/main" id="{CD065C4E-F0D0-C54E-B09B-575BFE7CE80A}"/>
              </a:ext>
            </a:extLst>
          </p:cNvPr>
          <p:cNvSpPr txBox="1">
            <a:spLocks/>
          </p:cNvSpPr>
          <p:nvPr/>
        </p:nvSpPr>
        <p:spPr bwMode="auto">
          <a:xfrm>
            <a:off x="386575" y="-168275"/>
            <a:ext cx="7239000" cy="1143000"/>
          </a:xfrm>
          <a:prstGeom prst="rect">
            <a:avLst/>
          </a:prstGeom>
          <a:noFill/>
        </p:spPr>
        <p:txBody>
          <a:bodyPr lIns="45720" tIns="0" rIns="45720" bIns="0" anchor="b">
            <a:normAutofit/>
          </a:bodyPr>
          <a:lstStyle/>
          <a:p>
            <a:pPr eaLnBrk="0" hangingPunct="0">
              <a:defRPr/>
            </a:pPr>
            <a:r>
              <a:rPr lang="en-US" sz="3800" b="1" dirty="0">
                <a:latin typeface="Trebuchet MS" pitchFamily="34" charset="0"/>
                <a:ea typeface="+mj-ea"/>
                <a:cs typeface="+mj-cs"/>
              </a:rPr>
              <a:t>Selection Sort - Example</a:t>
            </a:r>
          </a:p>
        </p:txBody>
      </p:sp>
      <p:sp>
        <p:nvSpPr>
          <p:cNvPr id="61" name="Rectangle 23">
            <a:extLst>
              <a:ext uri="{FF2B5EF4-FFF2-40B4-BE49-F238E27FC236}">
                <a16:creationId xmlns:a16="http://schemas.microsoft.com/office/drawing/2014/main" id="{FCAA8DB7-2418-2448-AA8B-58DE8AE2D09A}"/>
              </a:ext>
            </a:extLst>
          </p:cNvPr>
          <p:cNvSpPr>
            <a:spLocks/>
          </p:cNvSpPr>
          <p:nvPr/>
        </p:nvSpPr>
        <p:spPr bwMode="auto">
          <a:xfrm>
            <a:off x="3200400" y="3429000"/>
            <a:ext cx="49530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62" name="Footer Placeholder 61">
            <a:extLst>
              <a:ext uri="{FF2B5EF4-FFF2-40B4-BE49-F238E27FC236}">
                <a16:creationId xmlns:a16="http://schemas.microsoft.com/office/drawing/2014/main" id="{4CCD898D-BD9F-6441-9FBB-9358AD5E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65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4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C3F12B-0CB1-824B-AA09-50150BCE5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8F3A8-9EDD-314D-8DF5-0DB1F52C0479}"/>
              </a:ext>
            </a:extLst>
          </p:cNvPr>
          <p:cNvSpPr txBox="1">
            <a:spLocks/>
          </p:cNvSpPr>
          <p:nvPr/>
        </p:nvSpPr>
        <p:spPr bwMode="auto">
          <a:xfrm>
            <a:off x="457200" y="15875"/>
            <a:ext cx="7239000" cy="669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>
                <a:latin typeface="Trebuchet MS" panose="020B0703020202090204" pitchFamily="34" charset="0"/>
              </a:rPr>
              <a:t>Selection</a:t>
            </a:r>
            <a:r>
              <a:rPr lang="en-US" altLang="en-US" sz="3400">
                <a:latin typeface="Trebuchet MS" panose="020B0703020202090204" pitchFamily="34" charset="0"/>
              </a:rPr>
              <a:t> Sort Example 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BD7572F7-4CDB-304F-92B6-D58C4A580EA7}"/>
              </a:ext>
            </a:extLst>
          </p:cNvPr>
          <p:cNvGraphicFramePr>
            <a:graphicFrameLocks/>
          </p:cNvGraphicFramePr>
          <p:nvPr/>
        </p:nvGraphicFramePr>
        <p:xfrm>
          <a:off x="781050" y="86677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23">
            <a:extLst>
              <a:ext uri="{FF2B5EF4-FFF2-40B4-BE49-F238E27FC236}">
                <a16:creationId xmlns:a16="http://schemas.microsoft.com/office/drawing/2014/main" id="{460E845A-6370-9D47-BD01-8F3D069C3DE1}"/>
              </a:ext>
            </a:extLst>
          </p:cNvPr>
          <p:cNvSpPr>
            <a:spLocks/>
          </p:cNvSpPr>
          <p:nvPr/>
        </p:nvSpPr>
        <p:spPr bwMode="auto">
          <a:xfrm>
            <a:off x="304800" y="4010025"/>
            <a:ext cx="5791200" cy="2819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=0,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20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++){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;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20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2000" dirty="0">
                <a:latin typeface="Times New Roman" pitchFamily="18" charset="0"/>
                <a:cs typeface="Arial" charset="0"/>
              </a:rPr>
              <a:t> (</a:t>
            </a:r>
            <a:r>
              <a:rPr lang="en-US" sz="20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2000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20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2000" dirty="0">
                <a:latin typeface="Times New Roman" pitchFamily="18" charset="0"/>
                <a:cs typeface="Arial" charset="0"/>
              </a:rPr>
              <a:t>, 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2000" dirty="0">
                <a:latin typeface="Times New Roman" pitchFamily="18" charset="0"/>
                <a:cs typeface="Arial" charset="0"/>
              </a:rPr>
              <a:t>){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20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2000" dirty="0">
                <a:latin typeface="Times New Roman" pitchFamily="18" charset="0"/>
                <a:cs typeface="Arial" charset="0"/>
              </a:rPr>
              <a:t>[min]){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>
              <a:defRPr/>
            </a:pP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20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20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2000" dirty="0">
                <a:latin typeface="Times New Roman" pitchFamily="18" charset="0"/>
                <a:cs typeface="Arial" charset="0"/>
              </a:rPr>
              <a:t>,</a:t>
            </a:r>
            <a:r>
              <a:rPr lang="en-US" sz="20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2000" dirty="0">
                <a:latin typeface="Times New Roman" pitchFamily="18" charset="0"/>
                <a:cs typeface="Arial" charset="0"/>
              </a:rPr>
              <a:t>min)    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2000" dirty="0">
                <a:latin typeface="Times New Roman" pitchFamily="18" charset="0"/>
                <a:cs typeface="Arial" charset="0"/>
              </a:rPr>
              <a:t>  }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20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  <a:p>
            <a: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20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DABDB8C1-0A83-E540-A069-73EC50B79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866775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7" name="Text Box 183">
            <a:extLst>
              <a:ext uri="{FF2B5EF4-FFF2-40B4-BE49-F238E27FC236}">
                <a16:creationId xmlns:a16="http://schemas.microsoft.com/office/drawing/2014/main" id="{F50A1747-FAFB-4E4D-A8C7-D197F8F50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313" y="6858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1794A1-55FB-9E4A-BFCB-C61F7D616638}"/>
              </a:ext>
            </a:extLst>
          </p:cNvPr>
          <p:cNvSpPr/>
          <p:nvPr/>
        </p:nvSpPr>
        <p:spPr>
          <a:xfrm>
            <a:off x="8112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1D6ABE-FE2B-F04C-994E-DF7F7CA4A7C1}"/>
              </a:ext>
            </a:extLst>
          </p:cNvPr>
          <p:cNvSpPr/>
          <p:nvPr/>
        </p:nvSpPr>
        <p:spPr>
          <a:xfrm>
            <a:off x="1547813" y="89217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C6D12F-9979-1640-B7BC-4CB54ED0EA15}"/>
              </a:ext>
            </a:extLst>
          </p:cNvPr>
          <p:cNvSpPr/>
          <p:nvPr/>
        </p:nvSpPr>
        <p:spPr>
          <a:xfrm>
            <a:off x="22701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FD65DC-47C7-684A-86CD-24CCFE502424}"/>
              </a:ext>
            </a:extLst>
          </p:cNvPr>
          <p:cNvSpPr/>
          <p:nvPr/>
        </p:nvSpPr>
        <p:spPr>
          <a:xfrm>
            <a:off x="30067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802F9B-1C6F-7342-BD9C-85D66D57C16D}"/>
              </a:ext>
            </a:extLst>
          </p:cNvPr>
          <p:cNvSpPr/>
          <p:nvPr/>
        </p:nvSpPr>
        <p:spPr>
          <a:xfrm>
            <a:off x="3757613" y="90011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9943C0-A86B-C54D-A151-E96154D39B97}"/>
              </a:ext>
            </a:extLst>
          </p:cNvPr>
          <p:cNvSpPr/>
          <p:nvPr/>
        </p:nvSpPr>
        <p:spPr>
          <a:xfrm>
            <a:off x="4492625" y="89217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98E615-56AE-3C4D-B809-1115DB7C9A62}"/>
              </a:ext>
            </a:extLst>
          </p:cNvPr>
          <p:cNvSpPr/>
          <p:nvPr/>
        </p:nvSpPr>
        <p:spPr>
          <a:xfrm>
            <a:off x="5216525" y="90011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45DFB9-ABC1-5240-8E1B-620192822518}"/>
              </a:ext>
            </a:extLst>
          </p:cNvPr>
          <p:cNvSpPr/>
          <p:nvPr/>
        </p:nvSpPr>
        <p:spPr>
          <a:xfrm>
            <a:off x="5953125" y="89217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" name="Text Box 183">
            <a:extLst>
              <a:ext uri="{FF2B5EF4-FFF2-40B4-BE49-F238E27FC236}">
                <a16:creationId xmlns:a16="http://schemas.microsoft.com/office/drawing/2014/main" id="{8619C021-CD9B-F840-8318-C273CF27C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52538"/>
            <a:ext cx="12461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62</a:t>
            </a:r>
          </a:p>
        </p:txBody>
      </p:sp>
      <p:sp>
        <p:nvSpPr>
          <p:cNvPr id="17" name="Text Box 183">
            <a:extLst>
              <a:ext uri="{FF2B5EF4-FFF2-40B4-BE49-F238E27FC236}">
                <a16:creationId xmlns:a16="http://schemas.microsoft.com/office/drawing/2014/main" id="{0E8EE3C5-DFD8-764D-90F3-1C73CF2A9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18" name="Text Box 183">
            <a:extLst>
              <a:ext uri="{FF2B5EF4-FFF2-40B4-BE49-F238E27FC236}">
                <a16:creationId xmlns:a16="http://schemas.microsoft.com/office/drawing/2014/main" id="{2702A394-7FFD-924D-B51E-226A614873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8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19" name="Text Box 183">
            <a:extLst>
              <a:ext uri="{FF2B5EF4-FFF2-40B4-BE49-F238E27FC236}">
                <a16:creationId xmlns:a16="http://schemas.microsoft.com/office/drawing/2014/main" id="{65CCBC8B-4764-4940-BEDB-F9515016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48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0" name="Text Box 183">
            <a:extLst>
              <a:ext uri="{FF2B5EF4-FFF2-40B4-BE49-F238E27FC236}">
                <a16:creationId xmlns:a16="http://schemas.microsoft.com/office/drawing/2014/main" id="{5B73DB33-ED3C-FB49-9919-96EC81787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1252538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1" name="Text Box 183">
            <a:extLst>
              <a:ext uri="{FF2B5EF4-FFF2-40B4-BE49-F238E27FC236}">
                <a16:creationId xmlns:a16="http://schemas.microsoft.com/office/drawing/2014/main" id="{88A1856C-76FD-664D-88FE-0E5EDE7CC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88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22" name="Text Box 183">
            <a:extLst>
              <a:ext uri="{FF2B5EF4-FFF2-40B4-BE49-F238E27FC236}">
                <a16:creationId xmlns:a16="http://schemas.microsoft.com/office/drawing/2014/main" id="{49078512-1402-B34A-88F0-660C2D85CC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663" y="1252538"/>
            <a:ext cx="12477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sp>
        <p:nvSpPr>
          <p:cNvPr id="23" name="Text Box 183">
            <a:extLst>
              <a:ext uri="{FF2B5EF4-FFF2-40B4-BE49-F238E27FC236}">
                <a16:creationId xmlns:a16="http://schemas.microsoft.com/office/drawing/2014/main" id="{2930B1D1-5571-2F45-8504-05385A29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6613" y="1247775"/>
            <a:ext cx="12461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6</a:t>
            </a:r>
          </a:p>
        </p:txBody>
      </p:sp>
      <p:graphicFrame>
        <p:nvGraphicFramePr>
          <p:cNvPr id="24" name="Group 3">
            <a:extLst>
              <a:ext uri="{FF2B5EF4-FFF2-40B4-BE49-F238E27FC236}">
                <a16:creationId xmlns:a16="http://schemas.microsoft.com/office/drawing/2014/main" id="{B901DDEE-D710-2749-839C-47121C895BC1}"/>
              </a:ext>
            </a:extLst>
          </p:cNvPr>
          <p:cNvGraphicFramePr>
            <a:graphicFrameLocks/>
          </p:cNvGraphicFramePr>
          <p:nvPr/>
        </p:nvGraphicFramePr>
        <p:xfrm>
          <a:off x="762000" y="16430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Text Box 24">
            <a:extLst>
              <a:ext uri="{FF2B5EF4-FFF2-40B4-BE49-F238E27FC236}">
                <a16:creationId xmlns:a16="http://schemas.microsoft.com/office/drawing/2014/main" id="{E9866299-FB52-2A4D-8178-FFC344506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643063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26" name="Text Box 183">
            <a:extLst>
              <a:ext uri="{FF2B5EF4-FFF2-40B4-BE49-F238E27FC236}">
                <a16:creationId xmlns:a16="http://schemas.microsoft.com/office/drawing/2014/main" id="{D14DBC1E-6D86-EF4F-9DEF-F789DCB80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3688" y="14986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min = 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6D09B1-E23F-AD40-94EE-85C64ABC36EB}"/>
              </a:ext>
            </a:extLst>
          </p:cNvPr>
          <p:cNvSpPr/>
          <p:nvPr/>
        </p:nvSpPr>
        <p:spPr>
          <a:xfrm>
            <a:off x="15557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5D7FB1-F8B9-9D49-9870-5E759CC8499D}"/>
              </a:ext>
            </a:extLst>
          </p:cNvPr>
          <p:cNvSpPr/>
          <p:nvPr/>
        </p:nvSpPr>
        <p:spPr>
          <a:xfrm>
            <a:off x="22796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CF686-8C87-444F-B5EC-E86F0A7254B3}"/>
              </a:ext>
            </a:extLst>
          </p:cNvPr>
          <p:cNvSpPr/>
          <p:nvPr/>
        </p:nvSpPr>
        <p:spPr>
          <a:xfrm>
            <a:off x="3014663" y="16684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185A26-81E9-0B4E-A101-6028789D2F39}"/>
              </a:ext>
            </a:extLst>
          </p:cNvPr>
          <p:cNvSpPr/>
          <p:nvPr/>
        </p:nvSpPr>
        <p:spPr>
          <a:xfrm>
            <a:off x="3765550" y="16764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43C087-1C19-CD45-BB18-EE76F87D62E7}"/>
              </a:ext>
            </a:extLst>
          </p:cNvPr>
          <p:cNvSpPr/>
          <p:nvPr/>
        </p:nvSpPr>
        <p:spPr>
          <a:xfrm>
            <a:off x="4502150" y="16684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F34003C-07C2-4649-BEAE-1F62F73819BC}"/>
              </a:ext>
            </a:extLst>
          </p:cNvPr>
          <p:cNvSpPr/>
          <p:nvPr/>
        </p:nvSpPr>
        <p:spPr>
          <a:xfrm>
            <a:off x="5224463" y="16764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176CD2F-C758-134D-8B7C-D66B4B1E694E}"/>
              </a:ext>
            </a:extLst>
          </p:cNvPr>
          <p:cNvSpPr/>
          <p:nvPr/>
        </p:nvSpPr>
        <p:spPr>
          <a:xfrm>
            <a:off x="5961063" y="16684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Text Box 183">
            <a:extLst>
              <a:ext uri="{FF2B5EF4-FFF2-40B4-BE49-F238E27FC236}">
                <a16:creationId xmlns:a16="http://schemas.microsoft.com/office/drawing/2014/main" id="{8F6E5118-5ACD-994D-95A4-B8C23608B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35" name="Text Box 183">
            <a:extLst>
              <a:ext uri="{FF2B5EF4-FFF2-40B4-BE49-F238E27FC236}">
                <a16:creationId xmlns:a16="http://schemas.microsoft.com/office/drawing/2014/main" id="{729D1881-41B7-0041-A588-4E56AEA3E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13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36" name="Text Box 183">
            <a:extLst>
              <a:ext uri="{FF2B5EF4-FFF2-40B4-BE49-F238E27FC236}">
                <a16:creationId xmlns:a16="http://schemas.microsoft.com/office/drawing/2014/main" id="{DBE95D2A-324A-D64F-8CE2-687CF3C79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27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7" name="Text Box 183">
            <a:extLst>
              <a:ext uri="{FF2B5EF4-FFF2-40B4-BE49-F238E27FC236}">
                <a16:creationId xmlns:a16="http://schemas.microsoft.com/office/drawing/2014/main" id="{ED63790D-43CC-AB4B-B393-93F9E68E4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7763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8" name="Text Box 183">
            <a:extLst>
              <a:ext uri="{FF2B5EF4-FFF2-40B4-BE49-F238E27FC236}">
                <a16:creationId xmlns:a16="http://schemas.microsoft.com/office/drawing/2014/main" id="{BF6381A9-D4D5-EA45-9113-B68435E56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2022475"/>
            <a:ext cx="12366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39" name="Text Box 183">
            <a:extLst>
              <a:ext uri="{FF2B5EF4-FFF2-40B4-BE49-F238E27FC236}">
                <a16:creationId xmlns:a16="http://schemas.microsoft.com/office/drawing/2014/main" id="{79C5C341-63A8-FC4F-B763-CAB1EA8FB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2028825"/>
            <a:ext cx="12366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sp>
        <p:nvSpPr>
          <p:cNvPr id="40" name="Text Box 183">
            <a:extLst>
              <a:ext uri="{FF2B5EF4-FFF2-40B4-BE49-F238E27FC236}">
                <a16:creationId xmlns:a16="http://schemas.microsoft.com/office/drawing/2014/main" id="{924C6935-A4E4-EA4C-A34B-8746F624C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4550" y="2022475"/>
            <a:ext cx="12382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10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3438B3-6937-F044-8626-8EAAA50D76C1}"/>
              </a:ext>
            </a:extLst>
          </p:cNvPr>
          <p:cNvCxnSpPr/>
          <p:nvPr/>
        </p:nvCxnSpPr>
        <p:spPr>
          <a:xfrm rot="10800000" flipV="1">
            <a:off x="1166813" y="1219200"/>
            <a:ext cx="430053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6FC08AB-460B-6745-81EF-2F7FAC5B4EE6}"/>
              </a:ext>
            </a:extLst>
          </p:cNvPr>
          <p:cNvCxnSpPr>
            <a:endCxn id="32" idx="0"/>
          </p:cNvCxnSpPr>
          <p:nvPr/>
        </p:nvCxnSpPr>
        <p:spPr>
          <a:xfrm rot="16200000" flipH="1">
            <a:off x="3177382" y="-718344"/>
            <a:ext cx="423862" cy="4365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Group 3">
            <a:extLst>
              <a:ext uri="{FF2B5EF4-FFF2-40B4-BE49-F238E27FC236}">
                <a16:creationId xmlns:a16="http://schemas.microsoft.com/office/drawing/2014/main" id="{62558061-E3EE-F14E-A407-40E1CC39087E}"/>
              </a:ext>
            </a:extLst>
          </p:cNvPr>
          <p:cNvGraphicFramePr>
            <a:graphicFrameLocks/>
          </p:cNvGraphicFramePr>
          <p:nvPr/>
        </p:nvGraphicFramePr>
        <p:xfrm>
          <a:off x="777875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Text Box 24">
            <a:extLst>
              <a:ext uri="{FF2B5EF4-FFF2-40B4-BE49-F238E27FC236}">
                <a16:creationId xmlns:a16="http://schemas.microsoft.com/office/drawing/2014/main" id="{61F44686-596C-D148-BB1D-695FAE7F3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45" name="Text Box 183">
            <a:extLst>
              <a:ext uri="{FF2B5EF4-FFF2-40B4-BE49-F238E27FC236}">
                <a16:creationId xmlns:a16="http://schemas.microsoft.com/office/drawing/2014/main" id="{BA42B5F2-A5A8-9142-A817-AA09F21AB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2263" y="2286000"/>
            <a:ext cx="9858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F68B513-722E-AE47-BD6C-A9119D0C04FB}"/>
              </a:ext>
            </a:extLst>
          </p:cNvPr>
          <p:cNvSpPr/>
          <p:nvPr/>
        </p:nvSpPr>
        <p:spPr>
          <a:xfrm>
            <a:off x="23098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C58F11C-D2DE-B940-971F-05F631F0325C}"/>
              </a:ext>
            </a:extLst>
          </p:cNvPr>
          <p:cNvSpPr/>
          <p:nvPr/>
        </p:nvSpPr>
        <p:spPr>
          <a:xfrm>
            <a:off x="3044825" y="24558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6DA3E74-06ED-734B-88B2-9DBAB8296E0D}"/>
              </a:ext>
            </a:extLst>
          </p:cNvPr>
          <p:cNvSpPr/>
          <p:nvPr/>
        </p:nvSpPr>
        <p:spPr>
          <a:xfrm>
            <a:off x="3795713" y="2463800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4E3065-A249-F940-9CA2-9836BC084CF8}"/>
              </a:ext>
            </a:extLst>
          </p:cNvPr>
          <p:cNvSpPr/>
          <p:nvPr/>
        </p:nvSpPr>
        <p:spPr>
          <a:xfrm>
            <a:off x="453231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AEF84E2-069B-8048-92F9-9786C48FC37D}"/>
              </a:ext>
            </a:extLst>
          </p:cNvPr>
          <p:cNvSpPr/>
          <p:nvPr/>
        </p:nvSpPr>
        <p:spPr>
          <a:xfrm>
            <a:off x="5254625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2D7D6B7-882F-8445-87A9-7F615DAE6B5D}"/>
              </a:ext>
            </a:extLst>
          </p:cNvPr>
          <p:cNvSpPr/>
          <p:nvPr/>
        </p:nvSpPr>
        <p:spPr>
          <a:xfrm>
            <a:off x="5991225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Text Box 183">
            <a:extLst>
              <a:ext uri="{FF2B5EF4-FFF2-40B4-BE49-F238E27FC236}">
                <a16:creationId xmlns:a16="http://schemas.microsoft.com/office/drawing/2014/main" id="{E9C5B0B9-FFDB-7545-A2A2-DEDE53C2F1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15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53" name="Text Box 183">
            <a:extLst>
              <a:ext uri="{FF2B5EF4-FFF2-40B4-BE49-F238E27FC236}">
                <a16:creationId xmlns:a16="http://schemas.microsoft.com/office/drawing/2014/main" id="{C13794C9-0F18-6440-9994-EC6A23E80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29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54" name="Text Box 183">
            <a:extLst>
              <a:ext uri="{FF2B5EF4-FFF2-40B4-BE49-F238E27FC236}">
                <a16:creationId xmlns:a16="http://schemas.microsoft.com/office/drawing/2014/main" id="{D5905638-F6E7-D24E-87DE-543439AAF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7925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55" name="Text Box 183">
            <a:extLst>
              <a:ext uri="{FF2B5EF4-FFF2-40B4-BE49-F238E27FC236}">
                <a16:creationId xmlns:a16="http://schemas.microsoft.com/office/drawing/2014/main" id="{4FEB5B03-3492-5F4D-95C9-2CA9954FB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9288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56" name="Text Box 183">
            <a:extLst>
              <a:ext uri="{FF2B5EF4-FFF2-40B4-BE49-F238E27FC236}">
                <a16:creationId xmlns:a16="http://schemas.microsoft.com/office/drawing/2014/main" id="{CE46A3D5-1A0C-F145-8A6B-521EC7ACA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3350" y="2816225"/>
            <a:ext cx="12080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sp>
        <p:nvSpPr>
          <p:cNvPr id="57" name="Text Box 183">
            <a:extLst>
              <a:ext uri="{FF2B5EF4-FFF2-40B4-BE49-F238E27FC236}">
                <a16:creationId xmlns:a16="http://schemas.microsoft.com/office/drawing/2014/main" id="{DF9CAAED-76F6-C940-A9A3-A462BEE037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3" y="2809875"/>
            <a:ext cx="12080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44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7FDD9DB-4A7A-874C-9535-B20D5DEE0608}"/>
              </a:ext>
            </a:extLst>
          </p:cNvPr>
          <p:cNvCxnSpPr>
            <a:stCxn id="36" idx="0"/>
          </p:cNvCxnSpPr>
          <p:nvPr/>
        </p:nvCxnSpPr>
        <p:spPr>
          <a:xfrm rot="16200000" flipH="1" flipV="1">
            <a:off x="2489994" y="1356519"/>
            <a:ext cx="415925" cy="174783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56F345D-B66F-E547-AFE3-BB9216D9EC09}"/>
              </a:ext>
            </a:extLst>
          </p:cNvPr>
          <p:cNvCxnSpPr>
            <a:endCxn id="47" idx="0"/>
          </p:cNvCxnSpPr>
          <p:nvPr/>
        </p:nvCxnSpPr>
        <p:spPr>
          <a:xfrm>
            <a:off x="1863725" y="2014538"/>
            <a:ext cx="1528763" cy="4413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EF2E88B-0C3C-5149-83C9-F104D57A4E42}"/>
              </a:ext>
            </a:extLst>
          </p:cNvPr>
          <p:cNvCxnSpPr/>
          <p:nvPr/>
        </p:nvCxnSpPr>
        <p:spPr>
          <a:xfrm rot="10800000" flipV="1">
            <a:off x="2619375" y="2819400"/>
            <a:ext cx="2162175" cy="42227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Group 3">
            <a:extLst>
              <a:ext uri="{FF2B5EF4-FFF2-40B4-BE49-F238E27FC236}">
                <a16:creationId xmlns:a16="http://schemas.microsoft.com/office/drawing/2014/main" id="{A5F09EC0-9BD1-7343-96EB-4837E42FF5AE}"/>
              </a:ext>
            </a:extLst>
          </p:cNvPr>
          <p:cNvGraphicFramePr>
            <a:graphicFrameLocks/>
          </p:cNvGraphicFramePr>
          <p:nvPr/>
        </p:nvGraphicFramePr>
        <p:xfrm>
          <a:off x="815975" y="32607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Text Box 24">
            <a:extLst>
              <a:ext uri="{FF2B5EF4-FFF2-40B4-BE49-F238E27FC236}">
                <a16:creationId xmlns:a16="http://schemas.microsoft.com/office/drawing/2014/main" id="{33748AC5-B786-F845-9B42-2956388A2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3260725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63" name="Text Box 183">
            <a:extLst>
              <a:ext uri="{FF2B5EF4-FFF2-40B4-BE49-F238E27FC236}">
                <a16:creationId xmlns:a16="http://schemas.microsoft.com/office/drawing/2014/main" id="{AF82BC7B-D134-9849-AB98-BFB0ACCAA9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5" y="3124200"/>
            <a:ext cx="985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min = 4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2F47D55-B2F7-5948-A194-7C56778F882E}"/>
              </a:ext>
            </a:extLst>
          </p:cNvPr>
          <p:cNvSpPr/>
          <p:nvPr/>
        </p:nvSpPr>
        <p:spPr>
          <a:xfrm>
            <a:off x="3068638" y="3286125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025986-4AEB-1947-AD20-D8A87C252724}"/>
              </a:ext>
            </a:extLst>
          </p:cNvPr>
          <p:cNvSpPr/>
          <p:nvPr/>
        </p:nvSpPr>
        <p:spPr>
          <a:xfrm>
            <a:off x="3819525" y="32940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EA7CEB4-7DC3-5E41-9F45-83A935863973}"/>
              </a:ext>
            </a:extLst>
          </p:cNvPr>
          <p:cNvSpPr/>
          <p:nvPr/>
        </p:nvSpPr>
        <p:spPr>
          <a:xfrm>
            <a:off x="4556125" y="3286125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62CD7F8-E1C1-6149-9AB2-D07860DB67A8}"/>
              </a:ext>
            </a:extLst>
          </p:cNvPr>
          <p:cNvSpPr/>
          <p:nvPr/>
        </p:nvSpPr>
        <p:spPr>
          <a:xfrm>
            <a:off x="5278438" y="3294063"/>
            <a:ext cx="695325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F49D02A-B2C9-F04F-AC72-A86D9CF06B13}"/>
              </a:ext>
            </a:extLst>
          </p:cNvPr>
          <p:cNvSpPr/>
          <p:nvPr/>
        </p:nvSpPr>
        <p:spPr>
          <a:xfrm>
            <a:off x="6015038" y="3286125"/>
            <a:ext cx="693737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Text Box 183">
            <a:extLst>
              <a:ext uri="{FF2B5EF4-FFF2-40B4-BE49-F238E27FC236}">
                <a16:creationId xmlns:a16="http://schemas.microsoft.com/office/drawing/2014/main" id="{BC8A8F1C-64CD-CC41-8175-008A8859B9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67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70" name="Text Box 183">
            <a:extLst>
              <a:ext uri="{FF2B5EF4-FFF2-40B4-BE49-F238E27FC236}">
                <a16:creationId xmlns:a16="http://schemas.microsoft.com/office/drawing/2014/main" id="{FCFD105E-83F1-7D40-BF33-6E9A779E3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8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1" name="Text Box 183">
            <a:extLst>
              <a:ext uri="{FF2B5EF4-FFF2-40B4-BE49-F238E27FC236}">
                <a16:creationId xmlns:a16="http://schemas.microsoft.com/office/drawing/2014/main" id="{B3C86B41-22E3-414F-8633-C4640C310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100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2" name="Text Box 183">
            <a:extLst>
              <a:ext uri="{FF2B5EF4-FFF2-40B4-BE49-F238E27FC236}">
                <a16:creationId xmlns:a16="http://schemas.microsoft.com/office/drawing/2014/main" id="{6F2C97E8-5633-7D43-9782-DFF54A9BB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7163" y="364648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3" name="Text Box 183">
            <a:extLst>
              <a:ext uri="{FF2B5EF4-FFF2-40B4-BE49-F238E27FC236}">
                <a16:creationId xmlns:a16="http://schemas.microsoft.com/office/drawing/2014/main" id="{DF8C1593-BFCE-D246-B493-81FC2809B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8525" y="3640138"/>
            <a:ext cx="11842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45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F3AE365-FAB9-FC46-AE49-B77A168161B4}"/>
              </a:ext>
            </a:extLst>
          </p:cNvPr>
          <p:cNvSpPr/>
          <p:nvPr/>
        </p:nvSpPr>
        <p:spPr>
          <a:xfrm>
            <a:off x="803275" y="91281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18A77C3-29D7-AA48-AFA7-EB4AEF6FD38E}"/>
              </a:ext>
            </a:extLst>
          </p:cNvPr>
          <p:cNvSpPr/>
          <p:nvPr/>
        </p:nvSpPr>
        <p:spPr>
          <a:xfrm>
            <a:off x="1560513" y="17002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B8AF601-8B2F-0946-8751-47578ABC889A}"/>
              </a:ext>
            </a:extLst>
          </p:cNvPr>
          <p:cNvSpPr/>
          <p:nvPr/>
        </p:nvSpPr>
        <p:spPr>
          <a:xfrm>
            <a:off x="2306638" y="247650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41B3474-131D-734F-AEC6-0FD41FB850ED}"/>
              </a:ext>
            </a:extLst>
          </p:cNvPr>
          <p:cNvSpPr/>
          <p:nvPr/>
        </p:nvSpPr>
        <p:spPr>
          <a:xfrm>
            <a:off x="3071813" y="32940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3197541-2165-AE4D-9DA7-2AC8839841F0}"/>
              </a:ext>
            </a:extLst>
          </p:cNvPr>
          <p:cNvSpPr/>
          <p:nvPr/>
        </p:nvSpPr>
        <p:spPr>
          <a:xfrm>
            <a:off x="5230813" y="912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C8281C8-3018-D74C-96A1-E737872BA7E5}"/>
              </a:ext>
            </a:extLst>
          </p:cNvPr>
          <p:cNvSpPr/>
          <p:nvPr/>
        </p:nvSpPr>
        <p:spPr>
          <a:xfrm>
            <a:off x="3021013" y="167481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AF2415E7-FD66-764F-A375-84DC0D5F87F0}"/>
              </a:ext>
            </a:extLst>
          </p:cNvPr>
          <p:cNvSpPr/>
          <p:nvPr/>
        </p:nvSpPr>
        <p:spPr>
          <a:xfrm>
            <a:off x="4545013" y="24701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C8EF44-E5D2-9643-B9BC-3FCC177A6B96}"/>
              </a:ext>
            </a:extLst>
          </p:cNvPr>
          <p:cNvSpPr/>
          <p:nvPr/>
        </p:nvSpPr>
        <p:spPr>
          <a:xfrm>
            <a:off x="3819525" y="32940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3D2DCBB1-EB29-294F-B44B-5A3622003BD2}"/>
              </a:ext>
            </a:extLst>
          </p:cNvPr>
          <p:cNvCxnSpPr/>
          <p:nvPr/>
        </p:nvCxnSpPr>
        <p:spPr>
          <a:xfrm>
            <a:off x="2659063" y="2819400"/>
            <a:ext cx="2122487" cy="4572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Slide Number Placeholder 83">
            <a:extLst>
              <a:ext uri="{FF2B5EF4-FFF2-40B4-BE49-F238E27FC236}">
                <a16:creationId xmlns:a16="http://schemas.microsoft.com/office/drawing/2014/main" id="{08C6C9EC-9FB6-7E45-BB35-87158B65515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93F674B5-A8A1-0C48-A76E-5EC1DBB3498D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85" name="Text Box 183">
            <a:extLst>
              <a:ext uri="{FF2B5EF4-FFF2-40B4-BE49-F238E27FC236}">
                <a16:creationId xmlns:a16="http://schemas.microsoft.com/office/drawing/2014/main" id="{5422DAF7-DC46-BC46-A566-B48BEA5FA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5913" y="1001713"/>
            <a:ext cx="13065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A</a:t>
            </a:r>
            <a:r>
              <a:rPr lang="en-US" altLang="en-US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86" name="Text Box 183">
            <a:extLst>
              <a:ext uri="{FF2B5EF4-FFF2-40B4-BE49-F238E27FC236}">
                <a16:creationId xmlns:a16="http://schemas.microsoft.com/office/drawing/2014/main" id="{2A1FDE07-2184-F940-A533-C85A8D42A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5438" y="1763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A</a:t>
            </a:r>
            <a:r>
              <a:rPr lang="en-US" altLang="en-US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87" name="Text Box 183">
            <a:extLst>
              <a:ext uri="{FF2B5EF4-FFF2-40B4-BE49-F238E27FC236}">
                <a16:creationId xmlns:a16="http://schemas.microsoft.com/office/drawing/2014/main" id="{2BF965CA-16B4-354C-8353-0E666638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2525713"/>
            <a:ext cx="14351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A</a:t>
            </a:r>
            <a:r>
              <a:rPr lang="en-US" altLang="en-US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88" name="Text Box 183">
            <a:extLst>
              <a:ext uri="{FF2B5EF4-FFF2-40B4-BE49-F238E27FC236}">
                <a16:creationId xmlns:a16="http://schemas.microsoft.com/office/drawing/2014/main" id="{C9150239-317E-2444-9057-81487F7E5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371850"/>
            <a:ext cx="1435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A</a:t>
            </a:r>
            <a:r>
              <a:rPr lang="en-US" altLang="en-US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83" name="Footer Placeholder 82">
            <a:extLst>
              <a:ext uri="{FF2B5EF4-FFF2-40B4-BE49-F238E27FC236}">
                <a16:creationId xmlns:a16="http://schemas.microsoft.com/office/drawing/2014/main" id="{710B7BE5-D6F7-5247-8A2C-2E9EE61C8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48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" presetClass="exit" presetSubtype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2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6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0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4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5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8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9" dur="5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0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1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4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5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8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9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2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7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0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1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5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8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9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2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6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0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1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4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5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6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7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0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1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4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5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8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9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2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3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6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7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0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1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4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5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8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9" dur="500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5" grpId="2" animBg="1"/>
      <p:bldP spid="16" grpId="0"/>
      <p:bldP spid="16" grpId="1"/>
      <p:bldP spid="17" grpId="0"/>
      <p:bldP spid="17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/>
      <p:bldP spid="34" grpId="1"/>
      <p:bldP spid="35" grpId="0"/>
      <p:bldP spid="35" grpId="1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/>
      <p:bldP spid="52" grpId="1"/>
      <p:bldP spid="53" grpId="0"/>
      <p:bldP spid="53" grpId="1"/>
      <p:bldP spid="54" grpId="0"/>
      <p:bldP spid="54" grpId="1"/>
      <p:bldP spid="55" grpId="0"/>
      <p:bldP spid="55" grpId="1"/>
      <p:bldP spid="56" grpId="0"/>
      <p:bldP spid="56" grpId="1"/>
      <p:bldP spid="57" grpId="0"/>
      <p:bldP spid="57" grpId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  <p:bldP spid="69" grpId="0"/>
      <p:bldP spid="69" grpId="1"/>
      <p:bldP spid="70" grpId="0"/>
      <p:bldP spid="70" grpId="1"/>
      <p:bldP spid="71" grpId="0"/>
      <p:bldP spid="71" grpId="1"/>
      <p:bldP spid="72" grpId="0"/>
      <p:bldP spid="72" grpId="1"/>
      <p:bldP spid="73" grpId="0"/>
      <p:bldP spid="73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4C8AB3-4A99-1544-AF25-B5F4E8114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1C74B1-5B96-5F4F-AA9D-1253715B902F}"/>
              </a:ext>
            </a:extLst>
          </p:cNvPr>
          <p:cNvSpPr txBox="1">
            <a:spLocks/>
          </p:cNvSpPr>
          <p:nvPr/>
        </p:nvSpPr>
        <p:spPr bwMode="auto">
          <a:xfrm>
            <a:off x="457200" y="15875"/>
            <a:ext cx="7239000" cy="6699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>
                <a:latin typeface="Trebuchet MS" pitchFamily="34" charset="0"/>
              </a:rPr>
              <a:t>Selection</a:t>
            </a:r>
            <a:r>
              <a:rPr lang="en-US" sz="3400">
                <a:latin typeface="Trebuchet MS" pitchFamily="34" charset="0"/>
              </a:rPr>
              <a:t> Sort Example - continued</a:t>
            </a:r>
            <a:endParaRPr lang="en-US" sz="3400" dirty="0">
              <a:latin typeface="Trebuchet MS" pitchFamily="34" charset="0"/>
            </a:endParaRP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2CC6BB66-9B3F-E84E-87F7-598D907BCB06}"/>
              </a:ext>
            </a:extLst>
          </p:cNvPr>
          <p:cNvGraphicFramePr>
            <a:graphicFrameLocks/>
          </p:cNvGraphicFramePr>
          <p:nvPr/>
        </p:nvGraphicFramePr>
        <p:xfrm>
          <a:off x="1009650" y="685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Rectangle 23">
            <a:extLst>
              <a:ext uri="{FF2B5EF4-FFF2-40B4-BE49-F238E27FC236}">
                <a16:creationId xmlns:a16="http://schemas.microsoft.com/office/drawing/2014/main" id="{1F061822-E6C8-2B41-964A-0B4FF5D3FA24}"/>
              </a:ext>
            </a:extLst>
          </p:cNvPr>
          <p:cNvSpPr>
            <a:spLocks/>
          </p:cNvSpPr>
          <p:nvPr/>
        </p:nvSpPr>
        <p:spPr bwMode="auto">
          <a:xfrm>
            <a:off x="304800" y="4724400"/>
            <a:ext cx="7239000" cy="21336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=0,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 </a:t>
            </a:r>
            <a:r>
              <a:rPr lang="en-US" sz="1400" dirty="0">
                <a:latin typeface="Times New Roman" pitchFamily="18" charset="0"/>
                <a:cs typeface="Arial" charset="0"/>
              </a:rPr>
              <a:t>&lt; 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n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++){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min = 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;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    </a:t>
            </a:r>
            <a:r>
              <a:rPr lang="en-US" sz="1400" dirty="0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for</a:t>
            </a:r>
            <a:r>
              <a:rPr lang="en-US" sz="1400" dirty="0">
                <a:latin typeface="Times New Roman" pitchFamily="18" charset="0"/>
                <a:cs typeface="Arial" charset="0"/>
              </a:rPr>
              <a:t> (</a:t>
            </a:r>
            <a:r>
              <a:rPr lang="en-US" sz="1400" dirty="0" err="1">
                <a:solidFill>
                  <a:srgbClr val="0000CC"/>
                </a:solidFill>
                <a:latin typeface="Times New Roman" pitchFamily="18" charset="0"/>
                <a:cs typeface="Arial" charset="0"/>
              </a:rPr>
              <a:t>int</a:t>
            </a:r>
            <a:r>
              <a:rPr lang="en-US" sz="1400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</a:t>
            </a:r>
            <a:r>
              <a:rPr lang="en-US" sz="1400" dirty="0">
                <a:latin typeface="Times New Roman" pitchFamily="18" charset="0"/>
                <a:cs typeface="Arial" charset="0"/>
              </a:rPr>
              <a:t>= i+1,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 &lt; n </a:t>
            </a:r>
            <a:r>
              <a:rPr lang="en-US" sz="1400" dirty="0">
                <a:latin typeface="Times New Roman" pitchFamily="18" charset="0"/>
                <a:cs typeface="Arial" charset="0"/>
              </a:rPr>
              <a:t>, 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j++</a:t>
            </a:r>
            <a:r>
              <a:rPr lang="en-US" sz="1400" dirty="0">
                <a:latin typeface="Times New Roman" pitchFamily="18" charset="0"/>
                <a:cs typeface="Arial" charset="0"/>
              </a:rPr>
              <a:t>){</a:t>
            </a:r>
          </a:p>
          <a:p>
            <a:pPr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if (	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j</a:t>
            </a:r>
            <a:r>
              <a:rPr lang="en-US" sz="1400" dirty="0">
                <a:latin typeface="Times New Roman" pitchFamily="18" charset="0"/>
                <a:cs typeface="Arial" charset="0"/>
              </a:rPr>
              <a:t>] &lt;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A</a:t>
            </a:r>
            <a:r>
              <a:rPr lang="en-US" sz="1400" dirty="0">
                <a:latin typeface="Times New Roman" pitchFamily="18" charset="0"/>
                <a:cs typeface="Arial" charset="0"/>
              </a:rPr>
              <a:t>[min]){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		       min = j</a:t>
            </a:r>
          </a:p>
          <a:p>
            <a:pPr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     } 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if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    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inner for</a:t>
            </a:r>
          </a:p>
          <a:p>
            <a:pPr>
              <a:defRPr/>
            </a:pP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	     </a:t>
            </a:r>
            <a:r>
              <a:rPr lang="en-US" sz="1400" dirty="0">
                <a:latin typeface="Times New Roman" pitchFamily="18" charset="0"/>
                <a:cs typeface="Arial" charset="0"/>
              </a:rPr>
              <a:t>swap(</a:t>
            </a:r>
            <a:r>
              <a:rPr lang="en-US" sz="1400" dirty="0" err="1">
                <a:latin typeface="Times New Roman" pitchFamily="18" charset="0"/>
                <a:cs typeface="Arial" charset="0"/>
              </a:rPr>
              <a:t>i</a:t>
            </a:r>
            <a:r>
              <a:rPr lang="en-US" sz="1400" dirty="0">
                <a:latin typeface="Times New Roman" pitchFamily="18" charset="0"/>
                <a:cs typeface="Arial" charset="0"/>
              </a:rPr>
              <a:t>,</a:t>
            </a:r>
            <a:r>
              <a:rPr lang="en-US" sz="1400" i="1" dirty="0">
                <a:latin typeface="Times New Roman" pitchFamily="18" charset="0"/>
                <a:cs typeface="Arial" charset="0"/>
              </a:rPr>
              <a:t> </a:t>
            </a:r>
            <a:r>
              <a:rPr lang="en-US" sz="1400" dirty="0">
                <a:latin typeface="Times New Roman" pitchFamily="18" charset="0"/>
                <a:cs typeface="Arial" charset="0"/>
              </a:rPr>
              <a:t>min)    </a:t>
            </a:r>
          </a:p>
          <a:p>
            <a:pPr>
              <a:buFont typeface="Wingdings 2" pitchFamily="18" charset="2"/>
              <a:buNone/>
              <a:defRPr/>
            </a:pPr>
            <a:r>
              <a:rPr lang="en-US" sz="1400" dirty="0">
                <a:latin typeface="Times New Roman" pitchFamily="18" charset="0"/>
                <a:cs typeface="Arial" charset="0"/>
              </a:rPr>
              <a:t>  }</a:t>
            </a:r>
            <a:r>
              <a:rPr lang="en-US" sz="1400" dirty="0">
                <a:solidFill>
                  <a:srgbClr val="FF0000"/>
                </a:solidFill>
                <a:latin typeface="Times New Roman" pitchFamily="18" charset="0"/>
                <a:cs typeface="Arial" charset="0"/>
              </a:rPr>
              <a:t>// end outer for</a:t>
            </a:r>
            <a:endParaRPr lang="en-US" sz="1400" dirty="0">
              <a:latin typeface="Times New Roman" pitchFamily="18" charset="0"/>
              <a:cs typeface="Arial" charset="0"/>
            </a:endParaRPr>
          </a:p>
          <a:p>
            <a:pPr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  <a:p>
            <a:pPr marL="273050" indent="-273050">
              <a:spcBef>
                <a:spcPts val="600"/>
              </a:spcBef>
              <a:buClr>
                <a:schemeClr val="tx2"/>
              </a:buClr>
              <a:buSzPct val="73000"/>
              <a:buFont typeface="Wingdings 2" pitchFamily="18" charset="2"/>
              <a:buNone/>
              <a:defRPr/>
            </a:pPr>
            <a:endParaRPr lang="en-US" sz="1400" dirty="0">
              <a:latin typeface="Times New Roman" pitchFamily="18" charset="0"/>
              <a:cs typeface="Arial" charset="0"/>
            </a:endParaRPr>
          </a:p>
        </p:txBody>
      </p:sp>
      <p:sp>
        <p:nvSpPr>
          <p:cNvPr id="6" name="Text Box 24">
            <a:extLst>
              <a:ext uri="{FF2B5EF4-FFF2-40B4-BE49-F238E27FC236}">
                <a16:creationId xmlns:a16="http://schemas.microsoft.com/office/drawing/2014/main" id="{BB178329-1832-0D44-A8A3-EA50CCF762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8575" y="685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0</a:t>
            </a:r>
          </a:p>
        </p:txBody>
      </p:sp>
      <p:sp>
        <p:nvSpPr>
          <p:cNvPr id="7" name="Text Box 183">
            <a:extLst>
              <a:ext uri="{FF2B5EF4-FFF2-40B4-BE49-F238E27FC236}">
                <a16:creationId xmlns:a16="http://schemas.microsoft.com/office/drawing/2014/main" id="{7E217A0E-7DB7-714A-AC7D-8704F02E1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2763" y="533400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57605-9BFC-BB41-9AFD-C6D41AB14FB2}"/>
              </a:ext>
            </a:extLst>
          </p:cNvPr>
          <p:cNvSpPr/>
          <p:nvPr/>
        </p:nvSpPr>
        <p:spPr>
          <a:xfrm>
            <a:off x="1004888" y="719138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aphicFrame>
        <p:nvGraphicFramePr>
          <p:cNvPr id="9" name="Group 3">
            <a:extLst>
              <a:ext uri="{FF2B5EF4-FFF2-40B4-BE49-F238E27FC236}">
                <a16:creationId xmlns:a16="http://schemas.microsoft.com/office/drawing/2014/main" id="{9955504B-E0A9-2945-AFBD-2D70535B8766}"/>
              </a:ext>
            </a:extLst>
          </p:cNvPr>
          <p:cNvGraphicFramePr>
            <a:graphicFrameLocks/>
          </p:cNvGraphicFramePr>
          <p:nvPr/>
        </p:nvGraphicFramePr>
        <p:xfrm>
          <a:off x="990600" y="1066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 Box 24">
            <a:extLst>
              <a:ext uri="{FF2B5EF4-FFF2-40B4-BE49-F238E27FC236}">
                <a16:creationId xmlns:a16="http://schemas.microsoft.com/office/drawing/2014/main" id="{429893EE-3216-B049-8E32-53864DE64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9050" y="1066800"/>
            <a:ext cx="6397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1</a:t>
            </a:r>
          </a:p>
        </p:txBody>
      </p:sp>
      <p:sp>
        <p:nvSpPr>
          <p:cNvPr id="11" name="Text Box 183">
            <a:extLst>
              <a:ext uri="{FF2B5EF4-FFF2-40B4-BE49-F238E27FC236}">
                <a16:creationId xmlns:a16="http://schemas.microsoft.com/office/drawing/2014/main" id="{BE14A110-D22C-7341-AC39-A2EBF2238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2288" y="957263"/>
            <a:ext cx="9001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3</a:t>
            </a:r>
          </a:p>
        </p:txBody>
      </p:sp>
      <p:graphicFrame>
        <p:nvGraphicFramePr>
          <p:cNvPr id="12" name="Group 3">
            <a:extLst>
              <a:ext uri="{FF2B5EF4-FFF2-40B4-BE49-F238E27FC236}">
                <a16:creationId xmlns:a16="http://schemas.microsoft.com/office/drawing/2014/main" id="{5F36B517-9812-2D46-AF56-1C13BE4B4C1B}"/>
              </a:ext>
            </a:extLst>
          </p:cNvPr>
          <p:cNvGraphicFramePr>
            <a:graphicFrameLocks/>
          </p:cNvGraphicFramePr>
          <p:nvPr/>
        </p:nvGraphicFramePr>
        <p:xfrm>
          <a:off x="1006475" y="14478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 Box 24">
            <a:extLst>
              <a:ext uri="{FF2B5EF4-FFF2-40B4-BE49-F238E27FC236}">
                <a16:creationId xmlns:a16="http://schemas.microsoft.com/office/drawing/2014/main" id="{F10DBD1A-8DDC-4D40-9C49-261A1BC742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25" y="14478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2</a:t>
            </a:r>
          </a:p>
        </p:txBody>
      </p:sp>
      <p:sp>
        <p:nvSpPr>
          <p:cNvPr id="14" name="Text Box 183">
            <a:extLst>
              <a:ext uri="{FF2B5EF4-FFF2-40B4-BE49-F238E27FC236}">
                <a16:creationId xmlns:a16="http://schemas.microsoft.com/office/drawing/2014/main" id="{9D2DC984-6771-5348-AEBF-6EA0DE4D6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0863" y="1363663"/>
            <a:ext cx="9001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graphicFrame>
        <p:nvGraphicFramePr>
          <p:cNvPr id="15" name="Group 3">
            <a:extLst>
              <a:ext uri="{FF2B5EF4-FFF2-40B4-BE49-F238E27FC236}">
                <a16:creationId xmlns:a16="http://schemas.microsoft.com/office/drawing/2014/main" id="{03FF3E6F-BE02-984B-8FBA-6175660B96D1}"/>
              </a:ext>
            </a:extLst>
          </p:cNvPr>
          <p:cNvGraphicFramePr>
            <a:graphicFrameLocks/>
          </p:cNvGraphicFramePr>
          <p:nvPr/>
        </p:nvGraphicFramePr>
        <p:xfrm>
          <a:off x="990600" y="19050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 Box 24">
            <a:extLst>
              <a:ext uri="{FF2B5EF4-FFF2-40B4-BE49-F238E27FC236}">
                <a16:creationId xmlns:a16="http://schemas.microsoft.com/office/drawing/2014/main" id="{254F9F50-7BB9-F440-97BB-871495BB72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1905000"/>
            <a:ext cx="6413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3</a:t>
            </a:r>
          </a:p>
        </p:txBody>
      </p:sp>
      <p:sp>
        <p:nvSpPr>
          <p:cNvPr id="17" name="Text Box 183">
            <a:extLst>
              <a:ext uri="{FF2B5EF4-FFF2-40B4-BE49-F238E27FC236}">
                <a16:creationId xmlns:a16="http://schemas.microsoft.com/office/drawing/2014/main" id="{C3B74F09-3288-A14D-A50B-7F682189A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1795463"/>
            <a:ext cx="9001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4</a:t>
            </a:r>
          </a:p>
        </p:txBody>
      </p:sp>
      <p:graphicFrame>
        <p:nvGraphicFramePr>
          <p:cNvPr id="18" name="Group 3">
            <a:extLst>
              <a:ext uri="{FF2B5EF4-FFF2-40B4-BE49-F238E27FC236}">
                <a16:creationId xmlns:a16="http://schemas.microsoft.com/office/drawing/2014/main" id="{6766DB7D-9DB2-1046-BF4C-BB7C06A44DF1}"/>
              </a:ext>
            </a:extLst>
          </p:cNvPr>
          <p:cNvGraphicFramePr>
            <a:graphicFrameLocks/>
          </p:cNvGraphicFramePr>
          <p:nvPr/>
        </p:nvGraphicFramePr>
        <p:xfrm>
          <a:off x="990600" y="243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 Box 24">
            <a:extLst>
              <a:ext uri="{FF2B5EF4-FFF2-40B4-BE49-F238E27FC236}">
                <a16:creationId xmlns:a16="http://schemas.microsoft.com/office/drawing/2014/main" id="{F5BD4429-BDA6-C34B-AEFF-ADA56FC24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38" y="2430463"/>
            <a:ext cx="6413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4</a:t>
            </a:r>
          </a:p>
        </p:txBody>
      </p:sp>
      <p:sp>
        <p:nvSpPr>
          <p:cNvPr id="20" name="Text Box 183">
            <a:extLst>
              <a:ext uri="{FF2B5EF4-FFF2-40B4-BE49-F238E27FC236}">
                <a16:creationId xmlns:a16="http://schemas.microsoft.com/office/drawing/2014/main" id="{0A3A71D6-96CF-8F41-9AD0-144FDB6E1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0700" y="2328863"/>
            <a:ext cx="1012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55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5BEBEB-345B-0449-8DC1-DE1D8CC2DA59}"/>
              </a:ext>
            </a:extLst>
          </p:cNvPr>
          <p:cNvSpPr/>
          <p:nvPr/>
        </p:nvSpPr>
        <p:spPr>
          <a:xfrm>
            <a:off x="3994150" y="2463800"/>
            <a:ext cx="693738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047063-6586-2E40-9781-226C21333591}"/>
              </a:ext>
            </a:extLst>
          </p:cNvPr>
          <p:cNvSpPr/>
          <p:nvPr/>
        </p:nvSpPr>
        <p:spPr>
          <a:xfrm>
            <a:off x="4730750" y="2455863"/>
            <a:ext cx="693738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B4EE16-F4AB-114F-B840-5D0694ADA329}"/>
              </a:ext>
            </a:extLst>
          </p:cNvPr>
          <p:cNvSpPr/>
          <p:nvPr/>
        </p:nvSpPr>
        <p:spPr>
          <a:xfrm>
            <a:off x="5453063" y="2463800"/>
            <a:ext cx="695325" cy="328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AD48A1-DE90-504A-B135-D0FDAE727600}"/>
              </a:ext>
            </a:extLst>
          </p:cNvPr>
          <p:cNvSpPr/>
          <p:nvPr/>
        </p:nvSpPr>
        <p:spPr>
          <a:xfrm>
            <a:off x="6189663" y="2455863"/>
            <a:ext cx="693737" cy="328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 Box 183">
            <a:extLst>
              <a:ext uri="{FF2B5EF4-FFF2-40B4-BE49-F238E27FC236}">
                <a16:creationId xmlns:a16="http://schemas.microsoft.com/office/drawing/2014/main" id="{2234887F-CCA5-DF40-ADB6-0A15C2C5D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8100" y="2819400"/>
            <a:ext cx="11811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58</a:t>
            </a:r>
          </a:p>
        </p:txBody>
      </p:sp>
      <p:sp>
        <p:nvSpPr>
          <p:cNvPr id="26" name="Text Box 183">
            <a:extLst>
              <a:ext uri="{FF2B5EF4-FFF2-40B4-BE49-F238E27FC236}">
                <a16:creationId xmlns:a16="http://schemas.microsoft.com/office/drawing/2014/main" id="{607B54DD-CB7F-4C41-A7F7-08853A6B8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7725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A[min]= 55</a:t>
            </a:r>
          </a:p>
        </p:txBody>
      </p:sp>
      <p:sp>
        <p:nvSpPr>
          <p:cNvPr id="27" name="Text Box 183">
            <a:extLst>
              <a:ext uri="{FF2B5EF4-FFF2-40B4-BE49-F238E27FC236}">
                <a16:creationId xmlns:a16="http://schemas.microsoft.com/office/drawing/2014/main" id="{AA5E5D56-9DDB-8541-B821-AF8AB72F7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88" y="2828925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sp>
        <p:nvSpPr>
          <p:cNvPr id="28" name="Text Box 183">
            <a:extLst>
              <a:ext uri="{FF2B5EF4-FFF2-40B4-BE49-F238E27FC236}">
                <a16:creationId xmlns:a16="http://schemas.microsoft.com/office/drawing/2014/main" id="{67E430C2-3672-ED4C-8028-C564AB307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2819400"/>
            <a:ext cx="1162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 b="1">
                <a:solidFill>
                  <a:srgbClr val="FF0000"/>
                </a:solidFill>
              </a:rPr>
              <a:t>A[min] = 55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C24445A-D2F8-BC46-978B-CFF12923DEA5}"/>
              </a:ext>
            </a:extLst>
          </p:cNvPr>
          <p:cNvCxnSpPr/>
          <p:nvPr/>
        </p:nvCxnSpPr>
        <p:spPr>
          <a:xfrm>
            <a:off x="3443288" y="2286000"/>
            <a:ext cx="10556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D12A809-3679-FB40-BEE7-A497580E21D7}"/>
              </a:ext>
            </a:extLst>
          </p:cNvPr>
          <p:cNvCxnSpPr/>
          <p:nvPr/>
        </p:nvCxnSpPr>
        <p:spPr>
          <a:xfrm rot="10800000" flipV="1">
            <a:off x="3508375" y="2286000"/>
            <a:ext cx="762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Group 3">
            <a:extLst>
              <a:ext uri="{FF2B5EF4-FFF2-40B4-BE49-F238E27FC236}">
                <a16:creationId xmlns:a16="http://schemas.microsoft.com/office/drawing/2014/main" id="{5DEB98C1-E77E-1447-A858-5F80CEDC2F95}"/>
              </a:ext>
            </a:extLst>
          </p:cNvPr>
          <p:cNvGraphicFramePr>
            <a:graphicFrameLocks/>
          </p:cNvGraphicFramePr>
          <p:nvPr/>
        </p:nvGraphicFramePr>
        <p:xfrm>
          <a:off x="993775" y="3159125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 Box 24">
            <a:extLst>
              <a:ext uri="{FF2B5EF4-FFF2-40B4-BE49-F238E27FC236}">
                <a16:creationId xmlns:a16="http://schemas.microsoft.com/office/drawing/2014/main" id="{3165BE09-541F-5C46-8748-B9DFAC2E3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159125"/>
            <a:ext cx="639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5</a:t>
            </a:r>
          </a:p>
        </p:txBody>
      </p:sp>
      <p:sp>
        <p:nvSpPr>
          <p:cNvPr id="33" name="Text Box 183">
            <a:extLst>
              <a:ext uri="{FF2B5EF4-FFF2-40B4-BE49-F238E27FC236}">
                <a16:creationId xmlns:a16="http://schemas.microsoft.com/office/drawing/2014/main" id="{7E1B2638-C862-C14B-8907-7A7CCF670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0575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1C4B41-02F1-7749-85CD-1787B46CEA87}"/>
              </a:ext>
            </a:extLst>
          </p:cNvPr>
          <p:cNvSpPr/>
          <p:nvPr/>
        </p:nvSpPr>
        <p:spPr>
          <a:xfrm>
            <a:off x="4733925" y="3184525"/>
            <a:ext cx="695325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50A2E52-BED1-4047-B50C-58F924E7E54E}"/>
              </a:ext>
            </a:extLst>
          </p:cNvPr>
          <p:cNvCxnSpPr/>
          <p:nvPr/>
        </p:nvCxnSpPr>
        <p:spPr>
          <a:xfrm>
            <a:off x="4422775" y="2822575"/>
            <a:ext cx="8382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85179E-8F82-2E4D-87BE-95E1C8A2B710}"/>
              </a:ext>
            </a:extLst>
          </p:cNvPr>
          <p:cNvCxnSpPr/>
          <p:nvPr/>
        </p:nvCxnSpPr>
        <p:spPr>
          <a:xfrm rot="10800000" flipV="1">
            <a:off x="4346575" y="2822575"/>
            <a:ext cx="914400" cy="301625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Group 3">
            <a:extLst>
              <a:ext uri="{FF2B5EF4-FFF2-40B4-BE49-F238E27FC236}">
                <a16:creationId xmlns:a16="http://schemas.microsoft.com/office/drawing/2014/main" id="{749F5AA7-DA55-8C4A-89D2-EBB33CAEBA46}"/>
              </a:ext>
            </a:extLst>
          </p:cNvPr>
          <p:cNvGraphicFramePr>
            <a:graphicFrameLocks/>
          </p:cNvGraphicFramePr>
          <p:nvPr/>
        </p:nvGraphicFramePr>
        <p:xfrm>
          <a:off x="993775" y="37004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Text Box 24">
            <a:extLst>
              <a:ext uri="{FF2B5EF4-FFF2-40B4-BE49-F238E27FC236}">
                <a16:creationId xmlns:a16="http://schemas.microsoft.com/office/drawing/2014/main" id="{AA18B86E-29E0-784E-9EB1-D2E4AC265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7004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6</a:t>
            </a:r>
          </a:p>
        </p:txBody>
      </p:sp>
      <p:sp>
        <p:nvSpPr>
          <p:cNvPr id="39" name="Text Box 183">
            <a:extLst>
              <a:ext uri="{FF2B5EF4-FFF2-40B4-BE49-F238E27FC236}">
                <a16:creationId xmlns:a16="http://schemas.microsoft.com/office/drawing/2014/main" id="{3554764F-876A-0546-9083-ED4FA3050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5463" y="3590925"/>
            <a:ext cx="9001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D33F49-7EA1-CD4B-8B6A-5CDC558BFC71}"/>
              </a:ext>
            </a:extLst>
          </p:cNvPr>
          <p:cNvSpPr/>
          <p:nvPr/>
        </p:nvSpPr>
        <p:spPr>
          <a:xfrm>
            <a:off x="5519738" y="3725863"/>
            <a:ext cx="693737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F3B50F-AC13-FC4B-915B-21DDDA86469F}"/>
              </a:ext>
            </a:extLst>
          </p:cNvPr>
          <p:cNvCxnSpPr/>
          <p:nvPr/>
        </p:nvCxnSpPr>
        <p:spPr>
          <a:xfrm>
            <a:off x="4929188" y="35417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4A5E082-A053-014C-80A6-AEF278064BC8}"/>
              </a:ext>
            </a:extLst>
          </p:cNvPr>
          <p:cNvCxnSpPr/>
          <p:nvPr/>
        </p:nvCxnSpPr>
        <p:spPr>
          <a:xfrm rot="10800000" flipV="1">
            <a:off x="4994275" y="35417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Group 3">
            <a:extLst>
              <a:ext uri="{FF2B5EF4-FFF2-40B4-BE49-F238E27FC236}">
                <a16:creationId xmlns:a16="http://schemas.microsoft.com/office/drawing/2014/main" id="{318A33E5-66A8-8D44-9DBE-01FFDF3CEBEE}"/>
              </a:ext>
            </a:extLst>
          </p:cNvPr>
          <p:cNvGraphicFramePr>
            <a:graphicFrameLocks/>
          </p:cNvGraphicFramePr>
          <p:nvPr/>
        </p:nvGraphicFramePr>
        <p:xfrm>
          <a:off x="993775" y="4233863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45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55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58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62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90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" name="Text Box 24">
            <a:extLst>
              <a:ext uri="{FF2B5EF4-FFF2-40B4-BE49-F238E27FC236}">
                <a16:creationId xmlns:a16="http://schemas.microsoft.com/office/drawing/2014/main" id="{BAF569CE-A4D8-AE41-8B35-8E6512400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4233863"/>
            <a:ext cx="6397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solidFill>
                  <a:srgbClr val="0000CC"/>
                </a:solidFill>
              </a:rPr>
              <a:t>i</a:t>
            </a:r>
            <a:r>
              <a:rPr lang="en-US" altLang="en-US" b="1">
                <a:solidFill>
                  <a:srgbClr val="0000CC"/>
                </a:solidFill>
              </a:rPr>
              <a:t> = 7</a:t>
            </a:r>
          </a:p>
        </p:txBody>
      </p:sp>
      <p:sp>
        <p:nvSpPr>
          <p:cNvPr id="45" name="Text Box 183">
            <a:extLst>
              <a:ext uri="{FF2B5EF4-FFF2-40B4-BE49-F238E27FC236}">
                <a16:creationId xmlns:a16="http://schemas.microsoft.com/office/drawing/2014/main" id="{40BFE207-0E00-4844-8CB2-457945782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4124325"/>
            <a:ext cx="9001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FF0000"/>
                </a:solidFill>
              </a:rPr>
              <a:t>min = 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3265ACE-C0AA-D241-AE0E-739945AFD433}"/>
              </a:ext>
            </a:extLst>
          </p:cNvPr>
          <p:cNvSpPr/>
          <p:nvPr/>
        </p:nvSpPr>
        <p:spPr>
          <a:xfrm>
            <a:off x="6229350" y="4259263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2AF714D-B24D-2A41-A422-3218077CFE9F}"/>
              </a:ext>
            </a:extLst>
          </p:cNvPr>
          <p:cNvCxnSpPr/>
          <p:nvPr/>
        </p:nvCxnSpPr>
        <p:spPr>
          <a:xfrm>
            <a:off x="5691188" y="4075113"/>
            <a:ext cx="369887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CD16AD8-82F9-8744-AFDC-7EF2088D13C6}"/>
              </a:ext>
            </a:extLst>
          </p:cNvPr>
          <p:cNvCxnSpPr/>
          <p:nvPr/>
        </p:nvCxnSpPr>
        <p:spPr>
          <a:xfrm rot="10800000" flipV="1">
            <a:off x="5756275" y="4075113"/>
            <a:ext cx="381000" cy="152400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60245CD-7F62-A543-926A-73667B7E979F}"/>
              </a:ext>
            </a:extLst>
          </p:cNvPr>
          <p:cNvSpPr/>
          <p:nvPr/>
        </p:nvSpPr>
        <p:spPr>
          <a:xfrm>
            <a:off x="1766888" y="1090613"/>
            <a:ext cx="695325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172B401-04D4-8E49-ACF2-A7F315EB6470}"/>
              </a:ext>
            </a:extLst>
          </p:cNvPr>
          <p:cNvSpPr/>
          <p:nvPr/>
        </p:nvSpPr>
        <p:spPr>
          <a:xfrm>
            <a:off x="2538413" y="1479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C4FE13-0275-3C41-9D08-614F36173D4A}"/>
              </a:ext>
            </a:extLst>
          </p:cNvPr>
          <p:cNvSpPr/>
          <p:nvPr/>
        </p:nvSpPr>
        <p:spPr>
          <a:xfrm>
            <a:off x="3209925" y="1943100"/>
            <a:ext cx="693738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2FF2808-BADB-5D4B-9BCB-785F3E78A487}"/>
              </a:ext>
            </a:extLst>
          </p:cNvPr>
          <p:cNvSpPr/>
          <p:nvPr/>
        </p:nvSpPr>
        <p:spPr>
          <a:xfrm>
            <a:off x="3990975" y="2490788"/>
            <a:ext cx="693738" cy="32861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654253-8B08-E54E-BA48-2CA2C8DFB8CE}"/>
              </a:ext>
            </a:extLst>
          </p:cNvPr>
          <p:cNvSpPr/>
          <p:nvPr/>
        </p:nvSpPr>
        <p:spPr>
          <a:xfrm>
            <a:off x="5481638" y="733425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91BB112-99DE-5E4D-98A6-B356E43F2945}"/>
              </a:ext>
            </a:extLst>
          </p:cNvPr>
          <p:cNvSpPr/>
          <p:nvPr/>
        </p:nvSpPr>
        <p:spPr>
          <a:xfrm>
            <a:off x="3249613" y="1098550"/>
            <a:ext cx="693737" cy="328613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494AA9-60D3-5E4F-ABD8-5BFBFAD883D9}"/>
              </a:ext>
            </a:extLst>
          </p:cNvPr>
          <p:cNvSpPr/>
          <p:nvPr/>
        </p:nvSpPr>
        <p:spPr>
          <a:xfrm>
            <a:off x="4745038" y="14652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62F51CA-8F20-1241-A42B-39A3BEBEEAB2}"/>
              </a:ext>
            </a:extLst>
          </p:cNvPr>
          <p:cNvSpPr/>
          <p:nvPr/>
        </p:nvSpPr>
        <p:spPr>
          <a:xfrm>
            <a:off x="3917950" y="1947863"/>
            <a:ext cx="693738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EE331F3-0C7E-864F-9E5D-5F3E95363743}"/>
              </a:ext>
            </a:extLst>
          </p:cNvPr>
          <p:cNvSpPr/>
          <p:nvPr/>
        </p:nvSpPr>
        <p:spPr>
          <a:xfrm>
            <a:off x="4745038" y="2455863"/>
            <a:ext cx="693737" cy="330200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9" name="Slide Number Placeholder 57">
            <a:extLst>
              <a:ext uri="{FF2B5EF4-FFF2-40B4-BE49-F238E27FC236}">
                <a16:creationId xmlns:a16="http://schemas.microsoft.com/office/drawing/2014/main" id="{39C940F4-C62C-794D-8D96-9F7B8D7C5815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A7407C83-72AB-B143-BB9F-885B8BD146B0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18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60" name="Text Box 183">
            <a:extLst>
              <a:ext uri="{FF2B5EF4-FFF2-40B4-BE49-F238E27FC236}">
                <a16:creationId xmlns:a16="http://schemas.microsoft.com/office/drawing/2014/main" id="{A8EB674D-3911-494D-A173-1B716FDDA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728663"/>
            <a:ext cx="11842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</a:t>
            </a:r>
          </a:p>
        </p:txBody>
      </p:sp>
      <p:sp>
        <p:nvSpPr>
          <p:cNvPr id="61" name="Text Box 183">
            <a:extLst>
              <a:ext uri="{FF2B5EF4-FFF2-40B4-BE49-F238E27FC236}">
                <a16:creationId xmlns:a16="http://schemas.microsoft.com/office/drawing/2014/main" id="{0B09FD1E-087A-5F44-964B-B14185FE5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11858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10</a:t>
            </a:r>
          </a:p>
        </p:txBody>
      </p:sp>
      <p:sp>
        <p:nvSpPr>
          <p:cNvPr id="62" name="Text Box 183">
            <a:extLst>
              <a:ext uri="{FF2B5EF4-FFF2-40B4-BE49-F238E27FC236}">
                <a16:creationId xmlns:a16="http://schemas.microsoft.com/office/drawing/2014/main" id="{10D2380D-0244-4F40-8E2C-79964FF4C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4350" y="1566863"/>
            <a:ext cx="13001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44</a:t>
            </a:r>
          </a:p>
        </p:txBody>
      </p:sp>
      <p:sp>
        <p:nvSpPr>
          <p:cNvPr id="63" name="Text Box 183">
            <a:extLst>
              <a:ext uri="{FF2B5EF4-FFF2-40B4-BE49-F238E27FC236}">
                <a16:creationId xmlns:a16="http://schemas.microsoft.com/office/drawing/2014/main" id="{12D04CE2-B662-B649-BFE9-470DA7A8DA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981200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64" name="Text Box 183">
            <a:extLst>
              <a:ext uri="{FF2B5EF4-FFF2-40B4-BE49-F238E27FC236}">
                <a16:creationId xmlns:a16="http://schemas.microsoft.com/office/drawing/2014/main" id="{7D67DCD9-A469-814C-ACA9-2A32A1A61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1175" y="25574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45</a:t>
            </a:r>
          </a:p>
        </p:txBody>
      </p:sp>
      <p:sp>
        <p:nvSpPr>
          <p:cNvPr id="65" name="Text Box 183">
            <a:extLst>
              <a:ext uri="{FF2B5EF4-FFF2-40B4-BE49-F238E27FC236}">
                <a16:creationId xmlns:a16="http://schemas.microsoft.com/office/drawing/2014/main" id="{0B097426-0D6F-9F42-AD00-1A688C9CA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2861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58</a:t>
            </a:r>
          </a:p>
        </p:txBody>
      </p:sp>
      <p:sp>
        <p:nvSpPr>
          <p:cNvPr id="66" name="Text Box 183">
            <a:extLst>
              <a:ext uri="{FF2B5EF4-FFF2-40B4-BE49-F238E27FC236}">
                <a16:creationId xmlns:a16="http://schemas.microsoft.com/office/drawing/2014/main" id="{D04E24F1-03CA-E840-B4C2-FE7FC80227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6100" y="3819525"/>
            <a:ext cx="12985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  <p:sp>
        <p:nvSpPr>
          <p:cNvPr id="67" name="Text Box 183">
            <a:extLst>
              <a:ext uri="{FF2B5EF4-FFF2-40B4-BE49-F238E27FC236}">
                <a16:creationId xmlns:a16="http://schemas.microsoft.com/office/drawing/2014/main" id="{C3CCE7BE-DF38-2E4C-9AE5-902D04B56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913" y="4386263"/>
            <a:ext cx="1298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b="1" i="1">
                <a:solidFill>
                  <a:srgbClr val="0000CC"/>
                </a:solidFill>
              </a:rPr>
              <a:t>A</a:t>
            </a:r>
            <a:r>
              <a:rPr lang="en-US" altLang="en-US" sz="1600" b="1">
                <a:solidFill>
                  <a:srgbClr val="0000CC"/>
                </a:solidFill>
              </a:rPr>
              <a:t>[min] = 62</a:t>
            </a:r>
          </a:p>
        </p:txBody>
      </p:sp>
      <p:sp>
        <p:nvSpPr>
          <p:cNvPr id="58" name="Footer Placeholder 57">
            <a:extLst>
              <a:ext uri="{FF2B5EF4-FFF2-40B4-BE49-F238E27FC236}">
                <a16:creationId xmlns:a16="http://schemas.microsoft.com/office/drawing/2014/main" id="{4842C931-42EB-C24D-8FEB-AA23F0BA5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28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34" grpId="0" animBg="1"/>
      <p:bldP spid="40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74ADF4-E85A-8846-90CB-7FDB1EEFB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DA60BA-4720-8748-A2D3-B4D4EC99144E}"/>
              </a:ext>
            </a:extLst>
          </p:cNvPr>
          <p:cNvSpPr txBox="1">
            <a:spLocks/>
          </p:cNvSpPr>
          <p:nvPr/>
        </p:nvSpPr>
        <p:spPr bwMode="auto">
          <a:xfrm>
            <a:off x="457200" y="0"/>
            <a:ext cx="7239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Selection Sort vs Insertion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E5D73D-7C03-DA49-A462-5E31C30EE452}"/>
              </a:ext>
            </a:extLst>
          </p:cNvPr>
          <p:cNvSpPr txBox="1">
            <a:spLocks/>
          </p:cNvSpPr>
          <p:nvPr/>
        </p:nvSpPr>
        <p:spPr>
          <a:xfrm>
            <a:off x="457200" y="914400"/>
            <a:ext cx="7315200" cy="5334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/>
              <a:t>Selection sort's advantage is that </a:t>
            </a:r>
          </a:p>
          <a:p>
            <a:pPr lvl="1"/>
            <a:r>
              <a:rPr lang="en-US" altLang="en-US"/>
              <a:t>While </a:t>
            </a:r>
            <a:r>
              <a:rPr lang="en-US" altLang="en-US">
                <a:solidFill>
                  <a:srgbClr val="0000CC"/>
                </a:solidFill>
              </a:rPr>
              <a:t>insertion sort</a:t>
            </a:r>
            <a:r>
              <a:rPr lang="en-US" altLang="en-US"/>
              <a:t> typically makes fewer comparisons than </a:t>
            </a:r>
            <a:r>
              <a:rPr lang="en-US" altLang="en-US">
                <a:solidFill>
                  <a:srgbClr val="0000CC"/>
                </a:solidFill>
              </a:rPr>
              <a:t>selection sort</a:t>
            </a:r>
            <a:r>
              <a:rPr lang="en-US" altLang="en-US"/>
              <a:t>, </a:t>
            </a:r>
          </a:p>
          <a:p>
            <a:pPr lvl="1"/>
            <a:r>
              <a:rPr lang="en-US" altLang="en-US">
                <a:solidFill>
                  <a:srgbClr val="0000CC"/>
                </a:solidFill>
              </a:rPr>
              <a:t>Insertion sort </a:t>
            </a:r>
            <a:r>
              <a:rPr lang="en-US" altLang="en-US"/>
              <a:t>requires more writes than the </a:t>
            </a:r>
            <a:r>
              <a:rPr lang="en-US" altLang="en-US">
                <a:solidFill>
                  <a:srgbClr val="0000CC"/>
                </a:solidFill>
              </a:rPr>
              <a:t>selection sort</a:t>
            </a:r>
            <a:r>
              <a:rPr lang="en-US" altLang="en-US"/>
              <a:t> because the inner loop of the </a:t>
            </a:r>
            <a:r>
              <a:rPr lang="en-US" altLang="en-US">
                <a:solidFill>
                  <a:srgbClr val="0000CC"/>
                </a:solidFill>
              </a:rPr>
              <a:t>insertion sort </a:t>
            </a:r>
            <a:r>
              <a:rPr lang="en-US" altLang="en-US"/>
              <a:t>can require shifting large sections of the sorted portion of the array. </a:t>
            </a:r>
          </a:p>
          <a:p>
            <a:pPr lvl="2"/>
            <a:r>
              <a:rPr lang="en-US" altLang="en-US" sz="1800"/>
              <a:t>In general, insertion sort will write to the array O(</a:t>
            </a:r>
            <a:r>
              <a:rPr lang="en-US" altLang="en-US" sz="1800" i="1"/>
              <a:t>n</a:t>
            </a:r>
            <a:r>
              <a:rPr lang="en-US" altLang="en-US" sz="1800" baseline="30000"/>
              <a:t>2</a:t>
            </a:r>
            <a:r>
              <a:rPr lang="en-US" altLang="en-US" sz="1800"/>
              <a:t>) times</a:t>
            </a:r>
          </a:p>
          <a:p>
            <a:pPr lvl="2"/>
            <a:r>
              <a:rPr lang="en-US" altLang="en-US" sz="1800"/>
              <a:t>Whereas selection sort will write/swap only O(</a:t>
            </a:r>
            <a:r>
              <a:rPr lang="en-US" altLang="en-US" sz="1800" i="1"/>
              <a:t>n</a:t>
            </a:r>
            <a:r>
              <a:rPr lang="en-US" altLang="en-US" sz="1800"/>
              <a:t>) times</a:t>
            </a:r>
          </a:p>
          <a:p>
            <a:pPr lvl="1"/>
            <a:r>
              <a:rPr lang="en-US" altLang="en-US"/>
              <a:t>For this reason </a:t>
            </a:r>
            <a:r>
              <a:rPr lang="en-US" altLang="en-US">
                <a:solidFill>
                  <a:srgbClr val="0000CC"/>
                </a:solidFill>
              </a:rPr>
              <a:t>selection sort </a:t>
            </a:r>
            <a:r>
              <a:rPr lang="en-US" altLang="en-US"/>
              <a:t>may be preferable in cases where writing to memory is significantly more expensive than reading, </a:t>
            </a:r>
          </a:p>
          <a:p>
            <a:pPr lvl="2"/>
            <a:r>
              <a:rPr lang="en-US" altLang="en-US" sz="2400"/>
              <a:t>such as with EPROM or flash memory</a:t>
            </a:r>
            <a:endParaRPr lang="en-US" altLang="en-US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40FEAE0-19CC-D54B-B3F7-A327E70551D8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DBA24D75-50C0-C342-BF68-F4CA4382EDD9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19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48CDE-3AB4-5244-BBE6-878E140C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277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DBA884-A66A-354F-8B05-87886720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AD2AE-26F0-4841-A39F-CFB23122F855}"/>
              </a:ext>
            </a:extLst>
          </p:cNvPr>
          <p:cNvSpPr txBox="1">
            <a:spLocks/>
          </p:cNvSpPr>
          <p:nvPr/>
        </p:nvSpPr>
        <p:spPr bwMode="auto">
          <a:xfrm>
            <a:off x="457200" y="228600"/>
            <a:ext cx="7239000" cy="762000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rebuchet MS" pitchFamily="34" charset="0"/>
              </a:rPr>
              <a:t>Comparisons of different sorting algorithms</a:t>
            </a:r>
            <a:endParaRPr lang="en-US" dirty="0">
              <a:latin typeface="Trebuchet MS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9082B6-3CBD-BD47-8A75-97B9C356E53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397000"/>
          <a:ext cx="7239000" cy="38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3075">
                <a:tc>
                  <a:txBody>
                    <a:bodyPr/>
                    <a:lstStyle/>
                    <a:p>
                      <a:r>
                        <a:rPr lang="en-US" dirty="0"/>
                        <a:t>Bubble</a:t>
                      </a:r>
                      <a:r>
                        <a:rPr lang="en-US" baseline="0" dirty="0"/>
                        <a:t> Sort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Insertion 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Selection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comparisons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075"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swaps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writes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Θ(</a:t>
                      </a:r>
                      <a:r>
                        <a:rPr lang="en-US" dirty="0"/>
                        <a:t>n) swaps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1575"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Adaptive: O(n) running time when nearly sorted (Best case running 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adaptive </a:t>
                      </a:r>
                      <a:r>
                        <a:rPr lang="el-GR" dirty="0"/>
                        <a:t>Θ(</a:t>
                      </a:r>
                      <a:r>
                        <a:rPr lang="en-US" dirty="0"/>
                        <a:t>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  running time when nearly sorted (Best case running time)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316E8-F09A-4B47-BE3B-F44656D6A8DA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F83CC860-C5B7-F64A-A9E2-B29C1D09069D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20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F27F0-8DDA-8B44-9E64-3229F3887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544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8AF213-153D-2B46-B42E-317F67A2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15E11-DAD4-9349-A194-69ED5D14B04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023507-67D7-FE4D-AAB0-55FA13926EBD}"/>
              </a:ext>
            </a:extLst>
          </p:cNvPr>
          <p:cNvSpPr txBox="1">
            <a:spLocks/>
          </p:cNvSpPr>
          <p:nvPr/>
        </p:nvSpPr>
        <p:spPr>
          <a:xfrm>
            <a:off x="457200" y="1143000"/>
            <a:ext cx="72390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200" dirty="0"/>
              <a:t>The fundamental operation in this algorithm is merging two sorted lists.</a:t>
            </a:r>
          </a:p>
          <a:p>
            <a:r>
              <a:rPr lang="en-US" altLang="en-US" sz="2200" dirty="0"/>
              <a:t>Because the lists are sorted, this can be done in one pass through the input, if the output is put in a third list. </a:t>
            </a:r>
          </a:p>
          <a:p>
            <a:r>
              <a:rPr lang="en-US" altLang="en-US" sz="2200" dirty="0"/>
              <a:t>The basic merging algorithm takes </a:t>
            </a:r>
          </a:p>
          <a:p>
            <a:pPr lvl="1"/>
            <a:r>
              <a:rPr lang="en-US" altLang="en-US" sz="1900" dirty="0"/>
              <a:t>two input arrays: </a:t>
            </a:r>
            <a:r>
              <a:rPr lang="en-US" altLang="en-US" sz="1900" i="1" dirty="0">
                <a:solidFill>
                  <a:srgbClr val="0000CC"/>
                </a:solidFill>
              </a:rPr>
              <a:t>a</a:t>
            </a:r>
            <a:r>
              <a:rPr lang="en-US" altLang="en-US" sz="1900" dirty="0"/>
              <a:t> and </a:t>
            </a:r>
            <a:r>
              <a:rPr lang="en-US" altLang="en-US" sz="1900" i="1" dirty="0">
                <a:solidFill>
                  <a:srgbClr val="0000CC"/>
                </a:solidFill>
              </a:rPr>
              <a:t>b</a:t>
            </a:r>
            <a:r>
              <a:rPr lang="en-US" altLang="en-US" sz="1900" dirty="0"/>
              <a:t>,</a:t>
            </a:r>
          </a:p>
          <a:p>
            <a:pPr lvl="1"/>
            <a:r>
              <a:rPr lang="en-US" altLang="en-US" sz="1900" dirty="0"/>
              <a:t>an output array: </a:t>
            </a:r>
            <a:r>
              <a:rPr lang="en-US" altLang="en-US" sz="1900" i="1" dirty="0">
                <a:solidFill>
                  <a:srgbClr val="0000CC"/>
                </a:solidFill>
              </a:rPr>
              <a:t>c</a:t>
            </a:r>
            <a:r>
              <a:rPr lang="en-US" altLang="en-US" sz="1900" dirty="0"/>
              <a:t> </a:t>
            </a:r>
          </a:p>
          <a:p>
            <a:pPr lvl="1"/>
            <a:r>
              <a:rPr lang="en-US" altLang="en-US" sz="1900" dirty="0"/>
              <a:t>three counters:  </a:t>
            </a:r>
            <a:r>
              <a:rPr lang="en-US" altLang="en-US" sz="1900" i="1" dirty="0" err="1">
                <a:solidFill>
                  <a:srgbClr val="0000CC"/>
                </a:solidFill>
              </a:rPr>
              <a:t>aptr</a:t>
            </a:r>
            <a:r>
              <a:rPr lang="en-US" altLang="en-US" sz="1900" dirty="0"/>
              <a:t>, </a:t>
            </a:r>
            <a:r>
              <a:rPr lang="en-US" altLang="en-US" sz="1900" i="1" dirty="0" err="1">
                <a:solidFill>
                  <a:srgbClr val="0000CC"/>
                </a:solidFill>
              </a:rPr>
              <a:t>bptr</a:t>
            </a:r>
            <a:r>
              <a:rPr lang="en-US" altLang="en-US" sz="1900" dirty="0"/>
              <a:t>, and </a:t>
            </a:r>
            <a:r>
              <a:rPr lang="en-US" altLang="en-US" sz="1900" i="1" dirty="0" err="1">
                <a:solidFill>
                  <a:srgbClr val="0000CC"/>
                </a:solidFill>
              </a:rPr>
              <a:t>cptr</a:t>
            </a:r>
            <a:r>
              <a:rPr lang="en-US" altLang="en-US" sz="1900" dirty="0"/>
              <a:t>, </a:t>
            </a:r>
          </a:p>
          <a:p>
            <a:pPr lvl="2"/>
            <a:r>
              <a:rPr lang="en-US" altLang="en-US" sz="1600" dirty="0"/>
              <a:t>which are initially set to the beginning of their respective arrays.</a:t>
            </a:r>
          </a:p>
          <a:p>
            <a:r>
              <a:rPr lang="en-US" altLang="en-US" sz="2200" dirty="0"/>
              <a:t>The smaller of </a:t>
            </a:r>
            <a:r>
              <a:rPr lang="en-US" altLang="en-US" sz="2200" i="1" dirty="0">
                <a:solidFill>
                  <a:srgbClr val="0000CC"/>
                </a:solidFill>
              </a:rPr>
              <a:t>a</a:t>
            </a:r>
            <a:r>
              <a:rPr lang="en-US" altLang="en-US" sz="2200" dirty="0">
                <a:solidFill>
                  <a:srgbClr val="0000CC"/>
                </a:solidFill>
              </a:rPr>
              <a:t>[</a:t>
            </a:r>
            <a:r>
              <a:rPr lang="en-US" altLang="en-US" sz="2200" i="1" dirty="0" err="1">
                <a:solidFill>
                  <a:srgbClr val="0000CC"/>
                </a:solidFill>
              </a:rPr>
              <a:t>aptr</a:t>
            </a:r>
            <a:r>
              <a:rPr lang="en-US" altLang="en-US" sz="2200" dirty="0">
                <a:solidFill>
                  <a:srgbClr val="0000CC"/>
                </a:solidFill>
              </a:rPr>
              <a:t>] </a:t>
            </a:r>
            <a:r>
              <a:rPr lang="en-US" altLang="en-US" sz="2200" dirty="0"/>
              <a:t>and </a:t>
            </a:r>
            <a:r>
              <a:rPr lang="en-US" altLang="en-US" sz="2200" i="1" dirty="0">
                <a:solidFill>
                  <a:srgbClr val="0000CC"/>
                </a:solidFill>
              </a:rPr>
              <a:t>b</a:t>
            </a:r>
            <a:r>
              <a:rPr lang="en-US" altLang="en-US" sz="2200" dirty="0">
                <a:solidFill>
                  <a:srgbClr val="0000CC"/>
                </a:solidFill>
              </a:rPr>
              <a:t>[</a:t>
            </a:r>
            <a:r>
              <a:rPr lang="en-US" altLang="en-US" sz="2200" i="1" dirty="0" err="1">
                <a:solidFill>
                  <a:srgbClr val="0000CC"/>
                </a:solidFill>
              </a:rPr>
              <a:t>bptr</a:t>
            </a:r>
            <a:r>
              <a:rPr lang="en-US" altLang="en-US" sz="2200" dirty="0">
                <a:solidFill>
                  <a:srgbClr val="0000CC"/>
                </a:solidFill>
              </a:rPr>
              <a:t>] </a:t>
            </a:r>
            <a:r>
              <a:rPr lang="en-US" altLang="en-US" sz="2200" dirty="0"/>
              <a:t>is copied to the next entry in </a:t>
            </a:r>
            <a:r>
              <a:rPr lang="en-US" altLang="en-US" sz="2200" i="1" dirty="0">
                <a:solidFill>
                  <a:srgbClr val="0000CC"/>
                </a:solidFill>
              </a:rPr>
              <a:t>c</a:t>
            </a:r>
            <a:r>
              <a:rPr lang="en-US" altLang="en-US" sz="2200" dirty="0"/>
              <a:t>, and the appropriate counters are advanced. </a:t>
            </a:r>
          </a:p>
          <a:p>
            <a:r>
              <a:rPr lang="en-US" altLang="en-US" sz="2200" dirty="0"/>
              <a:t>When either input list is exhausted, the remainder of the other list is copied to </a:t>
            </a:r>
            <a:r>
              <a:rPr lang="en-US" altLang="en-US" sz="2200" i="1" dirty="0">
                <a:solidFill>
                  <a:srgbClr val="0000CC"/>
                </a:solidFill>
              </a:rPr>
              <a:t>c</a:t>
            </a:r>
            <a:r>
              <a:rPr lang="en-US" altLang="en-US" sz="2200" dirty="0"/>
              <a:t>.</a:t>
            </a:r>
            <a:endParaRPr lang="en-US" altLang="en-US" sz="2200" dirty="0">
              <a:latin typeface="Trebuchet MS" panose="020B0703020202090204" pitchFamily="34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D0CCC2BA-EB14-FD4D-8D9E-AB406D001B7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2C23E9F2-BE7F-C64E-8CB9-8A16FB1416BD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21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99A94-8474-3740-91D9-60CAF23E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12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C50CF-3FA6-D44D-9778-BA11D295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FC8F9-40BC-AB4D-B949-45D5A7641970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07918B41-EE10-7E44-85F4-85BEB72022B9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5BE749F0-7B0E-A749-A2BE-39740F2DDC20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BF9AD706-BCDB-2A4B-BA0C-2459243FD6B4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3FB0974-2D8C-1848-8667-AD88CA44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2455FC-E60E-D240-AAFD-3D3F3C4789F0}"/>
              </a:ext>
            </a:extLst>
          </p:cNvPr>
          <p:cNvCxnSpPr/>
          <p:nvPr/>
        </p:nvCxnSpPr>
        <p:spPr>
          <a:xfrm rot="5400000" flipH="1" flipV="1">
            <a:off x="9913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A9DBBF41-F9C7-5842-B314-F1B18ACC1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7CE3719-9A3A-0846-9C5F-2BC2A46478DA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975AE0-48E7-E64A-8BB1-01CFC2E31D33}"/>
              </a:ext>
            </a:extLst>
          </p:cNvPr>
          <p:cNvCxnSpPr/>
          <p:nvPr/>
        </p:nvCxnSpPr>
        <p:spPr>
          <a:xfrm rot="5400000" flipH="1" flipV="1">
            <a:off x="989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306E1367-09FA-644C-899D-02A424CB9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30D64F-BFF7-0148-B29D-AEFB965E1AB8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FA44A5AA-8D89-C442-A265-D0B6EF066249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22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1AB678E-E7EC-624D-AE7C-F649B6E2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211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E3F8BF-AA2D-684A-B8DC-B1C786F86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BEAD2E-EBA0-8049-967D-2D2CCDFB0002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4E52C1DD-D07D-E740-B0AF-CD5E0EB4C7D0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29A4DBE9-228A-5B42-9922-39DD5BC961CA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9A662CD-E57F-4749-B004-03C22F219017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08F3454-A86E-4243-8B71-FFFBE4F2E8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9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883D66-CB26-4D4E-A3CB-494F24278F8D}"/>
              </a:ext>
            </a:extLst>
          </p:cNvPr>
          <p:cNvCxnSpPr/>
          <p:nvPr/>
        </p:nvCxnSpPr>
        <p:spPr>
          <a:xfrm rot="5400000" flipH="1" flipV="1">
            <a:off x="17041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0355CFC1-6DCC-D445-A6DF-797E6321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31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D89A2B-2625-C849-84EE-F9E0444CB40E}"/>
              </a:ext>
            </a:extLst>
          </p:cNvPr>
          <p:cNvCxnSpPr/>
          <p:nvPr/>
        </p:nvCxnSpPr>
        <p:spPr>
          <a:xfrm rot="5400000" flipH="1" flipV="1">
            <a:off x="40393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C812B1-B785-B94B-8061-88276C3A4365}"/>
              </a:ext>
            </a:extLst>
          </p:cNvPr>
          <p:cNvCxnSpPr/>
          <p:nvPr/>
        </p:nvCxnSpPr>
        <p:spPr>
          <a:xfrm rot="5400000" flipH="1" flipV="1">
            <a:off x="17914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6EE4BEAB-FD1C-C64B-AAEF-58F4BE058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1B06FF9-A6D0-B24C-B49E-41246D2DE493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70D7EAD-8F03-6741-983D-6764C9E2FD80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23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B5F7BF5-BA22-7D42-B78C-0912EB06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61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38207-44C4-744D-9B05-2D5C1DE84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81E46-0493-5649-877C-E5560C6CDC7E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D7B31FF7-CBDF-6A43-BD9E-1B39B864C38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380F12C6-4611-B944-B52F-AFC78A556382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87BDBA57-C023-7747-A535-B8DFF3A730F2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DF0396AF-2588-7F44-9EC6-7C9356AE52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8AF5040-4E72-CC42-BB7E-C41EC36410FD}"/>
              </a:ext>
            </a:extLst>
          </p:cNvPr>
          <p:cNvCxnSpPr/>
          <p:nvPr/>
        </p:nvCxnSpPr>
        <p:spPr>
          <a:xfrm rot="5400000" flipH="1" flipV="1">
            <a:off x="16771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D0DAFD02-DBBD-614C-A83D-17C5E2D9C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06E1D4-77B9-9447-90CC-24DBC7E54799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FDEB35F-368B-0142-B8B9-D76473E2B472}"/>
              </a:ext>
            </a:extLst>
          </p:cNvPr>
          <p:cNvCxnSpPr/>
          <p:nvPr/>
        </p:nvCxnSpPr>
        <p:spPr>
          <a:xfrm rot="5400000" flipH="1" flipV="1">
            <a:off x="2513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95E0C160-C86B-D44D-ADB3-5EEEE1F61C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A5CC58-0CDA-7541-A964-1C05EE7EFEA5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F01D9063-78F4-6540-9727-DAD14B4E32B6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24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3DF79E3-AC3A-1B40-A50F-899EEE27C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529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6E266F4-5DC2-3244-9AD5-419670DD5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01E623-FDAA-5A4F-A6AC-22EB5C71E7A7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02B7C2E2-1EA7-474C-94ED-3FA03EB748C0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F900E904-3F10-B249-A7C5-ED1ABE090AC2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99C14FD1-7007-1B42-BEE6-03DA959DD520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005DDE3D-58E7-4840-B134-4D812BF69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EC5512-4E1E-F045-9B3F-D5DAC69B00C1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9F52F83E-91B9-4A48-A75B-FA0EEF9D3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13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87E7B3A-AB83-C942-8574-9B9A7D1E7905}"/>
              </a:ext>
            </a:extLst>
          </p:cNvPr>
          <p:cNvCxnSpPr/>
          <p:nvPr/>
        </p:nvCxnSpPr>
        <p:spPr>
          <a:xfrm rot="5400000" flipH="1" flipV="1">
            <a:off x="48775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0A24E3-DCDB-CF4A-B22A-4EEECCB6839E}"/>
              </a:ext>
            </a:extLst>
          </p:cNvPr>
          <p:cNvCxnSpPr/>
          <p:nvPr/>
        </p:nvCxnSpPr>
        <p:spPr>
          <a:xfrm rot="5400000" flipH="1" flipV="1">
            <a:off x="3239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E899E9F6-9668-A343-BD9A-CB1D681BC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3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4495A72-BA4A-5249-8943-8D56BE0D6BB7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008AB6D0-F896-3441-AEC4-FE690007D12F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25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C922058-B097-F84B-AF5A-C0D33EBD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956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BB8B7B-AC13-9046-B8F3-AF6DBA4F3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186758-9686-1347-8E8D-750FE15C47B6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86B4A098-8E8E-D947-BD8F-EF4D73DC1DE8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911AB1ED-3D03-904E-99B4-3B6229F35F8D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C837EA90-FF14-124F-8BD7-B73D9E36193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1EFFF09E-A698-0641-9D07-4D7E74796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6788" y="19050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E49D2DA-6EEB-CE47-A584-06C3BC181CCC}"/>
              </a:ext>
            </a:extLst>
          </p:cNvPr>
          <p:cNvCxnSpPr/>
          <p:nvPr/>
        </p:nvCxnSpPr>
        <p:spPr>
          <a:xfrm rot="5400000" flipH="1" flipV="1">
            <a:off x="2389982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FCA02F0C-CDB5-7448-AEE9-87129BFA5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717D5C-E4AE-A542-A306-BDE839EA473C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324C331-D97E-3249-81F5-C42E076F3FF8}"/>
              </a:ext>
            </a:extLst>
          </p:cNvPr>
          <p:cNvCxnSpPr/>
          <p:nvPr/>
        </p:nvCxnSpPr>
        <p:spPr>
          <a:xfrm rot="5400000" flipH="1" flipV="1">
            <a:off x="4001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14386CC7-259F-2346-87E4-A96B07DA1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5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33B22B1-0802-BD46-96A0-B61F1ECD6812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40A438B6-F194-8745-A0CB-74DE93675518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26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224ABA7-D49E-4444-ACC5-C688A49C1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82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D24CD-CCDF-2E4D-A267-843D21C60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827BA3-6DA2-3E46-A8D5-9DFAB376029B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296E4047-A3E5-5941-920E-F99A9E5074A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FDC8DE99-7F4C-F84B-BFC0-73E192AF4138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23160451-99CD-6640-939D-34D34C7EFDC5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4D21F075-51D5-9441-B1BE-2151D2D140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9050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435060-A451-DA40-B8DF-DCABE4035576}"/>
              </a:ext>
            </a:extLst>
          </p:cNvPr>
          <p:cNvCxnSpPr/>
          <p:nvPr/>
        </p:nvCxnSpPr>
        <p:spPr>
          <a:xfrm rot="5400000" flipH="1" flipV="1">
            <a:off x="3124994" y="1829594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96A6453C-7FAD-C549-9F59-090941702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EA5A8E-A8F2-8B4C-8200-F1A148B32B3B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0F6DB6-0DC9-304E-88AA-2E1729A5ADCF}"/>
              </a:ext>
            </a:extLst>
          </p:cNvPr>
          <p:cNvCxnSpPr/>
          <p:nvPr/>
        </p:nvCxnSpPr>
        <p:spPr>
          <a:xfrm rot="5400000" flipH="1" flipV="1">
            <a:off x="47632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3D98C675-986D-204D-B961-1CE8FEA5F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78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976A5C6-4254-1140-9E0E-AF981EF00700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373F80E6-9264-474C-A6B0-641323588588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27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DD9BE0D-9B02-7241-8834-C784C8FED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98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64D59E-9C94-D140-A623-5AF65ABDC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9FC081-A3FC-C043-BAA6-2BECA8F3E7F6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206E9F0A-5EB0-BF4D-AF79-CD115C179927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33D56E7-2BA7-7B48-B32F-62CE722CD64E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endParaRPr kumimoji="0" lang="en-US" sz="1500" b="1" i="0" u="none" strike="noStrike" cap="none" normalizeH="0" baseline="3000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Trebuchet MS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D10C17E9-5DFF-064B-ACCF-C3D417059643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A5B722E6-D092-7A47-8DB3-5759D972F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45FCE0F-B44F-A747-8131-5DDD24079884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A0E8F00E-B8E2-5D46-A34D-90874127E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828800"/>
            <a:ext cx="582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27B4FEC-FB2B-6E44-BC99-7D93BC6CD53F}"/>
              </a:ext>
            </a:extLst>
          </p:cNvPr>
          <p:cNvCxnSpPr/>
          <p:nvPr/>
        </p:nvCxnSpPr>
        <p:spPr>
          <a:xfrm rot="5400000" flipH="1" flipV="1">
            <a:off x="5612607" y="175815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26F73E-A188-8047-92BD-4608178155D5}"/>
              </a:ext>
            </a:extLst>
          </p:cNvPr>
          <p:cNvCxnSpPr/>
          <p:nvPr/>
        </p:nvCxnSpPr>
        <p:spPr>
          <a:xfrm rot="5400000" flipH="1" flipV="1">
            <a:off x="5449094" y="297100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675F4C6B-0F88-0E46-AFA5-35838F3FB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3688" y="2971800"/>
            <a:ext cx="5699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BD8D4B5-9FFC-104E-9C45-DEFBDD626A66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2323EA7-6BE3-2344-995C-475924B90BD7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28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AC48C3E-1EE7-B448-9A1F-BA3C8B985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067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0DA6BA-CB3F-BA4C-A9B2-1D4FEF85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AA0DD-3CCE-8040-B589-FC1A578D77A3}"/>
              </a:ext>
            </a:extLst>
          </p:cNvPr>
          <p:cNvSpPr txBox="1">
            <a:spLocks/>
          </p:cNvSpPr>
          <p:nvPr/>
        </p:nvSpPr>
        <p:spPr bwMode="auto">
          <a:xfrm>
            <a:off x="457200" y="152400"/>
            <a:ext cx="72390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>
                <a:latin typeface="Trebuchet MS" panose="020B0703020202090204" pitchFamily="34" charset="0"/>
              </a:rPr>
              <a:t>Merge Sort : Example</a:t>
            </a:r>
          </a:p>
        </p:txBody>
      </p:sp>
      <p:graphicFrame>
        <p:nvGraphicFramePr>
          <p:cNvPr id="4" name="Group 3">
            <a:extLst>
              <a:ext uri="{FF2B5EF4-FFF2-40B4-BE49-F238E27FC236}">
                <a16:creationId xmlns:a16="http://schemas.microsoft.com/office/drawing/2014/main" id="{15C56FCA-A185-254F-8C5D-BED653DA4066}"/>
              </a:ext>
            </a:extLst>
          </p:cNvPr>
          <p:cNvGraphicFramePr>
            <a:graphicFrameLocks/>
          </p:cNvGraphicFramePr>
          <p:nvPr/>
        </p:nvGraphicFramePr>
        <p:xfrm>
          <a:off x="7620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CB61EC54-13F7-B544-B9B6-50BE018C8318}"/>
              </a:ext>
            </a:extLst>
          </p:cNvPr>
          <p:cNvGraphicFramePr>
            <a:graphicFrameLocks/>
          </p:cNvGraphicFramePr>
          <p:nvPr/>
        </p:nvGraphicFramePr>
        <p:xfrm>
          <a:off x="838200" y="2438400"/>
          <a:ext cx="59436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13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24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(4)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  <a:defRPr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26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(5)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roup 3">
            <a:extLst>
              <a:ext uri="{FF2B5EF4-FFF2-40B4-BE49-F238E27FC236}">
                <a16:creationId xmlns:a16="http://schemas.microsoft.com/office/drawing/2014/main" id="{7499951F-2A3E-FF41-9CCA-FA2C0B0C1B6E}"/>
              </a:ext>
            </a:extLst>
          </p:cNvPr>
          <p:cNvGraphicFramePr>
            <a:graphicFrameLocks/>
          </p:cNvGraphicFramePr>
          <p:nvPr/>
        </p:nvGraphicFramePr>
        <p:xfrm>
          <a:off x="3962400" y="1295400"/>
          <a:ext cx="2971800" cy="3810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15</a:t>
                      </a: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rebuchet MS" pitchFamily="34" charset="0"/>
                        </a:rPr>
                        <a:t>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27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3000"/>
                        <a:buFontTx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34" charset="0"/>
                        </a:rPr>
                        <a:t>38 </a:t>
                      </a:r>
                      <a:r>
                        <a:rPr kumimoji="0" lang="en-US" sz="1500" b="1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rebuchet MS" pitchFamily="34" charset="0"/>
                        </a:rPr>
                        <a:t>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7">
            <a:extLst>
              <a:ext uri="{FF2B5EF4-FFF2-40B4-BE49-F238E27FC236}">
                <a16:creationId xmlns:a16="http://schemas.microsoft.com/office/drawing/2014/main" id="{55A44C57-4BD5-CD43-ACFB-BCEA20F08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0913" y="1905000"/>
            <a:ext cx="581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aptr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AB2E481-2171-BE4C-9AC2-5BDA07B8EAB5}"/>
              </a:ext>
            </a:extLst>
          </p:cNvPr>
          <p:cNvCxnSpPr/>
          <p:nvPr/>
        </p:nvCxnSpPr>
        <p:spPr>
          <a:xfrm rot="5400000" flipH="1" flipV="1">
            <a:off x="3644107" y="1829594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13">
            <a:extLst>
              <a:ext uri="{FF2B5EF4-FFF2-40B4-BE49-F238E27FC236}">
                <a16:creationId xmlns:a16="http://schemas.microsoft.com/office/drawing/2014/main" id="{D9016DAB-1204-ED4E-819A-9C6BB0CDA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1828800"/>
            <a:ext cx="582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bptr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AD60C0-1CA7-BF4F-8CF4-0455619F61A2}"/>
              </a:ext>
            </a:extLst>
          </p:cNvPr>
          <p:cNvCxnSpPr/>
          <p:nvPr/>
        </p:nvCxnSpPr>
        <p:spPr>
          <a:xfrm rot="5400000" flipH="1" flipV="1">
            <a:off x="6858794" y="1758156"/>
            <a:ext cx="304800" cy="1588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26DFA1-DB0D-DD43-AF65-ADB819EBF2FA}"/>
              </a:ext>
            </a:extLst>
          </p:cNvPr>
          <p:cNvCxnSpPr/>
          <p:nvPr/>
        </p:nvCxnSpPr>
        <p:spPr>
          <a:xfrm rot="5400000" flipH="1" flipV="1">
            <a:off x="6704807" y="2971006"/>
            <a:ext cx="304800" cy="1587"/>
          </a:xfrm>
          <a:prstGeom prst="straightConnector1">
            <a:avLst/>
          </a:prstGeom>
          <a:ln w="2540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7">
            <a:extLst>
              <a:ext uri="{FF2B5EF4-FFF2-40B4-BE49-F238E27FC236}">
                <a16:creationId xmlns:a16="http://schemas.microsoft.com/office/drawing/2014/main" id="{269BCA47-CFD9-0047-9488-F93317202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71800"/>
            <a:ext cx="5699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i="1"/>
              <a:t>cptr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848A71F-3077-6643-815D-F083A2DEB18F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B4871C7D-C9CD-A14E-B497-BD00A62E33BA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29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B38B4BA-0F6A-5544-B4AF-EAF093159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5156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D44E2F-0DCA-BF49-AD02-1777375D9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CDEE0-7510-1044-B08D-B76386747A28}"/>
              </a:ext>
            </a:extLst>
          </p:cNvPr>
          <p:cNvSpPr/>
          <p:nvPr/>
        </p:nvSpPr>
        <p:spPr>
          <a:xfrm>
            <a:off x="496888" y="3810000"/>
            <a:ext cx="43799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53112B-D4C5-4B47-99F3-A6DF551C6743}"/>
              </a:ext>
            </a:extLst>
          </p:cNvPr>
          <p:cNvSpPr/>
          <p:nvPr/>
        </p:nvSpPr>
        <p:spPr>
          <a:xfrm>
            <a:off x="493713" y="4114800"/>
            <a:ext cx="47244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42567-DEBB-8446-8107-FAC91EA74889}"/>
              </a:ext>
            </a:extLst>
          </p:cNvPr>
          <p:cNvSpPr/>
          <p:nvPr/>
        </p:nvSpPr>
        <p:spPr>
          <a:xfrm>
            <a:off x="496888" y="3416300"/>
            <a:ext cx="3922712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0E51E0-6CFE-FC4E-8E7E-123C0E80762A}"/>
              </a:ext>
            </a:extLst>
          </p:cNvPr>
          <p:cNvSpPr/>
          <p:nvPr/>
        </p:nvSpPr>
        <p:spPr>
          <a:xfrm>
            <a:off x="508000" y="2971800"/>
            <a:ext cx="2971800" cy="381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93347B-5A63-EF4A-BB52-1BFC824FE602}"/>
              </a:ext>
            </a:extLst>
          </p:cNvPr>
          <p:cNvSpPr txBox="1">
            <a:spLocks/>
          </p:cNvSpPr>
          <p:nvPr/>
        </p:nvSpPr>
        <p:spPr bwMode="auto">
          <a:xfrm>
            <a:off x="170250" y="423863"/>
            <a:ext cx="7239000" cy="517525"/>
          </a:xfrm>
          <a:prstGeom prst="rect">
            <a:avLst/>
          </a:prstGeom>
        </p:spPr>
        <p:txBody>
          <a:bodyPr vert="horz" wrap="square" lIns="91440" tIns="45720" rIns="91440" bIns="45720" numCol="1" rtlCol="0" anchor="ctr" compatLnSpc="1">
            <a:prstTxWarp prst="textNoShape">
              <a:avLst/>
            </a:prstTxWarp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>
                <a:latin typeface="Trebuchet MS" pitchFamily="34" charset="0"/>
              </a:rPr>
              <a:t>Merge Sort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AB663CE-B519-164D-9AAA-DA2FD1E90CA1}"/>
              </a:ext>
            </a:extLst>
          </p:cNvPr>
          <p:cNvSpPr txBox="1">
            <a:spLocks/>
          </p:cNvSpPr>
          <p:nvPr/>
        </p:nvSpPr>
        <p:spPr>
          <a:xfrm>
            <a:off x="152400" y="1066800"/>
            <a:ext cx="7924800" cy="4846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void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</a:t>
            </a:r>
            <a:r>
              <a:rPr lang="en-US" altLang="en-US" sz="2000" dirty="0" err="1"/>
              <a:t>input_type</a:t>
            </a:r>
            <a:r>
              <a:rPr lang="en-US" altLang="en-US" sz="2000" dirty="0"/>
              <a:t> a[], </a:t>
            </a:r>
            <a:r>
              <a:rPr lang="en-US" altLang="en-US" sz="2000" dirty="0" err="1"/>
              <a:t>input_type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[ ], 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left, </a:t>
            </a:r>
            <a:r>
              <a:rPr lang="en-US" altLang="en-US" sz="2000" dirty="0" err="1"/>
              <a:t>int</a:t>
            </a:r>
            <a:r>
              <a:rPr lang="en-US" altLang="en-US" sz="2000" dirty="0"/>
              <a:t> right )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{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 err="1"/>
              <a:t>int</a:t>
            </a:r>
            <a:r>
              <a:rPr lang="en-US" altLang="en-US" sz="2000" dirty="0"/>
              <a:t> center;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>
                <a:solidFill>
                  <a:srgbClr val="0000CC"/>
                </a:solidFill>
              </a:rPr>
              <a:t>if</a:t>
            </a:r>
            <a:r>
              <a:rPr lang="en-US" altLang="en-US" sz="2000" dirty="0"/>
              <a:t>( left </a:t>
            </a:r>
            <a:r>
              <a:rPr lang="en-US" altLang="en-US" sz="2000" b="1" dirty="0"/>
              <a:t>&lt;</a:t>
            </a:r>
            <a:r>
              <a:rPr lang="en-US" altLang="en-US" sz="2000" dirty="0"/>
              <a:t> right )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{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center = (left + right) / 2;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left, center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m_sort</a:t>
            </a:r>
            <a:r>
              <a:rPr lang="en-US" altLang="en-US" sz="2000" dirty="0"/>
              <a:t>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center+1, right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merge( a, </a:t>
            </a:r>
            <a:r>
              <a:rPr lang="en-US" altLang="en-US" sz="2000" dirty="0" err="1"/>
              <a:t>tmp_array</a:t>
            </a:r>
            <a:r>
              <a:rPr lang="en-US" altLang="en-US" sz="2000" dirty="0"/>
              <a:t>, left, center+1, right );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	} </a:t>
            </a:r>
          </a:p>
          <a:p>
            <a:pPr>
              <a:buFont typeface="Wingdings 2" pitchFamily="2" charset="2"/>
              <a:buNone/>
            </a:pPr>
            <a:r>
              <a:rPr lang="en-US" altLang="en-US" sz="2000" dirty="0"/>
              <a:t>}</a:t>
            </a:r>
            <a:endParaRPr lang="en-US" altLang="en-US" sz="2000" dirty="0">
              <a:latin typeface="Trebuchet MS" panose="020B0703020202090204" pitchFamily="34" charset="0"/>
            </a:endParaRP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E4D36738-3F16-5744-AA64-BADCA8271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5138" y="6556375"/>
            <a:ext cx="2895600" cy="228600"/>
          </a:xfrm>
        </p:spPr>
        <p:txBody>
          <a:bodyPr/>
          <a:lstStyle/>
          <a:p>
            <a:pPr>
              <a:defRPr/>
            </a:pPr>
            <a:r>
              <a:rPr lang="en-US"/>
              <a:t>Dr. Zubair Ahmad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AA607E8-D983-304B-A029-50AC2740F654}"/>
              </a:ext>
            </a:extLst>
          </p:cNvPr>
          <p:cNvSpPr txBox="1">
            <a:spLocks/>
          </p:cNvSpPr>
          <p:nvPr/>
        </p:nvSpPr>
        <p:spPr>
          <a:xfrm>
            <a:off x="6734175" y="6554788"/>
            <a:ext cx="58737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0" latinLnBrk="0" hangingPunct="0">
              <a:defRPr sz="1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0" latinLnBrk="0" hangingPunct="0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eaLnBrk="1" hangingPunct="1"/>
            <a:fld id="{25DD6AD9-2BAC-ED4F-BA64-79C798583C7B}" type="slidenum">
              <a:rPr lang="en-US" altLang="en-US" smtClean="0">
                <a:solidFill>
                  <a:schemeClr val="tx2"/>
                </a:solidFill>
              </a:rPr>
              <a:pPr eaLnBrk="1" hangingPunct="1"/>
              <a:t>30</a:t>
            </a:fld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FE190-78FD-4B4C-A0EE-CAE612072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2921000"/>
            <a:ext cx="4454525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Calculate the </a:t>
            </a:r>
            <a:r>
              <a:rPr lang="en-US" altLang="en-US" b="1">
                <a:solidFill>
                  <a:srgbClr val="FF0000"/>
                </a:solidFill>
              </a:rPr>
              <a:t>centre</a:t>
            </a:r>
            <a:r>
              <a:rPr lang="en-US" altLang="en-US">
                <a:solidFill>
                  <a:srgbClr val="FF0000"/>
                </a:solidFill>
              </a:rPr>
              <a:t> index of the input list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9093E-16EC-D84E-9029-64B2C9B6F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3200400"/>
            <a:ext cx="4108450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Recursively call the </a:t>
            </a:r>
            <a:r>
              <a:rPr lang="en-US" altLang="en-US" b="1">
                <a:solidFill>
                  <a:srgbClr val="FF0000"/>
                </a:solidFill>
              </a:rPr>
              <a:t>m_sort</a:t>
            </a:r>
            <a:r>
              <a:rPr lang="en-US" altLang="en-US">
                <a:solidFill>
                  <a:srgbClr val="FF0000"/>
                </a:solidFill>
              </a:rPr>
              <a:t> procedure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for the </a:t>
            </a:r>
            <a:r>
              <a:rPr lang="en-US" altLang="en-US" b="1">
                <a:solidFill>
                  <a:srgbClr val="FF0000"/>
                </a:solidFill>
              </a:rPr>
              <a:t>left-half</a:t>
            </a:r>
            <a:r>
              <a:rPr lang="en-US" altLang="en-US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2B5F15-6638-6346-A619-45AB8A8A9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2350" y="3505200"/>
            <a:ext cx="4173538" cy="646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Recursively call the </a:t>
            </a:r>
            <a:r>
              <a:rPr lang="en-US" altLang="en-US" b="1">
                <a:solidFill>
                  <a:srgbClr val="FF0000"/>
                </a:solidFill>
              </a:rPr>
              <a:t>m_sort</a:t>
            </a:r>
            <a:r>
              <a:rPr lang="en-US" altLang="en-US">
                <a:solidFill>
                  <a:srgbClr val="FF0000"/>
                </a:solidFill>
              </a:rPr>
              <a:t> procedure </a:t>
            </a:r>
          </a:p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for the </a:t>
            </a:r>
            <a:r>
              <a:rPr lang="en-US" altLang="en-US" b="1">
                <a:solidFill>
                  <a:srgbClr val="FF0000"/>
                </a:solidFill>
              </a:rPr>
              <a:t>right-half</a:t>
            </a:r>
            <a:r>
              <a:rPr lang="en-US" altLang="en-US">
                <a:solidFill>
                  <a:srgbClr val="FF0000"/>
                </a:solidFill>
              </a:rPr>
              <a:t> of the input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51D58-A9CF-5F46-B6B6-33242EDD4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4150" y="4154488"/>
            <a:ext cx="2813050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Merge</a:t>
            </a:r>
            <a:r>
              <a:rPr lang="en-US" altLang="en-US">
                <a:solidFill>
                  <a:srgbClr val="FF0000"/>
                </a:solidFill>
              </a:rPr>
              <a:t> the two sorted lists</a:t>
            </a:r>
          </a:p>
        </p:txBody>
      </p:sp>
    </p:spTree>
    <p:extLst>
      <p:ext uri="{BB962C8B-B14F-4D97-AF65-F5344CB8AC3E}">
        <p14:creationId xmlns:p14="http://schemas.microsoft.com/office/powerpoint/2010/main" val="154447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31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9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                   </a:t>
            </a:r>
            <a:r>
              <a:rPr lang="en-US" altLang="zh-CN" sz="28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</a:t>
            </a:r>
            <a:r>
              <a:rPr lang="en-US" altLang="zh-CN" sz="2800" b="1" dirty="0"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704879" y="3813978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zahmaad.github.io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374BE6-BBB6-CE43-9CC8-29EE611B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Dr. Zubair Ahmad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42421</TotalTime>
  <Words>4994</Words>
  <Application>Microsoft Macintosh PowerPoint</Application>
  <PresentationFormat>A4 Paper (210x297 mm)</PresentationFormat>
  <Paragraphs>1042</Paragraphs>
  <Slides>31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5" baseType="lpstr">
      <vt:lpstr>Adobe Gothic Std B</vt:lpstr>
      <vt:lpstr>DengXian</vt:lpstr>
      <vt:lpstr>DengXian</vt:lpstr>
      <vt:lpstr>等线 Light</vt:lpstr>
      <vt:lpstr>SimSun</vt:lpstr>
      <vt:lpstr>Arial</vt:lpstr>
      <vt:lpstr>Calibri</vt:lpstr>
      <vt:lpstr>Times</vt:lpstr>
      <vt:lpstr>Times New Roman</vt:lpstr>
      <vt:lpstr>Trebuchet MS</vt:lpstr>
      <vt:lpstr>Wingdings</vt:lpstr>
      <vt:lpstr>Wingdings 2</vt:lpstr>
      <vt:lpstr>Office 主题​​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814</cp:revision>
  <dcterms:created xsi:type="dcterms:W3CDTF">2018-07-17T04:46:00Z</dcterms:created>
  <dcterms:modified xsi:type="dcterms:W3CDTF">2025-10-16T06:22:56Z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
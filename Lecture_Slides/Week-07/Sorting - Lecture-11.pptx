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80" r:id="rId2"/>
    <p:sldId id="624" r:id="rId3"/>
    <p:sldId id="601" r:id="rId4"/>
    <p:sldId id="602" r:id="rId5"/>
    <p:sldId id="603" r:id="rId6"/>
    <p:sldId id="604" r:id="rId7"/>
    <p:sldId id="605" r:id="rId8"/>
    <p:sldId id="606" r:id="rId9"/>
    <p:sldId id="607" r:id="rId10"/>
    <p:sldId id="608" r:id="rId11"/>
    <p:sldId id="609" r:id="rId12"/>
    <p:sldId id="610" r:id="rId13"/>
    <p:sldId id="611" r:id="rId14"/>
    <p:sldId id="612" r:id="rId15"/>
    <p:sldId id="613" r:id="rId16"/>
    <p:sldId id="614" r:id="rId17"/>
    <p:sldId id="615" r:id="rId18"/>
    <p:sldId id="616" r:id="rId19"/>
    <p:sldId id="617" r:id="rId20"/>
    <p:sldId id="618" r:id="rId21"/>
    <p:sldId id="619" r:id="rId22"/>
    <p:sldId id="620" r:id="rId23"/>
    <p:sldId id="621" r:id="rId24"/>
    <p:sldId id="622" r:id="rId25"/>
    <p:sldId id="623" r:id="rId26"/>
    <p:sldId id="372" r:id="rId2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24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3BEB-A2FB-3644-800E-2E39238CA4AC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DACFA-F6E7-254B-BC84-5C612A093FA7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B26B5-566D-AD4C-8FF0-528C891E4BBD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5E08C-D3F9-F745-BCA9-79584C407E89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E6AC9-25B2-C84F-915A-6CBEDF8C8C98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8E3-CAFE-C045-8D36-F0D2D948636D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51DA9-010F-204E-BBAA-AFF257A0D8FE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0EEC-1272-EF4A-8808-7DF04F3F6B2E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0CDEF-18E1-764A-9726-227B60AD10E3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3ADD-2585-0D44-8778-F4DC4864A721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0A0B-27E0-8A4C-9628-398167D6D629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59EDB-1D35-4346-A90C-EF8B2EC66D27}" type="datetime1">
              <a:rPr lang="en-US" altLang="zh-CN" smtClean="0"/>
              <a:t>10/17/25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Sorting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6DE00-506E-704E-9A7D-BA42ECF9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BB949B-D8D9-6844-8EAC-7AC89ECB1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7179F4-D56F-6C48-A374-A220C5322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D22AF-4924-A444-B4DA-A8E645781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613" y="1450191"/>
            <a:ext cx="4445000" cy="294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EA5216-2BED-F94E-86C3-866BBCF11E07}"/>
              </a:ext>
            </a:extLst>
          </p:cNvPr>
          <p:cNvSpPr txBox="1"/>
          <p:nvPr/>
        </p:nvSpPr>
        <p:spPr>
          <a:xfrm>
            <a:off x="634701" y="1785769"/>
            <a:ext cx="315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- Traditional Applications?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CD2C54-5C81-404A-A014-6CAEEDA04BF5}"/>
              </a:ext>
            </a:extLst>
          </p:cNvPr>
          <p:cNvSpPr txBox="1"/>
          <p:nvPr/>
        </p:nvSpPr>
        <p:spPr>
          <a:xfrm>
            <a:off x="634701" y="2923391"/>
            <a:ext cx="315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- Applications in CS?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21849-9015-C341-8AF9-C6661068F382}"/>
              </a:ext>
            </a:extLst>
          </p:cNvPr>
          <p:cNvSpPr/>
          <p:nvPr/>
        </p:nvSpPr>
        <p:spPr>
          <a:xfrm>
            <a:off x="239035" y="494259"/>
            <a:ext cx="1378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Sorting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B3A4F-640D-FE4F-8BC8-980A7A6C19C6}"/>
              </a:ext>
            </a:extLst>
          </p:cNvPr>
          <p:cNvSpPr/>
          <p:nvPr/>
        </p:nvSpPr>
        <p:spPr>
          <a:xfrm>
            <a:off x="745606" y="4810938"/>
            <a:ext cx="58918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Nunito"/>
              </a:rPr>
              <a:t>- To rearrange a given array or list of elements in an order</a:t>
            </a:r>
            <a:endParaRPr lang="en-US" sz="20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4CE849-EBB0-B24E-A43A-591A3273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0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967AB7-261F-CF4B-9E96-E170F957A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06DAA5-6EBF-7949-A805-87716EEFB8A3}"/>
              </a:ext>
            </a:extLst>
          </p:cNvPr>
          <p:cNvSpPr txBox="1">
            <a:spLocks/>
          </p:cNvSpPr>
          <p:nvPr/>
        </p:nvSpPr>
        <p:spPr bwMode="auto">
          <a:xfrm>
            <a:off x="345688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latin typeface="+mn-lt"/>
              </a:rPr>
              <a:t>Bubble Sort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EC534F4-91D9-6443-8D04-C2C25353F8EC}"/>
              </a:ext>
            </a:extLst>
          </p:cNvPr>
          <p:cNvSpPr txBox="1">
            <a:spLocks/>
          </p:cNvSpPr>
          <p:nvPr/>
        </p:nvSpPr>
        <p:spPr>
          <a:xfrm>
            <a:off x="6622663" y="6234113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A9300B7F-2BC9-F04A-BC70-7C9172E82C57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2F899-FD2B-CC44-98AC-8A491EA74D50}"/>
              </a:ext>
            </a:extLst>
          </p:cNvPr>
          <p:cNvSpPr/>
          <p:nvPr/>
        </p:nvSpPr>
        <p:spPr>
          <a:xfrm>
            <a:off x="778605" y="1344581"/>
            <a:ext cx="47981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Trebuchet MS" panose="020B0703020202090204" pitchFamily="34" charset="0"/>
              </a:rPr>
              <a:t>- One of the simplest sorting methods.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D909E-BBFB-F741-AF57-B430CFCD89AE}"/>
              </a:ext>
            </a:extLst>
          </p:cNvPr>
          <p:cNvSpPr/>
          <p:nvPr/>
        </p:nvSpPr>
        <p:spPr>
          <a:xfrm>
            <a:off x="778605" y="1717556"/>
            <a:ext cx="579872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en-US" sz="2000" b="1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</a:rPr>
              <a:t>- The basic idea is the “weight” of the record.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8F7D66-CF93-3846-92FA-62FCE0490D65}"/>
              </a:ext>
            </a:extLst>
          </p:cNvPr>
          <p:cNvSpPr/>
          <p:nvPr/>
        </p:nvSpPr>
        <p:spPr>
          <a:xfrm>
            <a:off x="809985" y="2800032"/>
            <a:ext cx="631040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Trebuchet MS" panose="020B0703020202090204" pitchFamily="34" charset="0"/>
              </a:rPr>
              <a:t>- The records are kept in an array held vertically.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41A7C-705C-A44A-9A56-228477EA1025}"/>
              </a:ext>
            </a:extLst>
          </p:cNvPr>
          <p:cNvSpPr/>
          <p:nvPr/>
        </p:nvSpPr>
        <p:spPr>
          <a:xfrm>
            <a:off x="778605" y="3571018"/>
            <a:ext cx="50257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Trebuchet MS" panose="020B0703020202090204" pitchFamily="34" charset="0"/>
              </a:rPr>
              <a:t>- “light” records bubbling up to the top.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33017A-694E-8845-B67F-F4588190B059}"/>
              </a:ext>
            </a:extLst>
          </p:cNvPr>
          <p:cNvSpPr/>
          <p:nvPr/>
        </p:nvSpPr>
        <p:spPr>
          <a:xfrm>
            <a:off x="809985" y="4255026"/>
            <a:ext cx="72190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chemeClr val="bg2">
                    <a:lumMod val="50000"/>
                  </a:schemeClr>
                </a:solidFill>
                <a:latin typeface="Trebuchet MS" panose="020B0703020202090204" pitchFamily="34" charset="0"/>
              </a:rPr>
              <a:t>- Repeated passes over the array from bottom to top.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7C938-60DF-8B4F-8276-91F3EA43061F}"/>
              </a:ext>
            </a:extLst>
          </p:cNvPr>
          <p:cNvSpPr/>
          <p:nvPr/>
        </p:nvSpPr>
        <p:spPr>
          <a:xfrm>
            <a:off x="778605" y="4979796"/>
            <a:ext cx="81979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chemeClr val="bg2">
                    <a:lumMod val="50000"/>
                  </a:schemeClr>
                </a:solidFill>
                <a:latin typeface="Trebuchet MS" panose="020B0703020202090204" pitchFamily="34" charset="0"/>
              </a:rPr>
              <a:t>- If two adjacent elements are out of order i.e. “lighter” one is below, we reverse the order.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04D7F4-DD3F-A341-B4E2-FAC71DD9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7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146E8-204A-A442-AD21-9059ED47A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9649C4A-12CC-B540-8D4F-4FACD1F81685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A5C1C08-89DE-BA46-A020-E941D9ED0207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B050AC6-C489-854F-AA7D-5BF99A4AEA35}"/>
              </a:ext>
            </a:extLst>
          </p:cNvPr>
          <p:cNvSpPr txBox="1">
            <a:spLocks/>
          </p:cNvSpPr>
          <p:nvPr/>
        </p:nvSpPr>
        <p:spPr bwMode="auto">
          <a:xfrm>
            <a:off x="345688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latin typeface="+mn-lt"/>
              </a:rPr>
              <a:t>Bubble Sort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42007F-30B3-C548-9B6D-A0112706FC3B}"/>
              </a:ext>
            </a:extLst>
          </p:cNvPr>
          <p:cNvSpPr/>
          <p:nvPr/>
        </p:nvSpPr>
        <p:spPr>
          <a:xfrm>
            <a:off x="1488688" y="1301271"/>
            <a:ext cx="6493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en-US" sz="2400" dirty="0">
                <a:latin typeface="Trebuchet MS" panose="020B0703020202090204" pitchFamily="34" charset="0"/>
              </a:rPr>
              <a:t>The overall effect, is that after the first pass the “lightest” record will bubble all the way to the top.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5CFA12-2B77-FF42-87F5-935F8FDE3E59}"/>
              </a:ext>
            </a:extLst>
          </p:cNvPr>
          <p:cNvSpPr/>
          <p:nvPr/>
        </p:nvSpPr>
        <p:spPr>
          <a:xfrm>
            <a:off x="1488688" y="3281698"/>
            <a:ext cx="75047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en-US" sz="2400" dirty="0">
                <a:latin typeface="Trebuchet MS" panose="020B0703020202090204" pitchFamily="34" charset="0"/>
              </a:rPr>
              <a:t>On the second top pass, the second lowest rises to the second position, and so on.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C641A-BA3A-7E41-B89D-11A83586D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5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9CA23-3EDA-D341-B590-46EE6CB6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3B6351-1EE2-3149-8DD3-F9A5BE296B6F}"/>
              </a:ext>
            </a:extLst>
          </p:cNvPr>
          <p:cNvSpPr txBox="1">
            <a:spLocks/>
          </p:cNvSpPr>
          <p:nvPr/>
        </p:nvSpPr>
        <p:spPr bwMode="auto">
          <a:xfrm>
            <a:off x="457200" y="-39688"/>
            <a:ext cx="7239000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Bubble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EEBEC-B0F9-3140-A1E6-34282819D277}"/>
              </a:ext>
            </a:extLst>
          </p:cNvPr>
          <p:cNvSpPr txBox="1">
            <a:spLocks/>
          </p:cNvSpPr>
          <p:nvPr/>
        </p:nvSpPr>
        <p:spPr>
          <a:xfrm>
            <a:off x="419100" y="1281733"/>
            <a:ext cx="7239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		</a:t>
            </a:r>
            <a:endParaRPr lang="en-US" altLang="en-US" sz="2000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7037ED7-052F-8C41-8AB0-903F7857329D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C67448D-6024-2441-B3A6-2B9F08063310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BE60DF-5434-E945-936F-B38ECF691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1627819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FF0000"/>
                </a:solidFill>
                <a:sym typeface="Wingdings" pitchFamily="2" charset="2"/>
              </a:rPr>
              <a:t> 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/>
            <a:r>
              <a:rPr lang="en-US" altLang="en-US" sz="2400" dirty="0">
                <a:solidFill>
                  <a:srgbClr val="FF0000"/>
                </a:solidFill>
              </a:rPr>
              <a:t>until all the data is checked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4FA53E3-360D-4143-8E37-EB71735F1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352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/>
            <a:r>
              <a:rPr lang="en-US" altLang="en-US" sz="2000" dirty="0"/>
              <a:t>swap ( x , y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/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/>
              <a:t>temp = A[</a:t>
            </a:r>
            <a:r>
              <a:rPr lang="en-US" altLang="en-US" sz="800" dirty="0"/>
              <a:t> </a:t>
            </a:r>
            <a:r>
              <a:rPr lang="en-US" altLang="en-US" sz="2000" dirty="0"/>
              <a:t>x</a:t>
            </a:r>
            <a:r>
              <a:rPr lang="en-US" altLang="en-US" sz="800" dirty="0"/>
              <a:t> </a:t>
            </a:r>
            <a:r>
              <a:rPr lang="en-US" altLang="en-US" sz="2000" dirty="0"/>
              <a:t>];</a:t>
            </a:r>
          </a:p>
          <a:p>
            <a:pPr eaLnBrk="1" hangingPunct="1"/>
            <a:r>
              <a:rPr lang="en-US" altLang="en-US" sz="2000" dirty="0"/>
              <a:t>A[</a:t>
            </a:r>
            <a:r>
              <a:rPr lang="en-US" altLang="en-US" sz="800" dirty="0"/>
              <a:t> </a:t>
            </a:r>
            <a:r>
              <a:rPr lang="en-US" altLang="en-US" sz="2000" dirty="0"/>
              <a:t>x</a:t>
            </a:r>
            <a:r>
              <a:rPr lang="en-US" altLang="en-US" sz="800" dirty="0"/>
              <a:t> </a:t>
            </a:r>
            <a:r>
              <a:rPr lang="en-US" altLang="en-US" sz="2000" dirty="0"/>
              <a:t>] = A[</a:t>
            </a:r>
            <a:r>
              <a:rPr lang="en-US" altLang="en-US" sz="800" dirty="0"/>
              <a:t> </a:t>
            </a:r>
            <a:r>
              <a:rPr lang="en-US" altLang="en-US" sz="2000" dirty="0"/>
              <a:t>y</a:t>
            </a:r>
            <a:r>
              <a:rPr lang="en-US" altLang="en-US" sz="800" dirty="0"/>
              <a:t> </a:t>
            </a:r>
            <a:r>
              <a:rPr lang="en-US" altLang="en-US" sz="2000" dirty="0"/>
              <a:t>];</a:t>
            </a:r>
          </a:p>
          <a:p>
            <a:pPr eaLnBrk="1" hangingPunct="1"/>
            <a:r>
              <a:rPr lang="en-US" altLang="en-US" sz="2000" dirty="0"/>
              <a:t>A[</a:t>
            </a:r>
            <a:r>
              <a:rPr lang="en-US" altLang="en-US" sz="800" dirty="0"/>
              <a:t> </a:t>
            </a:r>
            <a:r>
              <a:rPr lang="en-US" altLang="en-US" sz="2000" dirty="0"/>
              <a:t>y</a:t>
            </a:r>
            <a:r>
              <a:rPr lang="en-US" altLang="en-US" sz="800" dirty="0"/>
              <a:t> </a:t>
            </a:r>
            <a:r>
              <a:rPr lang="en-US" altLang="en-US" sz="2000" dirty="0"/>
              <a:t>] = temp;</a:t>
            </a:r>
          </a:p>
          <a:p>
            <a:pPr eaLnBrk="1" hangingPunct="1"/>
            <a:r>
              <a:rPr lang="en-US" altLang="en-US" sz="2000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939D9-8E53-1948-B72D-EE4EBC373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480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936378-39F4-8C49-AA84-724973BD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8DE7C-CAD5-B944-AFB3-DFC50BB71DCA}"/>
              </a:ext>
            </a:extLst>
          </p:cNvPr>
          <p:cNvSpPr txBox="1">
            <a:spLocks/>
          </p:cNvSpPr>
          <p:nvPr/>
        </p:nvSpPr>
        <p:spPr bwMode="auto">
          <a:xfrm>
            <a:off x="457200" y="-39688"/>
            <a:ext cx="7239000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Bubble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5D6E27-103B-5140-BE1D-F09B1F1F0FE6}"/>
              </a:ext>
            </a:extLst>
          </p:cNvPr>
          <p:cNvSpPr txBox="1">
            <a:spLocks/>
          </p:cNvSpPr>
          <p:nvPr/>
        </p:nvSpPr>
        <p:spPr>
          <a:xfrm>
            <a:off x="457200" y="1092200"/>
            <a:ext cx="7239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swapped = 0;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swapped = 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= n-1;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dirty="0">
                <a:latin typeface="Times New Roman" panose="02020603050405020304" pitchFamily="18" charset="0"/>
              </a:rPr>
              <a:t>(swapped == 0)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break;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for</a:t>
            </a:r>
            <a:endParaRPr lang="en-US" altLang="en-US" sz="1200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endParaRPr lang="en-US" altLang="en-US" sz="2000" dirty="0">
              <a:solidFill>
                <a:srgbClr val="FF0000"/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46D7C7-C9F9-744A-94B5-4C0666D91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413" y="4267200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sym typeface="Wingdings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0F9FC64-2ECC-6949-BCB4-DA8452A3B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828800"/>
            <a:ext cx="3944938" cy="22352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/>
            <a:r>
              <a:rPr lang="en-US" altLang="en-US" sz="200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/>
            <a:r>
              <a:rPr lang="en-US" altLang="en-US" sz="2000"/>
              <a:t>swap ( x , y</a:t>
            </a:r>
            <a:r>
              <a:rPr lang="en-US" altLang="en-US" sz="2000">
                <a:latin typeface="Times New Roman" panose="02020603050405020304" pitchFamily="18" charset="0"/>
              </a:rPr>
              <a:t>) {</a:t>
            </a:r>
          </a:p>
          <a:p>
            <a:pPr eaLnBrk="1" hangingPunct="1"/>
            <a:r>
              <a:rPr lang="en-US" altLang="en-US" sz="2000">
                <a:solidFill>
                  <a:srgbClr val="0000CC"/>
                </a:solidFill>
              </a:rPr>
              <a:t> int </a:t>
            </a:r>
            <a:r>
              <a:rPr lang="en-US" altLang="en-US" sz="2000"/>
              <a:t>temp = 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/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x</a:t>
            </a:r>
            <a:r>
              <a:rPr lang="en-US" altLang="en-US" sz="800"/>
              <a:t> </a:t>
            </a:r>
            <a:r>
              <a:rPr lang="en-US" altLang="en-US" sz="2000"/>
              <a:t>] = 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];</a:t>
            </a:r>
          </a:p>
          <a:p>
            <a:pPr eaLnBrk="1" hangingPunct="1"/>
            <a:r>
              <a:rPr lang="en-US" altLang="en-US" sz="2000"/>
              <a:t>A[</a:t>
            </a:r>
            <a:r>
              <a:rPr lang="en-US" altLang="en-US" sz="800"/>
              <a:t> </a:t>
            </a:r>
            <a:r>
              <a:rPr lang="en-US" altLang="en-US" sz="2000"/>
              <a:t>y</a:t>
            </a:r>
            <a:r>
              <a:rPr lang="en-US" altLang="en-US" sz="800"/>
              <a:t> </a:t>
            </a:r>
            <a:r>
              <a:rPr lang="en-US" altLang="en-US" sz="2000"/>
              <a:t>] = temp;</a:t>
            </a:r>
          </a:p>
          <a:p>
            <a:pPr eaLnBrk="1" hangingPunct="1"/>
            <a:r>
              <a:rPr lang="en-US" altLang="en-US" sz="200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AAAA6-8350-614A-9AE2-D25575DF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7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E60F9A-05F8-6947-B103-456A01BE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BC228D-1353-5B4A-99D5-5577FBBF6600}"/>
              </a:ext>
            </a:extLst>
          </p:cNvPr>
          <p:cNvSpPr txBox="1">
            <a:spLocks/>
          </p:cNvSpPr>
          <p:nvPr/>
        </p:nvSpPr>
        <p:spPr bwMode="auto">
          <a:xfrm>
            <a:off x="457200" y="-39688"/>
            <a:ext cx="7239000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Bubble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8DD8E-C639-F444-AFF4-01F40BF37642}"/>
              </a:ext>
            </a:extLst>
          </p:cNvPr>
          <p:cNvSpPr txBox="1">
            <a:spLocks/>
          </p:cNvSpPr>
          <p:nvPr/>
        </p:nvSpPr>
        <p:spPr>
          <a:xfrm>
            <a:off x="457200" y="923035"/>
            <a:ext cx="7239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swapped = 0;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swapped = 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n = n-1;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dirty="0">
                <a:latin typeface="Times New Roman" panose="02020603050405020304" pitchFamily="18" charset="0"/>
              </a:rPr>
              <a:t>(swapped == 0)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break;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endParaRPr lang="en-US" altLang="en-US" sz="2000" dirty="0">
              <a:latin typeface="Trebuchet MS" panose="020B0703020202090204" pitchFamily="34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71095F0-CD4E-C040-891C-830F5EEA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495800"/>
            <a:ext cx="4446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sym typeface="Wingdings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9DE9D9-6294-594D-8187-6A06B9DD16F2}"/>
              </a:ext>
            </a:extLst>
          </p:cNvPr>
          <p:cNvSpPr/>
          <p:nvPr/>
        </p:nvSpPr>
        <p:spPr>
          <a:xfrm>
            <a:off x="820738" y="4132263"/>
            <a:ext cx="10668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5E9D2-B814-6542-AF97-9B9BA8969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03600"/>
            <a:ext cx="4953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A41304"/>
                </a:solidFill>
                <a:latin typeface="Trebuchet MS" panose="020B0703020202090204" pitchFamily="34" charset="0"/>
              </a:rPr>
              <a:t>No bubbling to the top position, because the lightest record is already there.</a:t>
            </a:r>
            <a:endParaRPr lang="en-US" altLang="en-US" sz="2000" dirty="0">
              <a:solidFill>
                <a:srgbClr val="A41304"/>
              </a:solidFill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EC11964-5F50-7445-8C6E-637E6BE8E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0413" y="1143000"/>
            <a:ext cx="3582987" cy="20320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/>
            <a:r>
              <a:rPr lang="en-US" altLang="en-US"/>
              <a:t>swap ( x , y</a:t>
            </a:r>
            <a:r>
              <a:rPr lang="en-US" altLang="en-US">
                <a:latin typeface="Times New Roman" panose="02020603050405020304" pitchFamily="18" charset="0"/>
              </a:rPr>
              <a:t>) {</a:t>
            </a:r>
          </a:p>
          <a:p>
            <a:pPr eaLnBrk="1" hangingPunct="1"/>
            <a:r>
              <a:rPr lang="en-US" altLang="en-US">
                <a:solidFill>
                  <a:srgbClr val="0000CC"/>
                </a:solidFill>
              </a:rPr>
              <a:t> int </a:t>
            </a:r>
            <a:r>
              <a:rPr lang="en-US" altLang="en-US"/>
              <a:t>temp = A[</a:t>
            </a:r>
            <a:r>
              <a:rPr lang="en-US" altLang="en-US" sz="700"/>
              <a:t> </a:t>
            </a:r>
            <a:r>
              <a:rPr lang="en-US" altLang="en-US"/>
              <a:t>x</a:t>
            </a:r>
            <a:r>
              <a:rPr lang="en-US" altLang="en-US" sz="700"/>
              <a:t> </a:t>
            </a:r>
            <a:r>
              <a:rPr lang="en-US" altLang="en-US"/>
              <a:t>];</a:t>
            </a:r>
          </a:p>
          <a:p>
            <a:pPr eaLnBrk="1" hangingPunct="1"/>
            <a:r>
              <a:rPr lang="en-US" altLang="en-US"/>
              <a:t>A[</a:t>
            </a:r>
            <a:r>
              <a:rPr lang="en-US" altLang="en-US" sz="700"/>
              <a:t> </a:t>
            </a:r>
            <a:r>
              <a:rPr lang="en-US" altLang="en-US"/>
              <a:t>x</a:t>
            </a:r>
            <a:r>
              <a:rPr lang="en-US" altLang="en-US" sz="700"/>
              <a:t> </a:t>
            </a:r>
            <a:r>
              <a:rPr lang="en-US" altLang="en-US"/>
              <a:t>] = A[</a:t>
            </a:r>
            <a:r>
              <a:rPr lang="en-US" altLang="en-US" sz="700"/>
              <a:t> </a:t>
            </a:r>
            <a:r>
              <a:rPr lang="en-US" altLang="en-US"/>
              <a:t>y</a:t>
            </a:r>
            <a:r>
              <a:rPr lang="en-US" altLang="en-US" sz="700"/>
              <a:t> </a:t>
            </a:r>
            <a:r>
              <a:rPr lang="en-US" altLang="en-US"/>
              <a:t>];</a:t>
            </a:r>
          </a:p>
          <a:p>
            <a:pPr eaLnBrk="1" hangingPunct="1"/>
            <a:r>
              <a:rPr lang="en-US" altLang="en-US"/>
              <a:t>A[</a:t>
            </a:r>
            <a:r>
              <a:rPr lang="en-US" altLang="en-US" sz="700"/>
              <a:t> </a:t>
            </a:r>
            <a:r>
              <a:rPr lang="en-US" altLang="en-US"/>
              <a:t>y</a:t>
            </a:r>
            <a:r>
              <a:rPr lang="en-US" altLang="en-US" sz="700"/>
              <a:t> </a:t>
            </a:r>
            <a:r>
              <a:rPr lang="en-US" altLang="en-US"/>
              <a:t>] = temp;</a:t>
            </a:r>
          </a:p>
          <a:p>
            <a:pPr eaLnBrk="1" hangingPunct="1"/>
            <a:r>
              <a:rPr lang="en-US" altLang="en-US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FF00B-4BC6-194A-B53E-484F1E78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68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B6A3A-27AC-AA43-880A-910C6F2E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74B6DF-0E6B-0645-86F1-6BC27239D730}"/>
              </a:ext>
            </a:extLst>
          </p:cNvPr>
          <p:cNvSpPr txBox="1">
            <a:spLocks/>
          </p:cNvSpPr>
          <p:nvPr/>
        </p:nvSpPr>
        <p:spPr bwMode="auto">
          <a:xfrm>
            <a:off x="366713" y="468351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(First Pass)</a:t>
            </a:r>
          </a:p>
        </p:txBody>
      </p:sp>
      <p:graphicFrame>
        <p:nvGraphicFramePr>
          <p:cNvPr id="4" name="Group 182">
            <a:extLst>
              <a:ext uri="{FF2B5EF4-FFF2-40B4-BE49-F238E27FC236}">
                <a16:creationId xmlns:a16="http://schemas.microsoft.com/office/drawing/2014/main" id="{28CCD249-32BB-EB44-9DD0-770F7F0354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3395614"/>
              </p:ext>
            </p:extLst>
          </p:nvPr>
        </p:nvGraphicFramePr>
        <p:xfrm>
          <a:off x="1052513" y="1230351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32">
            <a:extLst>
              <a:ext uri="{FF2B5EF4-FFF2-40B4-BE49-F238E27FC236}">
                <a16:creationId xmlns:a16="http://schemas.microsoft.com/office/drawing/2014/main" id="{C24AA75B-52D2-DD42-83DF-22C8D9256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762" y="123035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409BD294-938C-7F47-A01B-FFEE4E9BD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3" y="1806614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7" name="Group 56">
            <a:extLst>
              <a:ext uri="{FF2B5EF4-FFF2-40B4-BE49-F238E27FC236}">
                <a16:creationId xmlns:a16="http://schemas.microsoft.com/office/drawing/2014/main" id="{31538E90-7D27-8241-8F8B-B856D973EA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9041148"/>
              </p:ext>
            </p:extLst>
          </p:nvPr>
        </p:nvGraphicFramePr>
        <p:xfrm>
          <a:off x="1052513" y="1825664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58">
            <a:extLst>
              <a:ext uri="{FF2B5EF4-FFF2-40B4-BE49-F238E27FC236}">
                <a16:creationId xmlns:a16="http://schemas.microsoft.com/office/drawing/2014/main" id="{C017C848-624F-8E47-A73D-EE86FADC1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430070"/>
              </p:ext>
            </p:extLst>
          </p:nvPr>
        </p:nvGraphicFramePr>
        <p:xfrm>
          <a:off x="1052513" y="2282864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183">
            <a:extLst>
              <a:ext uri="{FF2B5EF4-FFF2-40B4-BE49-F238E27FC236}">
                <a16:creationId xmlns:a16="http://schemas.microsoft.com/office/drawing/2014/main" id="{298BAECB-A156-424D-A5B2-AD71F0E1C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6" y="2235239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0" name="Freeform 184">
            <a:extLst>
              <a:ext uri="{FF2B5EF4-FFF2-40B4-BE49-F238E27FC236}">
                <a16:creationId xmlns:a16="http://schemas.microsoft.com/office/drawing/2014/main" id="{B1CD71F9-9534-034D-88FC-0BCAB5EA4834}"/>
              </a:ext>
            </a:extLst>
          </p:cNvPr>
          <p:cNvSpPr>
            <a:spLocks/>
          </p:cNvSpPr>
          <p:nvPr/>
        </p:nvSpPr>
        <p:spPr bwMode="auto">
          <a:xfrm flipV="1">
            <a:off x="1347788" y="1625639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Freeform 185">
            <a:extLst>
              <a:ext uri="{FF2B5EF4-FFF2-40B4-BE49-F238E27FC236}">
                <a16:creationId xmlns:a16="http://schemas.microsoft.com/office/drawing/2014/main" id="{09CDDB48-367A-044D-9B5F-2529A4D5D426}"/>
              </a:ext>
            </a:extLst>
          </p:cNvPr>
          <p:cNvSpPr>
            <a:spLocks/>
          </p:cNvSpPr>
          <p:nvPr/>
        </p:nvSpPr>
        <p:spPr bwMode="auto">
          <a:xfrm flipV="1">
            <a:off x="2119313" y="2130464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2" name="Group 187">
            <a:extLst>
              <a:ext uri="{FF2B5EF4-FFF2-40B4-BE49-F238E27FC236}">
                <a16:creationId xmlns:a16="http://schemas.microsoft.com/office/drawing/2014/main" id="{C9AF6115-4CC2-8944-8D6F-212414677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81358"/>
              </p:ext>
            </p:extLst>
          </p:nvPr>
        </p:nvGraphicFramePr>
        <p:xfrm>
          <a:off x="1028701" y="2754351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Box 207">
            <a:extLst>
              <a:ext uri="{FF2B5EF4-FFF2-40B4-BE49-F238E27FC236}">
                <a16:creationId xmlns:a16="http://schemas.microsoft.com/office/drawing/2014/main" id="{75B37655-5CF7-A440-983D-D63FC22E7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2706726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14" name="Freeform 208">
            <a:extLst>
              <a:ext uri="{FF2B5EF4-FFF2-40B4-BE49-F238E27FC236}">
                <a16:creationId xmlns:a16="http://schemas.microsoft.com/office/drawing/2014/main" id="{61D95479-63AE-B647-800F-4A1613487CF5}"/>
              </a:ext>
            </a:extLst>
          </p:cNvPr>
          <p:cNvSpPr>
            <a:spLocks/>
          </p:cNvSpPr>
          <p:nvPr/>
        </p:nvSpPr>
        <p:spPr bwMode="auto">
          <a:xfrm flipV="1">
            <a:off x="2728913" y="2587664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5" name="Group 209">
            <a:extLst>
              <a:ext uri="{FF2B5EF4-FFF2-40B4-BE49-F238E27FC236}">
                <a16:creationId xmlns:a16="http://schemas.microsoft.com/office/drawing/2014/main" id="{DBAF02A7-764A-7545-A763-E8A71C9876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808185"/>
              </p:ext>
            </p:extLst>
          </p:nvPr>
        </p:nvGraphicFramePr>
        <p:xfrm>
          <a:off x="1009651" y="3216314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 Box 229">
            <a:extLst>
              <a:ext uri="{FF2B5EF4-FFF2-40B4-BE49-F238E27FC236}">
                <a16:creationId xmlns:a16="http://schemas.microsoft.com/office/drawing/2014/main" id="{B3FD7BDA-2F37-D54E-B77B-13E271B41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3" y="3168689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17" name="Freeform 230">
            <a:extLst>
              <a:ext uri="{FF2B5EF4-FFF2-40B4-BE49-F238E27FC236}">
                <a16:creationId xmlns:a16="http://schemas.microsoft.com/office/drawing/2014/main" id="{D02443F0-8C36-B646-B232-6F9A48AE6888}"/>
              </a:ext>
            </a:extLst>
          </p:cNvPr>
          <p:cNvSpPr>
            <a:spLocks/>
          </p:cNvSpPr>
          <p:nvPr/>
        </p:nvSpPr>
        <p:spPr bwMode="auto">
          <a:xfrm flipV="1">
            <a:off x="3567113" y="3059151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18" name="Group 231">
            <a:extLst>
              <a:ext uri="{FF2B5EF4-FFF2-40B4-BE49-F238E27FC236}">
                <a16:creationId xmlns:a16="http://schemas.microsoft.com/office/drawing/2014/main" id="{4957B59E-9E38-F846-899F-1584C41A0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595214"/>
              </p:ext>
            </p:extLst>
          </p:nvPr>
        </p:nvGraphicFramePr>
        <p:xfrm>
          <a:off x="1019176" y="3663989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 Box 251">
            <a:extLst>
              <a:ext uri="{FF2B5EF4-FFF2-40B4-BE49-F238E27FC236}">
                <a16:creationId xmlns:a16="http://schemas.microsoft.com/office/drawing/2014/main" id="{908F70C2-AA65-274D-8C6A-ADEDE1903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616364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20" name="Freeform 252">
            <a:extLst>
              <a:ext uri="{FF2B5EF4-FFF2-40B4-BE49-F238E27FC236}">
                <a16:creationId xmlns:a16="http://schemas.microsoft.com/office/drawing/2014/main" id="{65616A26-781A-B243-A9F2-860FF24C1181}"/>
              </a:ext>
            </a:extLst>
          </p:cNvPr>
          <p:cNvSpPr>
            <a:spLocks/>
          </p:cNvSpPr>
          <p:nvPr/>
        </p:nvSpPr>
        <p:spPr bwMode="auto">
          <a:xfrm flipV="1">
            <a:off x="4252913" y="3454439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1" name="Group 253">
            <a:extLst>
              <a:ext uri="{FF2B5EF4-FFF2-40B4-BE49-F238E27FC236}">
                <a16:creationId xmlns:a16="http://schemas.microsoft.com/office/drawing/2014/main" id="{A27DFF66-0DAA-9940-99A6-AB5869B299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602238"/>
              </p:ext>
            </p:extLst>
          </p:nvPr>
        </p:nvGraphicFramePr>
        <p:xfrm>
          <a:off x="1019176" y="4135476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 Box 273">
            <a:extLst>
              <a:ext uri="{FF2B5EF4-FFF2-40B4-BE49-F238E27FC236}">
                <a16:creationId xmlns:a16="http://schemas.microsoft.com/office/drawing/2014/main" id="{EDC337C4-8B70-2443-8BB9-D9038FFF8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408785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23" name="Freeform 274">
            <a:extLst>
              <a:ext uri="{FF2B5EF4-FFF2-40B4-BE49-F238E27FC236}">
                <a16:creationId xmlns:a16="http://schemas.microsoft.com/office/drawing/2014/main" id="{955BFFB1-CA1F-6646-9ACB-C957DFC966F7}"/>
              </a:ext>
            </a:extLst>
          </p:cNvPr>
          <p:cNvSpPr>
            <a:spLocks/>
          </p:cNvSpPr>
          <p:nvPr/>
        </p:nvSpPr>
        <p:spPr bwMode="auto">
          <a:xfrm flipV="1">
            <a:off x="4938713" y="3959264"/>
            <a:ext cx="657225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4" name="Group 297">
            <a:extLst>
              <a:ext uri="{FF2B5EF4-FFF2-40B4-BE49-F238E27FC236}">
                <a16:creationId xmlns:a16="http://schemas.microsoft.com/office/drawing/2014/main" id="{893E7680-B812-2E40-BF65-D65B7F15F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08879"/>
              </p:ext>
            </p:extLst>
          </p:nvPr>
        </p:nvGraphicFramePr>
        <p:xfrm>
          <a:off x="1052513" y="4635539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90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 Box 295">
            <a:extLst>
              <a:ext uri="{FF2B5EF4-FFF2-40B4-BE49-F238E27FC236}">
                <a16:creationId xmlns:a16="http://schemas.microsoft.com/office/drawing/2014/main" id="{F3D0DBA1-22E0-B345-9A87-984723DC7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1" y="460220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26" name="Rectangle 298">
            <a:extLst>
              <a:ext uri="{FF2B5EF4-FFF2-40B4-BE49-F238E27FC236}">
                <a16:creationId xmlns:a16="http://schemas.microsoft.com/office/drawing/2014/main" id="{DEF1E03F-2667-7D4A-AA78-4BD80EBA8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1749464"/>
            <a:ext cx="1987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27" name="Rectangle 299">
            <a:extLst>
              <a:ext uri="{FF2B5EF4-FFF2-40B4-BE49-F238E27FC236}">
                <a16:creationId xmlns:a16="http://schemas.microsoft.com/office/drawing/2014/main" id="{F4844EDE-D233-6B4E-A0BD-624B5F438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5626" y="2235239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28" name="Rectangle 300">
            <a:extLst>
              <a:ext uri="{FF2B5EF4-FFF2-40B4-BE49-F238E27FC236}">
                <a16:creationId xmlns:a16="http://schemas.microsoft.com/office/drawing/2014/main" id="{5C78C3E1-38F5-1D40-BB00-EACE21D2A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6" y="2740064"/>
            <a:ext cx="2005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29" name="Rectangle 301">
            <a:extLst>
              <a:ext uri="{FF2B5EF4-FFF2-40B4-BE49-F238E27FC236}">
                <a16:creationId xmlns:a16="http://schemas.microsoft.com/office/drawing/2014/main" id="{98A73593-E905-FB42-B9F9-813663245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4068801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[6])</a:t>
            </a:r>
          </a:p>
        </p:txBody>
      </p:sp>
      <p:sp>
        <p:nvSpPr>
          <p:cNvPr id="30" name="Rectangle 300">
            <a:extLst>
              <a:ext uri="{FF2B5EF4-FFF2-40B4-BE49-F238E27FC236}">
                <a16:creationId xmlns:a16="http://schemas.microsoft.com/office/drawing/2014/main" id="{DC6F8A8C-AFD7-4041-BD5F-2C621EFD1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3194089"/>
            <a:ext cx="2005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31" name="Rectangle 300">
            <a:extLst>
              <a:ext uri="{FF2B5EF4-FFF2-40B4-BE49-F238E27FC236}">
                <a16:creationId xmlns:a16="http://schemas.microsoft.com/office/drawing/2014/main" id="{0BFF9959-1371-1F45-B2BC-9AD16303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589376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CC1FBC-CFDF-C145-992A-B2FFC1741CB4}"/>
              </a:ext>
            </a:extLst>
          </p:cNvPr>
          <p:cNvCxnSpPr/>
          <p:nvPr/>
        </p:nvCxnSpPr>
        <p:spPr>
          <a:xfrm>
            <a:off x="1585913" y="1290676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4B86EB-CF16-004B-806D-97EF10317D57}"/>
              </a:ext>
            </a:extLst>
          </p:cNvPr>
          <p:cNvCxnSpPr/>
          <p:nvPr/>
        </p:nvCxnSpPr>
        <p:spPr>
          <a:xfrm>
            <a:off x="2336801" y="1884401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21FB20-B502-D540-B24D-82F017A63873}"/>
              </a:ext>
            </a:extLst>
          </p:cNvPr>
          <p:cNvCxnSpPr/>
          <p:nvPr/>
        </p:nvCxnSpPr>
        <p:spPr>
          <a:xfrm>
            <a:off x="3079751" y="2341601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747E753-5267-4343-96E3-B34764DE51E9}"/>
              </a:ext>
            </a:extLst>
          </p:cNvPr>
          <p:cNvCxnSpPr/>
          <p:nvPr/>
        </p:nvCxnSpPr>
        <p:spPr>
          <a:xfrm>
            <a:off x="3813176" y="2851189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5ACD00-D391-9049-94BA-DF3BC074C584}"/>
              </a:ext>
            </a:extLst>
          </p:cNvPr>
          <p:cNvCxnSpPr/>
          <p:nvPr/>
        </p:nvCxnSpPr>
        <p:spPr>
          <a:xfrm>
            <a:off x="4532313" y="3319501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9574C48-5124-3941-98CC-E9944123F5EA}"/>
              </a:ext>
            </a:extLst>
          </p:cNvPr>
          <p:cNvCxnSpPr/>
          <p:nvPr/>
        </p:nvCxnSpPr>
        <p:spPr>
          <a:xfrm>
            <a:off x="5243513" y="3805276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BEEA80-5FC8-264A-BACF-E48615D5EEA7}"/>
              </a:ext>
            </a:extLst>
          </p:cNvPr>
          <p:cNvCxnSpPr/>
          <p:nvPr/>
        </p:nvCxnSpPr>
        <p:spPr>
          <a:xfrm>
            <a:off x="6021388" y="4216439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BB407ABD-8D59-BD49-ABF3-A063B7FA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1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375E93-897A-EE4B-9182-48097347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ABE9E0-F772-A944-AB01-8AEFD6172B01}"/>
              </a:ext>
            </a:extLst>
          </p:cNvPr>
          <p:cNvSpPr txBox="1">
            <a:spLocks/>
          </p:cNvSpPr>
          <p:nvPr/>
        </p:nvSpPr>
        <p:spPr bwMode="auto">
          <a:xfrm>
            <a:off x="371475" y="446049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(Second Pass)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30FDD7ED-E1F2-6344-BE46-B10DB5366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08049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0919FF40-D571-DB41-9F88-D35A2DCD0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784312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6" name="Text Box 183">
            <a:extLst>
              <a:ext uri="{FF2B5EF4-FFF2-40B4-BE49-F238E27FC236}">
                <a16:creationId xmlns:a16="http://schemas.microsoft.com/office/drawing/2014/main" id="{C40A0227-E976-9A47-BD16-A52CCF420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12937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7" name="Text Box 207">
            <a:extLst>
              <a:ext uri="{FF2B5EF4-FFF2-40B4-BE49-F238E27FC236}">
                <a16:creationId xmlns:a16="http://schemas.microsoft.com/office/drawing/2014/main" id="{7EA9EF06-1E8E-474D-8D4D-1A4724E83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2684424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" name="Text Box 229">
            <a:extLst>
              <a:ext uri="{FF2B5EF4-FFF2-40B4-BE49-F238E27FC236}">
                <a16:creationId xmlns:a16="http://schemas.microsoft.com/office/drawing/2014/main" id="{E425D351-71A3-C64A-BBFB-B377E1CE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146387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9" name="Freeform 230">
            <a:extLst>
              <a:ext uri="{FF2B5EF4-FFF2-40B4-BE49-F238E27FC236}">
                <a16:creationId xmlns:a16="http://schemas.microsoft.com/office/drawing/2014/main" id="{B32F0FD9-25B7-7F43-BE48-0E0FCAFB1E86}"/>
              </a:ext>
            </a:extLst>
          </p:cNvPr>
          <p:cNvSpPr>
            <a:spLocks/>
          </p:cNvSpPr>
          <p:nvPr/>
        </p:nvSpPr>
        <p:spPr bwMode="auto">
          <a:xfrm flipV="1">
            <a:off x="3571875" y="3022562"/>
            <a:ext cx="523875" cy="200025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 Box 251">
            <a:extLst>
              <a:ext uri="{FF2B5EF4-FFF2-40B4-BE49-F238E27FC236}">
                <a16:creationId xmlns:a16="http://schemas.microsoft.com/office/drawing/2014/main" id="{029BE5B8-F3EA-F043-9854-BD8A71D8F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3594062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11" name="Text Box 273">
            <a:extLst>
              <a:ext uri="{FF2B5EF4-FFF2-40B4-BE49-F238E27FC236}">
                <a16:creationId xmlns:a16="http://schemas.microsoft.com/office/drawing/2014/main" id="{E63B6130-74CA-4541-9759-AE344DEAB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4065549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12" name="Rectangle 298">
            <a:extLst>
              <a:ext uri="{FF2B5EF4-FFF2-40B4-BE49-F238E27FC236}">
                <a16:creationId xmlns:a16="http://schemas.microsoft.com/office/drawing/2014/main" id="{3E7090B0-FCA1-A442-97FB-70104740A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1589049"/>
            <a:ext cx="1987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[1])</a:t>
            </a:r>
          </a:p>
        </p:txBody>
      </p:sp>
      <p:sp>
        <p:nvSpPr>
          <p:cNvPr id="13" name="Rectangle 299">
            <a:extLst>
              <a:ext uri="{FF2B5EF4-FFF2-40B4-BE49-F238E27FC236}">
                <a16:creationId xmlns:a16="http://schemas.microsoft.com/office/drawing/2014/main" id="{6D609784-3D53-A449-95F1-F117BB6C9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0388" y="2074824"/>
            <a:ext cx="200501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[2])</a:t>
            </a:r>
          </a:p>
        </p:txBody>
      </p:sp>
      <p:sp>
        <p:nvSpPr>
          <p:cNvPr id="14" name="Rectangle 300">
            <a:extLst>
              <a:ext uri="{FF2B5EF4-FFF2-40B4-BE49-F238E27FC236}">
                <a16:creationId xmlns:a16="http://schemas.microsoft.com/office/drawing/2014/main" id="{BC553F38-4DCC-644F-AB98-37BB3F47A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038" y="2717762"/>
            <a:ext cx="2005012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[3])</a:t>
            </a:r>
          </a:p>
        </p:txBody>
      </p:sp>
      <p:sp>
        <p:nvSpPr>
          <p:cNvPr id="15" name="Rectangle 300">
            <a:extLst>
              <a:ext uri="{FF2B5EF4-FFF2-40B4-BE49-F238E27FC236}">
                <a16:creationId xmlns:a16="http://schemas.microsoft.com/office/drawing/2014/main" id="{FEC633CE-9310-7545-90F2-C9158EBD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3033674"/>
            <a:ext cx="2005013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[4])</a:t>
            </a:r>
          </a:p>
        </p:txBody>
      </p:sp>
      <p:sp>
        <p:nvSpPr>
          <p:cNvPr id="16" name="Rectangle 300">
            <a:extLst>
              <a:ext uri="{FF2B5EF4-FFF2-40B4-BE49-F238E27FC236}">
                <a16:creationId xmlns:a16="http://schemas.microsoft.com/office/drawing/2014/main" id="{06D87EE6-2D09-5C4F-9543-72ECB75A9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3428962"/>
            <a:ext cx="2005013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</a:rPr>
              <a:t>swap(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,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527A70A-E0BA-6F40-ACB4-22F7E34C9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227163"/>
              </p:ext>
            </p:extLst>
          </p:nvPr>
        </p:nvGraphicFramePr>
        <p:xfrm>
          <a:off x="981075" y="1208049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B3C6BE0-39AD-9943-A127-FC15AC176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111889"/>
              </p:ext>
            </p:extLst>
          </p:nvPr>
        </p:nvGraphicFramePr>
        <p:xfrm>
          <a:off x="981075" y="1741449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Freeform 184">
            <a:extLst>
              <a:ext uri="{FF2B5EF4-FFF2-40B4-BE49-F238E27FC236}">
                <a16:creationId xmlns:a16="http://schemas.microsoft.com/office/drawing/2014/main" id="{611B73AB-EA4A-624A-BF9B-F33D247AAC57}"/>
              </a:ext>
            </a:extLst>
          </p:cNvPr>
          <p:cNvSpPr>
            <a:spLocks/>
          </p:cNvSpPr>
          <p:nvPr/>
        </p:nvSpPr>
        <p:spPr bwMode="auto">
          <a:xfrm flipV="1">
            <a:off x="1352550" y="1512849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86CDA8A-22FE-314C-B3E3-394353C0C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980890"/>
              </p:ext>
            </p:extLst>
          </p:nvPr>
        </p:nvGraphicFramePr>
        <p:xfrm>
          <a:off x="981075" y="2254212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FDA9F5F-B427-6941-9F51-0C19AA0A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30347"/>
              </p:ext>
            </p:extLst>
          </p:nvPr>
        </p:nvGraphicFramePr>
        <p:xfrm>
          <a:off x="981075" y="2689187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5DE3204-FB64-4342-95E3-8DD0710F7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776450"/>
              </p:ext>
            </p:extLst>
          </p:nvPr>
        </p:nvGraphicFramePr>
        <p:xfrm>
          <a:off x="981075" y="3173374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996E5CF-9223-F04E-817E-25DFB141B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92420"/>
              </p:ext>
            </p:extLst>
          </p:nvPr>
        </p:nvGraphicFramePr>
        <p:xfrm>
          <a:off x="981075" y="3646449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Freeform 185">
            <a:extLst>
              <a:ext uri="{FF2B5EF4-FFF2-40B4-BE49-F238E27FC236}">
                <a16:creationId xmlns:a16="http://schemas.microsoft.com/office/drawing/2014/main" id="{282271D7-EB3D-3C41-904D-5483B7A2B66E}"/>
              </a:ext>
            </a:extLst>
          </p:cNvPr>
          <p:cNvSpPr>
            <a:spLocks/>
          </p:cNvSpPr>
          <p:nvPr/>
        </p:nvSpPr>
        <p:spPr bwMode="auto">
          <a:xfrm flipV="1">
            <a:off x="2124075" y="2108162"/>
            <a:ext cx="55245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Freeform 208">
            <a:extLst>
              <a:ext uri="{FF2B5EF4-FFF2-40B4-BE49-F238E27FC236}">
                <a16:creationId xmlns:a16="http://schemas.microsoft.com/office/drawing/2014/main" id="{626A2C7F-4460-524A-A470-456F8423139B}"/>
              </a:ext>
            </a:extLst>
          </p:cNvPr>
          <p:cNvSpPr>
            <a:spLocks/>
          </p:cNvSpPr>
          <p:nvPr/>
        </p:nvSpPr>
        <p:spPr bwMode="auto">
          <a:xfrm flipV="1">
            <a:off x="2733675" y="2565362"/>
            <a:ext cx="671513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" name="Freeform 252">
            <a:extLst>
              <a:ext uri="{FF2B5EF4-FFF2-40B4-BE49-F238E27FC236}">
                <a16:creationId xmlns:a16="http://schemas.microsoft.com/office/drawing/2014/main" id="{A0AC730A-8123-5945-9BC2-F64CA2BA081E}"/>
              </a:ext>
            </a:extLst>
          </p:cNvPr>
          <p:cNvSpPr>
            <a:spLocks/>
          </p:cNvSpPr>
          <p:nvPr/>
        </p:nvSpPr>
        <p:spPr bwMode="auto">
          <a:xfrm flipV="1">
            <a:off x="4257675" y="3432137"/>
            <a:ext cx="609600" cy="261937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57B112D-A16A-6244-A9F0-85D5D7137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25347"/>
              </p:ext>
            </p:extLst>
          </p:nvPr>
        </p:nvGraphicFramePr>
        <p:xfrm>
          <a:off x="1001713" y="4083012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57939F-7683-3441-B3A2-334B3834F29D}"/>
              </a:ext>
            </a:extLst>
          </p:cNvPr>
          <p:cNvCxnSpPr/>
          <p:nvPr/>
        </p:nvCxnSpPr>
        <p:spPr>
          <a:xfrm>
            <a:off x="1497013" y="1284249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FE5D01-A28D-364C-BC52-5C6B8AB9B7D1}"/>
              </a:ext>
            </a:extLst>
          </p:cNvPr>
          <p:cNvCxnSpPr/>
          <p:nvPr/>
        </p:nvCxnSpPr>
        <p:spPr>
          <a:xfrm>
            <a:off x="2293938" y="1782724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BF8C529-9747-174F-A049-B5C338C313AE}"/>
              </a:ext>
            </a:extLst>
          </p:cNvPr>
          <p:cNvCxnSpPr/>
          <p:nvPr/>
        </p:nvCxnSpPr>
        <p:spPr>
          <a:xfrm>
            <a:off x="3021013" y="2349462"/>
            <a:ext cx="304800" cy="1587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B83937C-E7B0-614C-B5DD-DD03ED6450ED}"/>
              </a:ext>
            </a:extLst>
          </p:cNvPr>
          <p:cNvCxnSpPr/>
          <p:nvPr/>
        </p:nvCxnSpPr>
        <p:spPr>
          <a:xfrm>
            <a:off x="3724275" y="2782849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13DD0E-E996-284D-8894-BF32CF26B2B1}"/>
              </a:ext>
            </a:extLst>
          </p:cNvPr>
          <p:cNvCxnSpPr/>
          <p:nvPr/>
        </p:nvCxnSpPr>
        <p:spPr>
          <a:xfrm>
            <a:off x="4503738" y="3281324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770B7E8-6E92-6444-BA6C-9185D82718E0}"/>
              </a:ext>
            </a:extLst>
          </p:cNvPr>
          <p:cNvCxnSpPr/>
          <p:nvPr/>
        </p:nvCxnSpPr>
        <p:spPr>
          <a:xfrm>
            <a:off x="5240338" y="3722649"/>
            <a:ext cx="304800" cy="1588"/>
          </a:xfrm>
          <a:prstGeom prst="straightConnector1">
            <a:avLst/>
          </a:prstGeom>
          <a:ln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76A78BD3-4E0F-8E48-80D4-BB656E8F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91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8634A2-2C8F-5146-B66E-3A75817C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7CF04242-C6D8-EE43-A524-59C582E60986}"/>
              </a:ext>
            </a:extLst>
          </p:cNvPr>
          <p:cNvSpPr txBox="1">
            <a:spLocks/>
          </p:cNvSpPr>
          <p:nvPr/>
        </p:nvSpPr>
        <p:spPr bwMode="auto">
          <a:xfrm>
            <a:off x="371475" y="490653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(Third Pass)</a:t>
            </a:r>
          </a:p>
        </p:txBody>
      </p:sp>
      <p:sp>
        <p:nvSpPr>
          <p:cNvPr id="16" name="Text Box 32">
            <a:extLst>
              <a:ext uri="{FF2B5EF4-FFF2-40B4-BE49-F238E27FC236}">
                <a16:creationId xmlns:a16="http://schemas.microsoft.com/office/drawing/2014/main" id="{0345B92E-0C08-B044-9860-B74A5461A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52653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17" name="Text Box 34">
            <a:extLst>
              <a:ext uri="{FF2B5EF4-FFF2-40B4-BE49-F238E27FC236}">
                <a16:creationId xmlns:a16="http://schemas.microsoft.com/office/drawing/2014/main" id="{8224A9A3-111B-0F41-9AC0-F5B066904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828916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18" name="Text Box 183">
            <a:extLst>
              <a:ext uri="{FF2B5EF4-FFF2-40B4-BE49-F238E27FC236}">
                <a16:creationId xmlns:a16="http://schemas.microsoft.com/office/drawing/2014/main" id="{B5B6DEA4-F57C-0849-B9EB-B0246F5F0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57541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19" name="Text Box 207">
            <a:extLst>
              <a:ext uri="{FF2B5EF4-FFF2-40B4-BE49-F238E27FC236}">
                <a16:creationId xmlns:a16="http://schemas.microsoft.com/office/drawing/2014/main" id="{729108FC-1596-A047-9F75-B3CADB12F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2729028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20" name="Text Box 229">
            <a:extLst>
              <a:ext uri="{FF2B5EF4-FFF2-40B4-BE49-F238E27FC236}">
                <a16:creationId xmlns:a16="http://schemas.microsoft.com/office/drawing/2014/main" id="{708A7AEE-C6DE-D940-A4D1-8B6996A94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190991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21" name="Text Box 251">
            <a:extLst>
              <a:ext uri="{FF2B5EF4-FFF2-40B4-BE49-F238E27FC236}">
                <a16:creationId xmlns:a16="http://schemas.microsoft.com/office/drawing/2014/main" id="{EA49E01B-0B11-184F-BAC9-354379F62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3638666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0616F61-49AE-1A43-B4A1-D1E4E3C2F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17663"/>
              </p:ext>
            </p:extLst>
          </p:nvPr>
        </p:nvGraphicFramePr>
        <p:xfrm>
          <a:off x="1209675" y="138917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A8208AA-BB32-4342-995B-FF72ACB2B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438692"/>
              </p:ext>
            </p:extLst>
          </p:nvPr>
        </p:nvGraphicFramePr>
        <p:xfrm>
          <a:off x="1209675" y="369105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67BBF-5546-0645-9D9D-4A3A022D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2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44FC91-7426-9444-BD4C-86DF8DF9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054458-5F85-1E4F-8B5E-372231C2F441}"/>
              </a:ext>
            </a:extLst>
          </p:cNvPr>
          <p:cNvSpPr txBox="1">
            <a:spLocks/>
          </p:cNvSpPr>
          <p:nvPr/>
        </p:nvSpPr>
        <p:spPr bwMode="auto">
          <a:xfrm>
            <a:off x="371475" y="468352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(Fourth Pass)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BBF8627C-A431-A342-A1EE-DC14D20F1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230352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F48BD47A-799A-7744-88AB-5956D735B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806615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6" name="Text Box 183">
            <a:extLst>
              <a:ext uri="{FF2B5EF4-FFF2-40B4-BE49-F238E27FC236}">
                <a16:creationId xmlns:a16="http://schemas.microsoft.com/office/drawing/2014/main" id="{361D129F-30DA-6741-BD94-F054FA593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35240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7" name="Text Box 207">
            <a:extLst>
              <a:ext uri="{FF2B5EF4-FFF2-40B4-BE49-F238E27FC236}">
                <a16:creationId xmlns:a16="http://schemas.microsoft.com/office/drawing/2014/main" id="{8CF91267-8F65-5A4E-B781-971521375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2706727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" name="Text Box 229">
            <a:extLst>
              <a:ext uri="{FF2B5EF4-FFF2-40B4-BE49-F238E27FC236}">
                <a16:creationId xmlns:a16="http://schemas.microsoft.com/office/drawing/2014/main" id="{8EA34E70-DEB3-F04E-BC18-46230E36B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3168690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62849F1-03FF-B24B-B811-759E412AC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209086"/>
              </p:ext>
            </p:extLst>
          </p:nvPr>
        </p:nvGraphicFramePr>
        <p:xfrm>
          <a:off x="1209675" y="1306552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65F2B0-B053-9D4F-91DD-2F35171DC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111442"/>
              </p:ext>
            </p:extLst>
          </p:nvPr>
        </p:nvGraphicFramePr>
        <p:xfrm>
          <a:off x="1285875" y="3211552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27475AB-737F-0E44-A67F-660827D12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33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0811DA-355B-3648-8BA5-3EEC0B3E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398E4C-48FC-6F46-B4BB-4A6430A10537}"/>
              </a:ext>
            </a:extLst>
          </p:cNvPr>
          <p:cNvSpPr txBox="1">
            <a:spLocks/>
          </p:cNvSpPr>
          <p:nvPr/>
        </p:nvSpPr>
        <p:spPr bwMode="auto">
          <a:xfrm>
            <a:off x="371475" y="423746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(Fifth Pass)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5E40606D-952A-C941-A2E8-687BA98AA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85746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5D1EEE1F-B7B5-0142-AB62-3C3BE1D10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762009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6" name="Text Box 183">
            <a:extLst>
              <a:ext uri="{FF2B5EF4-FFF2-40B4-BE49-F238E27FC236}">
                <a16:creationId xmlns:a16="http://schemas.microsoft.com/office/drawing/2014/main" id="{4E3AB17D-68D7-4D47-AEB3-4DD6AC049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90634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7" name="Text Box 207">
            <a:extLst>
              <a:ext uri="{FF2B5EF4-FFF2-40B4-BE49-F238E27FC236}">
                <a16:creationId xmlns:a16="http://schemas.microsoft.com/office/drawing/2014/main" id="{DD309423-163F-5A40-ACCD-85612D8E2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2662121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4B344D-9A14-F74A-975F-6B7A4F46C5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85399"/>
              </p:ext>
            </p:extLst>
          </p:nvPr>
        </p:nvGraphicFramePr>
        <p:xfrm>
          <a:off x="1285875" y="2709746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0C9038-F63A-BF4D-B3FE-20F327992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858244"/>
              </p:ext>
            </p:extLst>
          </p:nvPr>
        </p:nvGraphicFramePr>
        <p:xfrm>
          <a:off x="1285875" y="1414346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CC17914-5EC8-F247-9302-CDE68924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5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64F91C-D832-7949-9BF9-4F631485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4B7C0-7E5C-2F4E-A56B-BBB98A033D9C}"/>
              </a:ext>
            </a:extLst>
          </p:cNvPr>
          <p:cNvSpPr txBox="1">
            <a:spLocks/>
          </p:cNvSpPr>
          <p:nvPr/>
        </p:nvSpPr>
        <p:spPr bwMode="auto">
          <a:xfrm>
            <a:off x="371475" y="334537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Bubble Sort Example (Sixth Pass)</a:t>
            </a: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8ADF7ABF-6715-034F-B913-FF39E4BC5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96537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FE94F180-AC50-2040-AF57-404F81261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025225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56F59F-6616-724F-8275-A13D6BD75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0274"/>
              </p:ext>
            </p:extLst>
          </p:nvPr>
        </p:nvGraphicFramePr>
        <p:xfrm>
          <a:off x="1285875" y="2087137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20213CA-E999-6440-ABA4-EE84D6472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014513"/>
              </p:ext>
            </p:extLst>
          </p:nvPr>
        </p:nvGraphicFramePr>
        <p:xfrm>
          <a:off x="1285875" y="1325137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 Box 34">
            <a:extLst>
              <a:ext uri="{FF2B5EF4-FFF2-40B4-BE49-F238E27FC236}">
                <a16:creationId xmlns:a16="http://schemas.microsoft.com/office/drawing/2014/main" id="{4781A1D9-3D32-8848-859F-6F6835A9C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672800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89AEFAD-DD85-B245-8D55-30FF679E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473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C5D26-D6F0-1845-8CD9-FB4AFDD9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2B71C4-6648-A048-89C3-DEF36A21C4B9}"/>
              </a:ext>
            </a:extLst>
          </p:cNvPr>
          <p:cNvSpPr txBox="1">
            <a:spLocks/>
          </p:cNvSpPr>
          <p:nvPr/>
        </p:nvSpPr>
        <p:spPr bwMode="auto">
          <a:xfrm>
            <a:off x="371475" y="423746"/>
            <a:ext cx="7239000" cy="6699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400">
                <a:latin typeface="Trebuchet MS" pitchFamily="34" charset="0"/>
              </a:rPr>
              <a:t>Bubble Sort Example (Seventh Pass)</a:t>
            </a:r>
            <a:endParaRPr lang="en-US" sz="3400" dirty="0">
              <a:latin typeface="Trebuchet MS" pitchFamily="34" charset="0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36FBF9AF-9ED8-D34B-9148-C891C92C3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85746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5" name="Text Box 34">
            <a:extLst>
              <a:ext uri="{FF2B5EF4-FFF2-40B4-BE49-F238E27FC236}">
                <a16:creationId xmlns:a16="http://schemas.microsoft.com/office/drawing/2014/main" id="{F216E9C6-E770-E54F-95DC-92753B4E5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885834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6856C4-6E01-2E4C-B882-58A20D7F3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311215"/>
              </p:ext>
            </p:extLst>
          </p:nvPr>
        </p:nvGraphicFramePr>
        <p:xfrm>
          <a:off x="1285875" y="1947746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318148-AEF1-F54B-AE1D-831E5EAC7B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313455"/>
              </p:ext>
            </p:extLst>
          </p:nvPr>
        </p:nvGraphicFramePr>
        <p:xfrm>
          <a:off x="1285875" y="1414346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BCD77-9718-1E46-A3B0-0286B54D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38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CAF9C2-36ED-1B4E-9D0D-BD3D8827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A99817-8A4F-FF46-8180-1CD354C8C978}"/>
              </a:ext>
            </a:extLst>
          </p:cNvPr>
          <p:cNvSpPr txBox="1">
            <a:spLocks/>
          </p:cNvSpPr>
          <p:nvPr/>
        </p:nvSpPr>
        <p:spPr bwMode="auto">
          <a:xfrm>
            <a:off x="434898" y="339454"/>
            <a:ext cx="7239000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Bubble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0BF038-9813-6746-8380-A925BC14CE99}"/>
              </a:ext>
            </a:extLst>
          </p:cNvPr>
          <p:cNvSpPr txBox="1">
            <a:spLocks/>
          </p:cNvSpPr>
          <p:nvPr/>
        </p:nvSpPr>
        <p:spPr>
          <a:xfrm>
            <a:off x="434898" y="1141142"/>
            <a:ext cx="7239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	 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endParaRPr lang="en-US" altLang="en-US" sz="2000" dirty="0">
              <a:latin typeface="Trebuchet MS" panose="020B0703020202090204" pitchFamily="34" charset="0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ADC6977-4C5E-A745-8C4B-E348F682D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298" y="1674542"/>
            <a:ext cx="38830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sym typeface="Wingdings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Algorithm does not exit </a:t>
            </a: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until all the data is checked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72457-A293-F64F-A5F3-896DE56E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88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A53ACC-209C-284F-8B5D-24739C4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6F659-8C42-EC4F-A878-D1C224723AAF}"/>
              </a:ext>
            </a:extLst>
          </p:cNvPr>
          <p:cNvSpPr txBox="1">
            <a:spLocks/>
          </p:cNvSpPr>
          <p:nvPr/>
        </p:nvSpPr>
        <p:spPr bwMode="auto">
          <a:xfrm>
            <a:off x="367991" y="361756"/>
            <a:ext cx="7239000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Bubble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FD34EB-528A-0A4E-8DC0-9B61766048EF}"/>
              </a:ext>
            </a:extLst>
          </p:cNvPr>
          <p:cNvSpPr txBox="1">
            <a:spLocks/>
          </p:cNvSpPr>
          <p:nvPr/>
        </p:nvSpPr>
        <p:spPr>
          <a:xfrm>
            <a:off x="367991" y="1163444"/>
            <a:ext cx="7239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n =N;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 N is the size of the array;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= 0;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 &lt;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swapped = 0;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 dirty="0">
                <a:latin typeface="Times New Roman" panose="02020603050405020304" pitchFamily="18" charset="0"/>
              </a:rPr>
              <a:t> (</a:t>
            </a:r>
            <a:r>
              <a:rPr lang="en-US" altLang="en-US" sz="20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 dirty="0">
                <a:latin typeface="Times New Roman" panose="02020603050405020304" pitchFamily="18" charset="0"/>
              </a:rPr>
              <a:t> j = 1; j &lt;  n; </a:t>
            </a:r>
            <a:r>
              <a:rPr lang="en-US" altLang="en-US" sz="2000" dirty="0" err="1">
                <a:latin typeface="Times New Roman" panose="02020603050405020304" pitchFamily="18" charset="0"/>
              </a:rPr>
              <a:t>j++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 dirty="0">
                <a:latin typeface="Times New Roman" panose="02020603050405020304" pitchFamily="18" charset="0"/>
              </a:rPr>
              <a:t> (A[j] &lt; A[j-1]) {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swap(j-1 , j);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     swapped = 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if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}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//end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n = n-1;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</a:t>
            </a:r>
            <a:r>
              <a:rPr lang="en-US" altLang="en-US" sz="2000" dirty="0">
                <a:solidFill>
                  <a:srgbClr val="0000CC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en-US" sz="2000" dirty="0">
                <a:latin typeface="Times New Roman" panose="02020603050405020304" pitchFamily="18" charset="0"/>
              </a:rPr>
              <a:t>(swapped == 0)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        break;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}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//end inner for</a:t>
            </a:r>
            <a:endParaRPr lang="en-US" altLang="en-US" sz="1200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			</a:t>
            </a:r>
            <a:endParaRPr lang="en-US" altLang="en-US" sz="2000" dirty="0">
              <a:solidFill>
                <a:srgbClr val="FF0000"/>
              </a:solidFill>
              <a:latin typeface="Trebuchet MS" panose="020B070302020209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07A9B-F9AD-A745-88E3-F5A8390F1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204" y="4668644"/>
            <a:ext cx="44465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FF0000"/>
                </a:solidFill>
                <a:sym typeface="Wingdings" pitchFamily="2" charset="2"/>
              </a:rPr>
              <a:t> 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Algorithm exits if no swap done</a:t>
            </a:r>
          </a:p>
          <a:p>
            <a:pPr eaLnBrk="1" hangingPunct="1"/>
            <a:r>
              <a:rPr lang="en-US" altLang="en-US" sz="2400">
                <a:solidFill>
                  <a:srgbClr val="FF0000"/>
                </a:solidFill>
              </a:rPr>
              <a:t> in previous (outer loop) step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6316D-CF83-3C4F-9809-7E0E6480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60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C234CF-6B01-6B45-9257-A821EDED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817C3-D7F8-3E49-BB93-62E07F83C14B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(Best Case)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776D4-246E-3C42-9262-6BCEFA215FA1}"/>
              </a:ext>
            </a:extLst>
          </p:cNvPr>
          <p:cNvSpPr/>
          <p:nvPr/>
        </p:nvSpPr>
        <p:spPr>
          <a:xfrm>
            <a:off x="2375209" y="3515905"/>
            <a:ext cx="4953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In this case, Bubble Sort will still go through the array to check if any swaps are needed, but it will quickly determine that the list is already sorted.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FBCA52-69A3-F845-A367-3BCF7E0B9F3D}"/>
              </a:ext>
            </a:extLst>
          </p:cNvPr>
          <p:cNvSpPr/>
          <p:nvPr/>
        </p:nvSpPr>
        <p:spPr>
          <a:xfrm>
            <a:off x="2375209" y="1234957"/>
            <a:ext cx="4953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best case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/>
              <a:t>scenario occurs when the input array is 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already sorted in ascending order</a:t>
            </a:r>
            <a:r>
              <a:rPr lang="en-US" sz="2800" dirty="0"/>
              <a:t>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6EE2D-1180-5747-9008-D1BA4EF21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844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C234CF-6B01-6B45-9257-A821EDED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817C3-D7F8-3E49-BB93-62E07F83C14B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(Best Case)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60252D-BD04-C547-9965-327FB6EAC773}"/>
              </a:ext>
            </a:extLst>
          </p:cNvPr>
          <p:cNvSpPr/>
          <p:nvPr/>
        </p:nvSpPr>
        <p:spPr>
          <a:xfrm>
            <a:off x="801029" y="1238557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Let's take an already sorted array:</a:t>
            </a:r>
            <a:br>
              <a:rPr lang="en-US" sz="2400" dirty="0"/>
            </a:br>
            <a:r>
              <a:rPr lang="en-US" sz="2400" b="1" dirty="0"/>
              <a:t>[1, 2, 3, 4, 5]</a:t>
            </a: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9EF6A-9ADB-034E-BC95-81B9023C854C}"/>
              </a:ext>
            </a:extLst>
          </p:cNvPr>
          <p:cNvSpPr/>
          <p:nvPr/>
        </p:nvSpPr>
        <p:spPr>
          <a:xfrm>
            <a:off x="4953000" y="2231834"/>
            <a:ext cx="4953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/>
              <a:t>Step-by-Step Execution</a:t>
            </a:r>
          </a:p>
          <a:p>
            <a:r>
              <a:rPr lang="en-US" sz="2400" b="1" dirty="0"/>
              <a:t>Pass 1: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Compare </a:t>
            </a:r>
            <a:r>
              <a:rPr lang="en-US" sz="2400" b="1" dirty="0"/>
              <a:t>1</a:t>
            </a:r>
            <a:r>
              <a:rPr lang="en-US" sz="2400" dirty="0"/>
              <a:t> and </a:t>
            </a:r>
            <a:r>
              <a:rPr lang="en-US" sz="2400" b="1" dirty="0"/>
              <a:t>2</a:t>
            </a:r>
            <a:r>
              <a:rPr lang="en-US" sz="2400" dirty="0"/>
              <a:t> → No swap</a:t>
            </a:r>
          </a:p>
          <a:p>
            <a:r>
              <a:rPr lang="en-US" sz="2400" dirty="0"/>
              <a:t>Compare </a:t>
            </a:r>
            <a:r>
              <a:rPr lang="en-US" sz="2400" b="1" dirty="0"/>
              <a:t>2</a:t>
            </a:r>
            <a:r>
              <a:rPr lang="en-US" sz="2400" dirty="0"/>
              <a:t> and </a:t>
            </a:r>
            <a:r>
              <a:rPr lang="en-US" sz="2400" b="1" dirty="0"/>
              <a:t>3</a:t>
            </a:r>
            <a:r>
              <a:rPr lang="en-US" sz="2400" dirty="0"/>
              <a:t> → No swap</a:t>
            </a:r>
          </a:p>
          <a:p>
            <a:r>
              <a:rPr lang="en-US" sz="2400" dirty="0"/>
              <a:t>Compare </a:t>
            </a:r>
            <a:r>
              <a:rPr lang="en-US" sz="2400" b="1" dirty="0"/>
              <a:t>3</a:t>
            </a:r>
            <a:r>
              <a:rPr lang="en-US" sz="2400" dirty="0"/>
              <a:t> and </a:t>
            </a:r>
            <a:r>
              <a:rPr lang="en-US" sz="2400" b="1" dirty="0"/>
              <a:t>4</a:t>
            </a:r>
            <a:r>
              <a:rPr lang="en-US" sz="2400" dirty="0"/>
              <a:t> → No swap</a:t>
            </a:r>
          </a:p>
          <a:p>
            <a:r>
              <a:rPr lang="en-US" sz="2400" dirty="0"/>
              <a:t>Compare </a:t>
            </a:r>
            <a:r>
              <a:rPr lang="en-US" sz="2400" b="1" dirty="0"/>
              <a:t>4</a:t>
            </a:r>
            <a:r>
              <a:rPr lang="en-US" sz="2400" dirty="0"/>
              <a:t> and </a:t>
            </a:r>
            <a:r>
              <a:rPr lang="en-US" sz="2400" b="1" dirty="0"/>
              <a:t>5</a:t>
            </a:r>
            <a:r>
              <a:rPr lang="en-US" sz="2400" dirty="0"/>
              <a:t> → No swap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408117-EB50-D449-AECB-133D4D1A9BE5}"/>
              </a:ext>
            </a:extLst>
          </p:cNvPr>
          <p:cNvSpPr/>
          <p:nvPr/>
        </p:nvSpPr>
        <p:spPr>
          <a:xfrm>
            <a:off x="801029" y="5071770"/>
            <a:ext cx="75400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Since no swaps were made in this pass, the algorithm can stop early, concluding that the array is already sorted.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D1DFA-DE28-FB41-ACD9-13E93966C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C234CF-6B01-6B45-9257-A821EDED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E817C3-D7F8-3E49-BB93-62E07F83C14B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(Best Case)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7BB0F6-3161-3C47-9A3D-398E5A19B314}"/>
              </a:ext>
            </a:extLst>
          </p:cNvPr>
          <p:cNvSpPr/>
          <p:nvPr/>
        </p:nvSpPr>
        <p:spPr>
          <a:xfrm>
            <a:off x="2608919" y="443466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Since the number of operations grows </a:t>
            </a:r>
            <a:r>
              <a:rPr lang="en-US" b="1" dirty="0"/>
              <a:t>linearly</a:t>
            </a:r>
            <a:r>
              <a:rPr lang="en-US" dirty="0"/>
              <a:t> with the size of n, the time complexity is </a:t>
            </a:r>
            <a:r>
              <a:rPr lang="en-US" b="1" dirty="0"/>
              <a:t>O(n)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0682A7-F1BC-574D-B5C2-1EE175D272EA}"/>
              </a:ext>
            </a:extLst>
          </p:cNvPr>
          <p:cNvSpPr/>
          <p:nvPr/>
        </p:nvSpPr>
        <p:spPr>
          <a:xfrm>
            <a:off x="1182957" y="1125385"/>
            <a:ext cx="78049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Bubble Sort includes an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optimization</a:t>
            </a:r>
            <a:r>
              <a:rPr lang="en-US" sz="2400" dirty="0"/>
              <a:t> where if no swaps occur in a full pass, the algorithm 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stops early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400" dirty="0"/>
              <a:t>instead of continuing through unnecessary passes.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EBF8BA-BA0C-204B-9267-FD549036F666}"/>
              </a:ext>
            </a:extLst>
          </p:cNvPr>
          <p:cNvSpPr/>
          <p:nvPr/>
        </p:nvSpPr>
        <p:spPr>
          <a:xfrm>
            <a:off x="2608919" y="2512987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the best case, only </a:t>
            </a:r>
            <a:r>
              <a:rPr lang="en-US" b="1" dirty="0"/>
              <a:t>one pass</a:t>
            </a:r>
            <a:r>
              <a:rPr lang="en-US" dirty="0"/>
              <a:t> is needed to verify that the list is sorted.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429BE6-A7F5-1147-8697-ABBB73159008}"/>
              </a:ext>
            </a:extLst>
          </p:cNvPr>
          <p:cNvSpPr/>
          <p:nvPr/>
        </p:nvSpPr>
        <p:spPr>
          <a:xfrm>
            <a:off x="2608919" y="3399826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requires exactly </a:t>
            </a:r>
            <a:r>
              <a:rPr lang="en-US" b="1" dirty="0"/>
              <a:t>n−1 comparisons</a:t>
            </a:r>
            <a:r>
              <a:rPr lang="en-US" dirty="0"/>
              <a:t> (checking each pair once).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C986E-7A2E-924E-8C84-D3F01A65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38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5CF3E-7AC3-F64A-BA66-8FCA0AB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E7CB-0C8B-E643-83AC-74C33492D2E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(Worst Case)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A7D98D-4D22-4048-81B9-AE153697B7FB}"/>
              </a:ext>
            </a:extLst>
          </p:cNvPr>
          <p:cNvSpPr/>
          <p:nvPr/>
        </p:nvSpPr>
        <p:spPr>
          <a:xfrm>
            <a:off x="2298080" y="4033155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This means that </a:t>
            </a:r>
            <a:r>
              <a:rPr lang="en-US" sz="2400" b="1" dirty="0"/>
              <a:t>every element needs to be swapped</a:t>
            </a:r>
            <a:r>
              <a:rPr lang="en-US" sz="2400" dirty="0"/>
              <a:t> in each pass to move to its correct position.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6B5AD-BA90-C34C-BBF0-0CC884C10F01}"/>
              </a:ext>
            </a:extLst>
          </p:cNvPr>
          <p:cNvSpPr/>
          <p:nvPr/>
        </p:nvSpPr>
        <p:spPr>
          <a:xfrm>
            <a:off x="2298080" y="1634147"/>
            <a:ext cx="4953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The worst-case scenario occurs when the input array is in </a:t>
            </a:r>
            <a:r>
              <a:rPr lang="en-US" sz="2400" b="1" dirty="0"/>
              <a:t>reverse order</a:t>
            </a:r>
            <a:r>
              <a:rPr lang="en-US" sz="2400" dirty="0"/>
              <a:t> (completely unsorted in descending order).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67E2E-D16A-0747-8A18-1B343EE5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2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5CF3E-7AC3-F64A-BA66-8FCA0AB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E7CB-0C8B-E643-83AC-74C33492D2E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(Worst Case)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3ECCC3-7218-694C-8C30-CD4943324330}"/>
              </a:ext>
            </a:extLst>
          </p:cNvPr>
          <p:cNvSpPr/>
          <p:nvPr/>
        </p:nvSpPr>
        <p:spPr>
          <a:xfrm>
            <a:off x="801029" y="116552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For example, let's take the array:</a:t>
            </a:r>
            <a:br>
              <a:rPr lang="en-US" dirty="0"/>
            </a:br>
            <a:r>
              <a:rPr lang="en-US" b="1" dirty="0"/>
              <a:t>[5, 4, 3, 2, 1]</a:t>
            </a:r>
            <a:r>
              <a:rPr lang="en-US" dirty="0"/>
              <a:t> (completely reversed)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92503-ECF1-0F4E-A7DC-85E24BD0F02F}"/>
              </a:ext>
            </a:extLst>
          </p:cNvPr>
          <p:cNvSpPr/>
          <p:nvPr/>
        </p:nvSpPr>
        <p:spPr>
          <a:xfrm>
            <a:off x="801029" y="2288892"/>
            <a:ext cx="4953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Pass 1:</a:t>
            </a:r>
            <a:endParaRPr lang="en-US" sz="2000" dirty="0"/>
          </a:p>
          <a:p>
            <a:r>
              <a:rPr lang="en-US" sz="2000" dirty="0"/>
              <a:t>Compare </a:t>
            </a:r>
            <a:r>
              <a:rPr lang="en-US" sz="2000" b="1" dirty="0"/>
              <a:t>5</a:t>
            </a:r>
            <a:r>
              <a:rPr lang="en-US" sz="2000" dirty="0"/>
              <a:t> and </a:t>
            </a:r>
            <a:r>
              <a:rPr lang="en-US" sz="2000" b="1" dirty="0"/>
              <a:t>4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[4, 5, 3, 2, 1]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5</a:t>
            </a:r>
            <a:r>
              <a:rPr lang="en-US" sz="2000" dirty="0"/>
              <a:t> and </a:t>
            </a:r>
            <a:r>
              <a:rPr lang="en-US" sz="2000" b="1" dirty="0"/>
              <a:t>3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[4, 3, 5, 2, 1]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5</a:t>
            </a:r>
            <a:r>
              <a:rPr lang="en-US" sz="2000" dirty="0"/>
              <a:t> and </a:t>
            </a:r>
            <a:r>
              <a:rPr lang="en-US" sz="2000" b="1" dirty="0"/>
              <a:t>2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[4, 3, 2, 5, 1]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5</a:t>
            </a:r>
            <a:r>
              <a:rPr lang="en-US" sz="2000" dirty="0"/>
              <a:t> and </a:t>
            </a:r>
            <a:r>
              <a:rPr lang="en-US" sz="2000" b="1" dirty="0"/>
              <a:t>1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[4, 3, 2, 1, 5]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9111CF-4218-2D43-A5FB-FFF93820C7F7}"/>
              </a:ext>
            </a:extLst>
          </p:cNvPr>
          <p:cNvSpPr/>
          <p:nvPr/>
        </p:nvSpPr>
        <p:spPr>
          <a:xfrm>
            <a:off x="801029" y="4397146"/>
            <a:ext cx="4953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Pass 2:</a:t>
            </a:r>
            <a:endParaRPr lang="en-US" sz="2000" dirty="0"/>
          </a:p>
          <a:p>
            <a:r>
              <a:rPr lang="en-US" sz="2000" dirty="0"/>
              <a:t>Compare </a:t>
            </a:r>
            <a:r>
              <a:rPr lang="en-US" sz="2000" b="1" dirty="0"/>
              <a:t>4</a:t>
            </a:r>
            <a:r>
              <a:rPr lang="en-US" sz="2000" dirty="0"/>
              <a:t> and </a:t>
            </a:r>
            <a:r>
              <a:rPr lang="en-US" sz="2000" b="1" dirty="0"/>
              <a:t>3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[3, 4, 2, 1, 5]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4</a:t>
            </a:r>
            <a:r>
              <a:rPr lang="en-US" sz="2000" dirty="0"/>
              <a:t> and </a:t>
            </a:r>
            <a:r>
              <a:rPr lang="en-US" sz="2000" b="1" dirty="0"/>
              <a:t>2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[3, 2, 4, 1, 5]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4</a:t>
            </a:r>
            <a:r>
              <a:rPr lang="en-US" sz="2000" dirty="0"/>
              <a:t> and </a:t>
            </a:r>
            <a:r>
              <a:rPr lang="en-US" sz="2000" b="1" dirty="0"/>
              <a:t>1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[3, 2, 1, 4, 5]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45F06-9309-1D41-9860-6C918A0FD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6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5CF3E-7AC3-F64A-BA66-8FCA0AB0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FE7CB-0C8B-E643-83AC-74C33492D2E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(Worst Case)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3ECCC3-7218-694C-8C30-CD4943324330}"/>
              </a:ext>
            </a:extLst>
          </p:cNvPr>
          <p:cNvSpPr/>
          <p:nvPr/>
        </p:nvSpPr>
        <p:spPr>
          <a:xfrm>
            <a:off x="801029" y="116552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For example, let's take the array:</a:t>
            </a:r>
            <a:br>
              <a:rPr lang="en-US" dirty="0"/>
            </a:br>
            <a:r>
              <a:rPr lang="en-US" b="1" dirty="0"/>
              <a:t>[5, 4, 3, 2, 1]</a:t>
            </a:r>
            <a:r>
              <a:rPr lang="en-US" dirty="0"/>
              <a:t> (completely reversed)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BC4A8-B890-E34B-9B72-F71C1881B4B4}"/>
              </a:ext>
            </a:extLst>
          </p:cNvPr>
          <p:cNvSpPr/>
          <p:nvPr/>
        </p:nvSpPr>
        <p:spPr>
          <a:xfrm>
            <a:off x="1160656" y="2253657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Pass 3:</a:t>
            </a:r>
            <a:endParaRPr lang="en-US" sz="2000" dirty="0"/>
          </a:p>
          <a:p>
            <a:r>
              <a:rPr lang="en-US" sz="2000" dirty="0"/>
              <a:t>Compare </a:t>
            </a:r>
            <a:r>
              <a:rPr lang="en-US" sz="2000" b="1" dirty="0"/>
              <a:t>3</a:t>
            </a:r>
            <a:r>
              <a:rPr lang="en-US" sz="2000" dirty="0"/>
              <a:t> and </a:t>
            </a:r>
            <a:r>
              <a:rPr lang="en-US" sz="2000" b="1" dirty="0"/>
              <a:t>2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[2, 3, 1, 4, 5]</a:t>
            </a:r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/>
              <a:t>Compare </a:t>
            </a:r>
            <a:r>
              <a:rPr lang="en-US" sz="2000" b="1" dirty="0"/>
              <a:t>3</a:t>
            </a:r>
            <a:r>
              <a:rPr lang="en-US" sz="2000" dirty="0"/>
              <a:t> and </a:t>
            </a:r>
            <a:r>
              <a:rPr lang="en-US" sz="2000" b="1" dirty="0"/>
              <a:t>1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[2, 1, 3, 4, 5]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D91F4-3554-0847-8CA5-75779FD4571D}"/>
              </a:ext>
            </a:extLst>
          </p:cNvPr>
          <p:cNvSpPr/>
          <p:nvPr/>
        </p:nvSpPr>
        <p:spPr>
          <a:xfrm>
            <a:off x="1160656" y="3604953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Pass 4:</a:t>
            </a:r>
            <a:endParaRPr lang="en-US" sz="2000" dirty="0"/>
          </a:p>
          <a:p>
            <a:r>
              <a:rPr lang="en-US" sz="2000" dirty="0"/>
              <a:t>Compare </a:t>
            </a:r>
            <a:r>
              <a:rPr lang="en-US" sz="2000" b="1" dirty="0"/>
              <a:t>2</a:t>
            </a:r>
            <a:r>
              <a:rPr lang="en-US" sz="2000" dirty="0"/>
              <a:t> and </a:t>
            </a:r>
            <a:r>
              <a:rPr lang="en-US" sz="2000" b="1" dirty="0"/>
              <a:t>1</a:t>
            </a:r>
            <a:r>
              <a:rPr lang="en-US" sz="2000" dirty="0"/>
              <a:t> → Swap → </a:t>
            </a:r>
            <a:r>
              <a:rPr lang="en-US" sz="2000" b="1" dirty="0">
                <a:solidFill>
                  <a:srgbClr val="C00000"/>
                </a:solidFill>
              </a:rPr>
              <a:t>[1, 2, 3, 4, 5]</a:t>
            </a:r>
            <a:r>
              <a:rPr lang="en-US" sz="2000" dirty="0"/>
              <a:t> (Sorted!)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A1ABA2-05C5-844E-A7EB-9F76CC5A0499}"/>
              </a:ext>
            </a:extLst>
          </p:cNvPr>
          <p:cNvSpPr/>
          <p:nvPr/>
        </p:nvSpPr>
        <p:spPr>
          <a:xfrm>
            <a:off x="1160656" y="5246869"/>
            <a:ext cx="4953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/>
              <a:t>In the worst case, Bubble Sort </a:t>
            </a:r>
            <a:r>
              <a:rPr lang="en-US" sz="2000" b="1" dirty="0"/>
              <a:t>performs the maximum number of swaps</a:t>
            </a:r>
            <a:r>
              <a:rPr lang="en-US" sz="2000" dirty="0"/>
              <a:t> and comparisons.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85F3702-59C5-FA42-A24C-1E7CFFFAA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91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90B09-FEE4-724C-935C-BA348B43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4BFB1-4E95-5148-8A19-28B0CB9F6547}"/>
              </a:ext>
            </a:extLst>
          </p:cNvPr>
          <p:cNvSpPr/>
          <p:nvPr/>
        </p:nvSpPr>
        <p:spPr>
          <a:xfrm>
            <a:off x="2476500" y="3918601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This continues until the last pass with </a:t>
            </a:r>
            <a:r>
              <a:rPr lang="en-US" sz="2400" b="1" dirty="0"/>
              <a:t>1</a:t>
            </a:r>
            <a:r>
              <a:rPr lang="en-US" sz="2400" dirty="0"/>
              <a:t> comparison.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722AE-F684-7D42-8542-36CDACC92467}"/>
              </a:ext>
            </a:extLst>
          </p:cNvPr>
          <p:cNvSpPr/>
          <p:nvPr/>
        </p:nvSpPr>
        <p:spPr>
          <a:xfrm>
            <a:off x="2476500" y="1342078"/>
            <a:ext cx="6373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In the first pass, </a:t>
            </a:r>
            <a:r>
              <a:rPr lang="en-US" sz="2400" b="1" dirty="0"/>
              <a:t>(n - 1)</a:t>
            </a:r>
            <a:r>
              <a:rPr lang="en-US" sz="2400" dirty="0"/>
              <a:t> comparisons are made.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1A4AC-217C-C045-8AAC-AA35147F0E7A}"/>
              </a:ext>
            </a:extLst>
          </p:cNvPr>
          <p:cNvSpPr/>
          <p:nvPr/>
        </p:nvSpPr>
        <p:spPr>
          <a:xfrm>
            <a:off x="2476500" y="2376560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In the second pass, </a:t>
            </a:r>
            <a:r>
              <a:rPr lang="en-US" sz="2400" b="1" dirty="0"/>
              <a:t>(n - 2)</a:t>
            </a:r>
            <a:r>
              <a:rPr lang="en-US" sz="2400" dirty="0"/>
              <a:t> comparisons are made.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2D2F4-0261-3C42-8BE6-EDDF9E6EA04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(Worst Case)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AE66B-80EF-9246-8451-143A6AD8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7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90B09-FEE4-724C-935C-BA348B43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2D2F4-0261-3C42-8BE6-EDDF9E6EA04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(Worst Case)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62DF5C-3316-8745-AA78-2FD8B36F82C4}"/>
                  </a:ext>
                </a:extLst>
              </p:cNvPr>
              <p:cNvSpPr txBox="1"/>
              <p:nvPr/>
            </p:nvSpPr>
            <p:spPr>
              <a:xfrm>
                <a:off x="2282002" y="2223491"/>
                <a:ext cx="4714111" cy="538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(n-1)+(n-2)+(n-3)+…+2+1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662DF5C-3316-8745-AA78-2FD8B36F8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002" y="2223491"/>
                <a:ext cx="4714111" cy="538737"/>
              </a:xfrm>
              <a:prstGeom prst="rect">
                <a:avLst/>
              </a:prstGeom>
              <a:blipFill>
                <a:blip r:embed="rId2"/>
                <a:stretch>
                  <a:fillRect l="-4043" r="-1078"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06209F1-FC03-6C4F-9805-AE3579E69D6D}"/>
                  </a:ext>
                </a:extLst>
              </p:cNvPr>
              <p:cNvSpPr/>
              <p:nvPr/>
            </p:nvSpPr>
            <p:spPr>
              <a:xfrm>
                <a:off x="2282002" y="3629323"/>
                <a:ext cx="4953000" cy="90806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US" dirty="0"/>
                  <a:t>The highest order term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 is </a:t>
                </a:r>
                <a:r>
                  <a:rPr lang="en-US" b="1" dirty="0"/>
                  <a:t>n2</a:t>
                </a:r>
                <a:r>
                  <a:rPr lang="en-US" dirty="0"/>
                  <a:t>, so we write the time complexity as </a:t>
                </a:r>
                <a:r>
                  <a:rPr lang="en-US" b="1" dirty="0"/>
                  <a:t>O(n2)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06209F1-FC03-6C4F-9805-AE3579E69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002" y="3629323"/>
                <a:ext cx="4953000" cy="908069"/>
              </a:xfrm>
              <a:prstGeom prst="rect">
                <a:avLst/>
              </a:prstGeom>
              <a:blipFill>
                <a:blip r:embed="rId3"/>
                <a:stretch>
                  <a:fillRect l="-1282" b="-9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07E6F9-2B5A-BA42-8848-6F69A72C6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71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90B09-FEE4-724C-935C-BA348B43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2D2F4-0261-3C42-8BE6-EDDF9E6EA042}"/>
              </a:ext>
            </a:extLst>
          </p:cNvPr>
          <p:cNvSpPr txBox="1"/>
          <p:nvPr/>
        </p:nvSpPr>
        <p:spPr>
          <a:xfrm>
            <a:off x="512956" y="379141"/>
            <a:ext cx="5241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Bubble Sort (Average Case)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945BB-D31A-2448-BEFC-7319C9384A3D}"/>
              </a:ext>
            </a:extLst>
          </p:cNvPr>
          <p:cNvSpPr txBox="1"/>
          <p:nvPr/>
        </p:nvSpPr>
        <p:spPr>
          <a:xfrm>
            <a:off x="3394554" y="2993720"/>
            <a:ext cx="2680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Time Complexity?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9F563-78E7-8C43-ABDF-FE1ABC429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07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C1C08-B79F-D344-8F20-C91F0713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42165</TotalTime>
  <Words>2749</Words>
  <Application>Microsoft Macintosh PowerPoint</Application>
  <PresentationFormat>A4 Paper (210x297 mm)</PresentationFormat>
  <Paragraphs>491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Adobe Gothic Std B</vt:lpstr>
      <vt:lpstr>等线</vt:lpstr>
      <vt:lpstr>等线</vt:lpstr>
      <vt:lpstr>等线 Light</vt:lpstr>
      <vt:lpstr>Nunito</vt:lpstr>
      <vt:lpstr>SimSun</vt:lpstr>
      <vt:lpstr>Arial</vt:lpstr>
      <vt:lpstr>Calibri</vt:lpstr>
      <vt:lpstr>Cambria Math</vt:lpstr>
      <vt:lpstr>Times New Roman</vt:lpstr>
      <vt:lpstr>Trebuchet MS</vt:lpstr>
      <vt:lpstr>Wingdings</vt:lpstr>
      <vt:lpstr>Wingdings 2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811</cp:revision>
  <dcterms:created xsi:type="dcterms:W3CDTF">2018-07-17T04:46:00Z</dcterms:created>
  <dcterms:modified xsi:type="dcterms:W3CDTF">2025-10-17T10:53:58Z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
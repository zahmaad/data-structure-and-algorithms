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80" r:id="rId2"/>
    <p:sldId id="920" r:id="rId3"/>
    <p:sldId id="921" r:id="rId4"/>
    <p:sldId id="922" r:id="rId5"/>
    <p:sldId id="923" r:id="rId6"/>
    <p:sldId id="924" r:id="rId7"/>
    <p:sldId id="926" r:id="rId8"/>
    <p:sldId id="925" r:id="rId9"/>
    <p:sldId id="927" r:id="rId10"/>
    <p:sldId id="928" r:id="rId11"/>
    <p:sldId id="929" r:id="rId12"/>
    <p:sldId id="930" r:id="rId13"/>
    <p:sldId id="931" r:id="rId14"/>
    <p:sldId id="932" r:id="rId15"/>
    <p:sldId id="933" r:id="rId16"/>
    <p:sldId id="940" r:id="rId17"/>
    <p:sldId id="934" r:id="rId18"/>
    <p:sldId id="935" r:id="rId19"/>
    <p:sldId id="936" r:id="rId20"/>
    <p:sldId id="937" r:id="rId21"/>
    <p:sldId id="938" r:id="rId22"/>
    <p:sldId id="939" r:id="rId23"/>
    <p:sldId id="941" r:id="rId24"/>
    <p:sldId id="942" r:id="rId25"/>
    <p:sldId id="943" r:id="rId26"/>
    <p:sldId id="944" r:id="rId27"/>
    <p:sldId id="945" r:id="rId28"/>
    <p:sldId id="946" r:id="rId29"/>
    <p:sldId id="947" r:id="rId30"/>
    <p:sldId id="948" r:id="rId31"/>
    <p:sldId id="949" r:id="rId32"/>
    <p:sldId id="950" r:id="rId33"/>
    <p:sldId id="951" r:id="rId34"/>
    <p:sldId id="952" r:id="rId35"/>
    <p:sldId id="953" r:id="rId36"/>
    <p:sldId id="954" r:id="rId37"/>
    <p:sldId id="955" r:id="rId38"/>
    <p:sldId id="956" r:id="rId39"/>
    <p:sldId id="957" r:id="rId40"/>
    <p:sldId id="958" r:id="rId41"/>
    <p:sldId id="959" r:id="rId42"/>
    <p:sldId id="372" r:id="rId43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920"/>
            <p14:sldId id="921"/>
            <p14:sldId id="922"/>
            <p14:sldId id="923"/>
            <p14:sldId id="924"/>
            <p14:sldId id="926"/>
            <p14:sldId id="925"/>
            <p14:sldId id="927"/>
            <p14:sldId id="928"/>
            <p14:sldId id="929"/>
            <p14:sldId id="930"/>
            <p14:sldId id="931"/>
            <p14:sldId id="932"/>
            <p14:sldId id="933"/>
            <p14:sldId id="940"/>
            <p14:sldId id="934"/>
            <p14:sldId id="935"/>
            <p14:sldId id="936"/>
            <p14:sldId id="937"/>
            <p14:sldId id="938"/>
            <p14:sldId id="939"/>
            <p14:sldId id="941"/>
            <p14:sldId id="942"/>
            <p14:sldId id="943"/>
            <p14:sldId id="944"/>
            <p14:sldId id="945"/>
            <p14:sldId id="946"/>
            <p14:sldId id="947"/>
            <p14:sldId id="948"/>
            <p14:sldId id="949"/>
            <p14:sldId id="950"/>
            <p14:sldId id="951"/>
            <p14:sldId id="952"/>
            <p14:sldId id="953"/>
            <p14:sldId id="954"/>
            <p14:sldId id="955"/>
            <p14:sldId id="956"/>
            <p14:sldId id="957"/>
            <p14:sldId id="958"/>
            <p14:sldId id="959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15" autoAdjust="0"/>
  </p:normalViewPr>
  <p:slideViewPr>
    <p:cSldViewPr snapToGrid="0">
      <p:cViewPr varScale="1">
        <p:scale>
          <a:sx n="119" d="100"/>
          <a:sy n="119" d="100"/>
        </p:scale>
        <p:origin x="1720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PRIORITY QUEUES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6DD161-B958-A74F-998B-C58F2276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1B3E2F-E92E-BA48-A5F2-64B28FF68500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Priority Queues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77EB2-5243-9748-9F92-88D282622EA7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597590" cy="531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000" dirty="0"/>
              <a:t>Jobs sent to a line printer are generally placed on a queue 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In a multiuser environment, the operating system scheduler must decide which of several processes to run</a:t>
            </a:r>
          </a:p>
          <a:p>
            <a:pPr>
              <a:lnSpc>
                <a:spcPct val="80000"/>
              </a:lnSpc>
            </a:pPr>
            <a:r>
              <a:rPr lang="en-US" altLang="en-US" sz="2000" b="1" dirty="0"/>
              <a:t>The queue is FCFS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dequeue the first job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run it until either it finishes or its time limit is up, and 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enqueue if not done within the time limit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FCFS may not always be so efficient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/>
              <a:t>May not be fair with the short jobs, waiting too long in the queue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What is the solution?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Shortest job first (SJF)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finish the short jobs as fast as possible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Shorter jobs should have preference over longer jobs running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Priority Queues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Some jobs that are not short are still very important and should also have preference</a:t>
            </a:r>
          </a:p>
          <a:p>
            <a:pPr>
              <a:lnSpc>
                <a:spcPct val="8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6437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F79DD6-D2EE-7D48-A80B-9058677E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1CA86-7AC2-7C48-803C-7053D17CB7D6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rebuchet MS" panose="020B0703020202090204" pitchFamily="34" charset="0"/>
              </a:rPr>
              <a:t>Priority Queues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1D93BC-B50F-5344-99A5-DAA6FD8CAC9E}"/>
              </a:ext>
            </a:extLst>
          </p:cNvPr>
          <p:cNvSpPr txBox="1">
            <a:spLocks/>
          </p:cNvSpPr>
          <p:nvPr/>
        </p:nvSpPr>
        <p:spPr>
          <a:xfrm>
            <a:off x="228599" y="848958"/>
            <a:ext cx="8635701" cy="5715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900" b="1" u="sng" dirty="0"/>
              <a:t>FCFS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High Priority jobs may be delayed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A long job may force several smaller jobs to wait for unreasonably long period of time</a:t>
            </a:r>
          </a:p>
          <a:p>
            <a:pPr>
              <a:lnSpc>
                <a:spcPct val="80000"/>
              </a:lnSpc>
            </a:pPr>
            <a:endParaRPr lang="en-US" altLang="en-US" sz="1900" dirty="0"/>
          </a:p>
          <a:p>
            <a:pPr>
              <a:lnSpc>
                <a:spcPct val="80000"/>
              </a:lnSpc>
            </a:pPr>
            <a:endParaRPr lang="en-US" altLang="en-US" sz="1900" dirty="0"/>
          </a:p>
          <a:p>
            <a:pPr>
              <a:lnSpc>
                <a:spcPct val="80000"/>
              </a:lnSpc>
            </a:pPr>
            <a:endParaRPr lang="en-US" altLang="en-US" sz="1900" dirty="0"/>
          </a:p>
          <a:p>
            <a:pPr>
              <a:lnSpc>
                <a:spcPct val="80000"/>
              </a:lnSpc>
            </a:pPr>
            <a:endParaRPr lang="en-US" altLang="en-US" sz="1900" dirty="0"/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 dirty="0"/>
              <a:t>	   Average waiting time = 528 / 6 = 88 units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 dirty="0"/>
              <a:t>	   Average printing time = 539 / 6 = 89.8 units</a:t>
            </a:r>
          </a:p>
          <a:p>
            <a:pPr>
              <a:lnSpc>
                <a:spcPct val="80000"/>
              </a:lnSpc>
            </a:pPr>
            <a:endParaRPr lang="en-US" altLang="en-US" sz="1900" b="1" u="sng" dirty="0"/>
          </a:p>
          <a:p>
            <a:pPr>
              <a:lnSpc>
                <a:spcPct val="80000"/>
              </a:lnSpc>
            </a:pPr>
            <a:r>
              <a:rPr lang="en-US" altLang="en-US" sz="1900" b="1" u="sng" dirty="0"/>
              <a:t>SJF (Shortest Job First)</a:t>
            </a:r>
          </a:p>
          <a:p>
            <a:pPr>
              <a:lnSpc>
                <a:spcPct val="80000"/>
              </a:lnSpc>
            </a:pPr>
            <a:endParaRPr lang="en-US" altLang="en-US" sz="1900" b="1" u="sng" dirty="0"/>
          </a:p>
          <a:p>
            <a:pPr>
              <a:lnSpc>
                <a:spcPct val="80000"/>
              </a:lnSpc>
            </a:pPr>
            <a:endParaRPr lang="en-US" altLang="en-US" sz="1900" dirty="0"/>
          </a:p>
          <a:p>
            <a:pPr>
              <a:lnSpc>
                <a:spcPct val="80000"/>
              </a:lnSpc>
            </a:pPr>
            <a:endParaRPr lang="en-US" altLang="en-US" sz="1900" dirty="0"/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 dirty="0"/>
              <a:t>    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 dirty="0"/>
              <a:t>     Average waiting time = 27 / 6 = 4.5 units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900" dirty="0"/>
              <a:t>     Average printing time = 138 / 6 = 23 units</a:t>
            </a:r>
          </a:p>
          <a:p>
            <a:pPr>
              <a:lnSpc>
                <a:spcPct val="80000"/>
              </a:lnSpc>
            </a:pPr>
            <a:endParaRPr lang="en-US" altLang="en-US" sz="1900" dirty="0"/>
          </a:p>
        </p:txBody>
      </p:sp>
      <p:graphicFrame>
        <p:nvGraphicFramePr>
          <p:cNvPr id="7" name="Group 100">
            <a:extLst>
              <a:ext uri="{FF2B5EF4-FFF2-40B4-BE49-F238E27FC236}">
                <a16:creationId xmlns:a16="http://schemas.microsoft.com/office/drawing/2014/main" id="{6D139B6C-2C79-6A4E-8029-BA9EE2C5FC9A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2011363"/>
          <a:ext cx="7696200" cy="111283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Wait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Printing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Group 107">
            <a:extLst>
              <a:ext uri="{FF2B5EF4-FFF2-40B4-BE49-F238E27FC236}">
                <a16:creationId xmlns:a16="http://schemas.microsoft.com/office/drawing/2014/main" id="{B260A7FD-F3C0-BB42-8774-3EC0E2166A16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4448175"/>
          <a:ext cx="7696200" cy="1114425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Wait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Printing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7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34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F86F3E-30B6-C441-BEDD-7CC73F5D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6AACC38-A865-934D-AA06-87DD5C2D31B6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1895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Two usual operations</a:t>
            </a:r>
          </a:p>
          <a:p>
            <a:pPr lvl="1"/>
            <a:r>
              <a:rPr lang="en-US" altLang="en-US" b="1" i="1">
                <a:solidFill>
                  <a:srgbClr val="0000CC"/>
                </a:solidFill>
              </a:rPr>
              <a:t>Insert</a:t>
            </a:r>
            <a:r>
              <a:rPr lang="en-US" altLang="en-US">
                <a:solidFill>
                  <a:srgbClr val="0000CC"/>
                </a:solidFill>
              </a:rPr>
              <a:t>:</a:t>
            </a:r>
            <a:r>
              <a:rPr lang="en-US" altLang="en-US"/>
              <a:t> Insert a new job in the queue</a:t>
            </a:r>
          </a:p>
          <a:p>
            <a:pPr lvl="1"/>
            <a:r>
              <a:rPr lang="en-US" altLang="en-US" b="1" i="1">
                <a:solidFill>
                  <a:srgbClr val="0000CC"/>
                </a:solidFill>
              </a:rPr>
              <a:t>delete_min</a:t>
            </a:r>
            <a:r>
              <a:rPr lang="en-US" altLang="en-US">
                <a:solidFill>
                  <a:srgbClr val="0000CC"/>
                </a:solidFill>
              </a:rPr>
              <a:t>:</a:t>
            </a:r>
            <a:r>
              <a:rPr lang="en-US" altLang="en-US"/>
              <a:t> Remove the shortest/highest priority job from the queue</a:t>
            </a:r>
          </a:p>
          <a:p>
            <a:pPr lvl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2248A88-0EFA-CD42-BA1C-C68CB60B1948}"/>
              </a:ext>
            </a:extLst>
          </p:cNvPr>
          <p:cNvSpPr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400" b="1">
                <a:latin typeface="Trebuchet MS" panose="020B0703020202090204" pitchFamily="34" charset="0"/>
              </a:rPr>
              <a:t>Priority Queues Implementation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010702-320B-734B-8A4D-B5E5F58BE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191000"/>
            <a:ext cx="2895600" cy="914400"/>
          </a:xfrm>
          <a:prstGeom prst="rect">
            <a:avLst/>
          </a:prstGeom>
          <a:solidFill>
            <a:srgbClr val="E3B7D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Priority Queue</a:t>
            </a: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32E39C7E-2994-5B43-A796-C9842FB943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47244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8C4A7E6D-EE02-9B4E-BD88-321B0102DA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47244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F44EC6F0-8A29-1344-9285-FEEBC65FC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4230688"/>
            <a:ext cx="93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insert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DBDB4ED8-02B8-B444-9F1D-FD52FC0B2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67200"/>
            <a:ext cx="1677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delete_min</a:t>
            </a:r>
          </a:p>
        </p:txBody>
      </p:sp>
    </p:spTree>
    <p:extLst>
      <p:ext uri="{BB962C8B-B14F-4D97-AF65-F5344CB8AC3E}">
        <p14:creationId xmlns:p14="http://schemas.microsoft.com/office/powerpoint/2010/main" val="286684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58CCFC-6618-4347-AD45-40B23F78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63669F-F454-234C-BE7A-29480E6EA314}"/>
              </a:ext>
            </a:extLst>
          </p:cNvPr>
          <p:cNvSpPr txBox="1">
            <a:spLocks/>
          </p:cNvSpPr>
          <p:nvPr/>
        </p:nvSpPr>
        <p:spPr>
          <a:xfrm>
            <a:off x="228600" y="1295400"/>
            <a:ext cx="7848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Simple linked list implementation</a:t>
            </a:r>
          </a:p>
          <a:p>
            <a:pPr lvl="1"/>
            <a:r>
              <a:rPr lang="en-US" altLang="en-US" b="1" i="1">
                <a:solidFill>
                  <a:srgbClr val="0000CC"/>
                </a:solidFill>
              </a:rPr>
              <a:t>Insert:</a:t>
            </a:r>
            <a:r>
              <a:rPr lang="en-US" altLang="en-US" i="1"/>
              <a:t> </a:t>
            </a:r>
            <a:r>
              <a:rPr lang="en-US" altLang="en-US"/>
              <a:t>Insert at the front/end of the queue</a:t>
            </a:r>
          </a:p>
          <a:p>
            <a:pPr lvl="2"/>
            <a:r>
              <a:rPr lang="en-US" altLang="en-US" i="1"/>
              <a:t>O</a:t>
            </a:r>
            <a:r>
              <a:rPr lang="en-US" altLang="en-US"/>
              <a:t>(1) running time</a:t>
            </a:r>
          </a:p>
          <a:p>
            <a:pPr lvl="1"/>
            <a:r>
              <a:rPr lang="en-US" altLang="en-US" b="1" i="1">
                <a:solidFill>
                  <a:srgbClr val="0000CC"/>
                </a:solidFill>
              </a:rPr>
              <a:t>Delete_min:</a:t>
            </a:r>
            <a:r>
              <a:rPr lang="en-US" altLang="en-US" b="1">
                <a:solidFill>
                  <a:srgbClr val="0000CC"/>
                </a:solidFill>
              </a:rPr>
              <a:t> </a:t>
            </a:r>
            <a:r>
              <a:rPr lang="en-US" altLang="en-US"/>
              <a:t>requires to traverse the whole list</a:t>
            </a:r>
          </a:p>
          <a:p>
            <a:pPr lvl="2"/>
            <a:r>
              <a:rPr lang="en-US" altLang="en-US"/>
              <a:t>O(</a:t>
            </a:r>
            <a:r>
              <a:rPr lang="en-US" altLang="en-US" i="1"/>
              <a:t>n</a:t>
            </a:r>
            <a:r>
              <a:rPr lang="en-US" altLang="en-US"/>
              <a:t>) running time</a:t>
            </a:r>
          </a:p>
          <a:p>
            <a:pPr lvl="2"/>
            <a:endParaRPr lang="en-US" altLang="en-US"/>
          </a:p>
          <a:p>
            <a:r>
              <a:rPr lang="en-US" altLang="en-US"/>
              <a:t>Sorted linked list implementation</a:t>
            </a:r>
          </a:p>
          <a:p>
            <a:pPr lvl="1"/>
            <a:r>
              <a:rPr lang="en-US" altLang="en-US" b="1" i="1">
                <a:solidFill>
                  <a:srgbClr val="0000CC"/>
                </a:solidFill>
              </a:rPr>
              <a:t>Insert:</a:t>
            </a:r>
            <a:r>
              <a:rPr lang="en-US" altLang="en-US" i="1"/>
              <a:t> </a:t>
            </a:r>
            <a:r>
              <a:rPr lang="en-US" altLang="en-US"/>
              <a:t>Insert at its proper location requires traversal</a:t>
            </a:r>
          </a:p>
          <a:p>
            <a:pPr lvl="2"/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 running time</a:t>
            </a:r>
          </a:p>
          <a:p>
            <a:pPr lvl="1"/>
            <a:r>
              <a:rPr lang="en-US" altLang="en-US" b="1" i="1">
                <a:solidFill>
                  <a:srgbClr val="0000CC"/>
                </a:solidFill>
              </a:rPr>
              <a:t>Delete_min:</a:t>
            </a:r>
            <a:r>
              <a:rPr lang="en-US" altLang="en-US" b="1">
                <a:solidFill>
                  <a:srgbClr val="0000CC"/>
                </a:solidFill>
              </a:rPr>
              <a:t> </a:t>
            </a:r>
            <a:r>
              <a:rPr lang="en-US" altLang="en-US"/>
              <a:t>delete the first element which is the min.</a:t>
            </a:r>
          </a:p>
          <a:p>
            <a:pPr lvl="2"/>
            <a:r>
              <a:rPr lang="en-US" altLang="en-US" i="1"/>
              <a:t>O</a:t>
            </a:r>
            <a:r>
              <a:rPr lang="en-US" altLang="en-US"/>
              <a:t>(1) running time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AA7B02D-423B-4A49-9785-1AC677B3C00E}"/>
              </a:ext>
            </a:extLst>
          </p:cNvPr>
          <p:cNvSpPr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400" b="1">
                <a:latin typeface="Trebuchet MS" panose="020B0703020202090204" pitchFamily="34" charset="0"/>
              </a:rPr>
              <a:t>Priority Queues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3586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FC34DF-031B-F949-8DC7-B84C0B33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ED5FAF-7B99-334D-A990-7ACAFAE8AE1D}"/>
              </a:ext>
            </a:extLst>
          </p:cNvPr>
          <p:cNvSpPr txBox="1">
            <a:spLocks/>
          </p:cNvSpPr>
          <p:nvPr/>
        </p:nvSpPr>
        <p:spPr>
          <a:xfrm>
            <a:off x="152400" y="1295400"/>
            <a:ext cx="80772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200" dirty="0"/>
              <a:t>Binary search tree implementation</a:t>
            </a:r>
          </a:p>
          <a:p>
            <a:pPr lvl="1">
              <a:lnSpc>
                <a:spcPct val="80000"/>
              </a:lnSpc>
            </a:pPr>
            <a:r>
              <a:rPr lang="en-US" altLang="en-US" sz="2100" b="1" i="1" dirty="0">
                <a:solidFill>
                  <a:srgbClr val="0000CC"/>
                </a:solidFill>
              </a:rPr>
              <a:t>Insert:</a:t>
            </a:r>
            <a:r>
              <a:rPr lang="en-US" altLang="en-US" sz="2100" i="1" dirty="0"/>
              <a:t> </a:t>
            </a:r>
            <a:r>
              <a:rPr lang="en-US" altLang="en-US" sz="2100" dirty="0"/>
              <a:t>Insert at it proper location requires tree traversal</a:t>
            </a:r>
          </a:p>
          <a:p>
            <a:pPr lvl="2">
              <a:lnSpc>
                <a:spcPct val="80000"/>
              </a:lnSpc>
            </a:pPr>
            <a:r>
              <a:rPr lang="en-US" altLang="en-US" sz="1800" i="1" dirty="0"/>
              <a:t>O</a:t>
            </a:r>
            <a:r>
              <a:rPr lang="en-US" altLang="en-US" sz="1800" dirty="0"/>
              <a:t>(log </a:t>
            </a:r>
            <a:r>
              <a:rPr lang="en-US" altLang="en-US" sz="1800" i="1" dirty="0"/>
              <a:t>n</a:t>
            </a:r>
            <a:r>
              <a:rPr lang="en-US" altLang="en-US" sz="1800" dirty="0"/>
              <a:t>) running time</a:t>
            </a:r>
          </a:p>
          <a:p>
            <a:pPr lvl="1">
              <a:lnSpc>
                <a:spcPct val="80000"/>
              </a:lnSpc>
            </a:pPr>
            <a:r>
              <a:rPr lang="en-US" altLang="en-US" sz="2100" b="1" i="1" dirty="0" err="1">
                <a:solidFill>
                  <a:srgbClr val="0000CC"/>
                </a:solidFill>
              </a:rPr>
              <a:t>Delete_min</a:t>
            </a:r>
            <a:r>
              <a:rPr lang="en-US" altLang="en-US" sz="2100" b="1" i="1" dirty="0">
                <a:solidFill>
                  <a:srgbClr val="0000CC"/>
                </a:solidFill>
              </a:rPr>
              <a:t>:</a:t>
            </a:r>
            <a:r>
              <a:rPr lang="en-US" altLang="en-US" sz="2100" b="1" dirty="0">
                <a:solidFill>
                  <a:srgbClr val="0000CC"/>
                </a:solidFill>
              </a:rPr>
              <a:t> </a:t>
            </a:r>
            <a:r>
              <a:rPr lang="en-US" altLang="en-US" sz="2100" dirty="0"/>
              <a:t>delete the deepest child from the leftmost subtree</a:t>
            </a:r>
          </a:p>
          <a:p>
            <a:pPr lvl="2">
              <a:lnSpc>
                <a:spcPct val="80000"/>
              </a:lnSpc>
            </a:pPr>
            <a:r>
              <a:rPr lang="en-US" altLang="en-US" sz="1800" i="1" dirty="0"/>
              <a:t>O</a:t>
            </a:r>
            <a:r>
              <a:rPr lang="en-US" altLang="en-US" sz="1800" dirty="0"/>
              <a:t>(log </a:t>
            </a:r>
            <a:r>
              <a:rPr lang="en-US" altLang="en-US" sz="1800" i="1" dirty="0"/>
              <a:t>n</a:t>
            </a:r>
            <a:r>
              <a:rPr lang="en-US" altLang="en-US" sz="1800" dirty="0"/>
              <a:t>) running time</a:t>
            </a:r>
          </a:p>
          <a:p>
            <a:pPr lvl="2">
              <a:lnSpc>
                <a:spcPct val="80000"/>
              </a:lnSpc>
            </a:pPr>
            <a:endParaRPr lang="en-US" altLang="en-US" sz="1800" dirty="0"/>
          </a:p>
          <a:p>
            <a:pPr lvl="4">
              <a:lnSpc>
                <a:spcPct val="80000"/>
              </a:lnSpc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B6B3DE5-AEEF-554C-BDBD-674E0B39DB7B}"/>
              </a:ext>
            </a:extLst>
          </p:cNvPr>
          <p:cNvSpPr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400" b="1">
                <a:latin typeface="Trebuchet MS" panose="020B0703020202090204" pitchFamily="34" charset="0"/>
              </a:rPr>
              <a:t>Priority Queues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53873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39C5B5-2E53-454F-BA71-E61600F3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FD9592-414B-3748-8DAB-8C2D88E3ED0D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7EE182-A102-AB45-B01D-46230845CD32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5438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i="1" dirty="0"/>
              <a:t>binary heap ~ heap</a:t>
            </a:r>
          </a:p>
          <a:p>
            <a:r>
              <a:rPr lang="en-US" altLang="en-US" i="1" dirty="0"/>
              <a:t>A binary tree which is completely filled</a:t>
            </a:r>
          </a:p>
          <a:p>
            <a:r>
              <a:rPr lang="en-US" altLang="en-US" i="1" dirty="0"/>
              <a:t>The last level may not be completely filled </a:t>
            </a:r>
          </a:p>
          <a:p>
            <a:pPr lvl="2"/>
            <a:r>
              <a:rPr lang="en-US" altLang="en-US" dirty="0"/>
              <a:t>It is filled from left to right </a:t>
            </a:r>
          </a:p>
          <a:p>
            <a:r>
              <a:rPr lang="en-US" dirty="0"/>
              <a:t>For every node, the value of its children is greater/lower than or equal to its own value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707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6AB83-C945-E746-8CD9-556B8460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44C519-6F52-0245-BA40-2E9DBBDA3D24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0732C6-78B0-3B43-AAB5-D92077AA1F9F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1743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/>
              <a:t>Value of an element at a node is less than or equal to that of  its descendants.  (Heap property)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402FC37-D3B3-9442-9153-30BE69628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3676650"/>
            <a:ext cx="382587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D8715239-CDA9-894D-A43A-23B284868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458628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24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DDE7C2EE-210C-0C4F-AACD-9C4F5A667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225" y="546893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F286E08E-98D0-324D-B4D2-A00C46A2D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013" y="4564063"/>
            <a:ext cx="384175" cy="38893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850EE2A9-C61E-7045-9C2C-A7306B414D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39900" y="4953000"/>
            <a:ext cx="182563" cy="525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571F00A5-4E74-AB48-AC29-13FD02425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3667125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929D64C9-D21C-554C-9B1C-AB09E969A3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08125" y="4048125"/>
            <a:ext cx="409575" cy="5159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2F6FB95F-9556-434B-AC16-CFE35F73B3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3300" y="4051300"/>
            <a:ext cx="422275" cy="588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55A43E4C-3E00-3549-A17C-47CA28FA8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4225" y="310038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6873BAFC-28E1-674D-9008-1667CE1CD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47687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2B0051CA-B01A-5045-A5E0-8B6C3952DA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275" y="4960938"/>
            <a:ext cx="257175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3303C4F7-3662-6944-BE6C-250272CB8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5475288"/>
            <a:ext cx="384175" cy="38893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062CF202-3E9B-0349-884F-6E3AB63ED9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0438" y="4967288"/>
            <a:ext cx="22225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7">
            <a:extLst>
              <a:ext uri="{FF2B5EF4-FFF2-40B4-BE49-F238E27FC236}">
                <a16:creationId xmlns:a16="http://schemas.microsoft.com/office/drawing/2014/main" id="{7C69256F-114D-644D-BFC6-AA5ADC192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456406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9" name="Line 9">
            <a:extLst>
              <a:ext uri="{FF2B5EF4-FFF2-40B4-BE49-F238E27FC236}">
                <a16:creationId xmlns:a16="http://schemas.microsoft.com/office/drawing/2014/main" id="{D7B06BDB-90F5-0744-BA55-92FFAC0382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8300" y="4041775"/>
            <a:ext cx="222250" cy="5222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40783002-2F36-8E46-B38D-D873BBF54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4554538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15F49FDB-5A8A-1541-9902-4532E2E89A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81363" y="4025900"/>
            <a:ext cx="236537" cy="5381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7E2DDDF1-9CC7-1949-8F04-4524AC2535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3421063"/>
            <a:ext cx="635000" cy="3175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2">
            <a:extLst>
              <a:ext uri="{FF2B5EF4-FFF2-40B4-BE49-F238E27FC236}">
                <a16:creationId xmlns:a16="http://schemas.microsoft.com/office/drawing/2014/main" id="{0FA51A5E-AB2B-B649-95C3-26223FD2A1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22425" y="3459163"/>
            <a:ext cx="523875" cy="2841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4">
            <a:extLst>
              <a:ext uri="{FF2B5EF4-FFF2-40B4-BE49-F238E27FC236}">
                <a16:creationId xmlns:a16="http://schemas.microsoft.com/office/drawing/2014/main" id="{DF0303C5-F082-8E44-950D-2AF8CB633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038" y="3705225"/>
            <a:ext cx="382587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25" name="Oval 6">
            <a:extLst>
              <a:ext uri="{FF2B5EF4-FFF2-40B4-BE49-F238E27FC236}">
                <a16:creationId xmlns:a16="http://schemas.microsoft.com/office/drawing/2014/main" id="{BA05F288-A504-9642-BAAD-45E1B559B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0" y="461486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24</a:t>
            </a:r>
          </a:p>
        </p:txBody>
      </p:sp>
      <p:sp>
        <p:nvSpPr>
          <p:cNvPr id="26" name="Oval 7">
            <a:extLst>
              <a:ext uri="{FF2B5EF4-FFF2-40B4-BE49-F238E27FC236}">
                <a16:creationId xmlns:a16="http://schemas.microsoft.com/office/drawing/2014/main" id="{B8ABD65A-26AC-C743-9802-03EE38B95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825" y="549751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27" name="Oval 8">
            <a:extLst>
              <a:ext uri="{FF2B5EF4-FFF2-40B4-BE49-F238E27FC236}">
                <a16:creationId xmlns:a16="http://schemas.microsoft.com/office/drawing/2014/main" id="{AA349EA9-4151-4B41-AD1C-14109F282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4592638"/>
            <a:ext cx="384175" cy="38893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1574CEC3-F6AB-6B41-B22A-412EA83FC3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8500" y="4981575"/>
            <a:ext cx="182563" cy="525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0">
            <a:extLst>
              <a:ext uri="{FF2B5EF4-FFF2-40B4-BE49-F238E27FC236}">
                <a16:creationId xmlns:a16="http://schemas.microsoft.com/office/drawing/2014/main" id="{96ED4070-9551-3144-8064-A471CF76C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188" y="3695700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30" name="Line 11">
            <a:extLst>
              <a:ext uri="{FF2B5EF4-FFF2-40B4-BE49-F238E27FC236}">
                <a16:creationId xmlns:a16="http://schemas.microsoft.com/office/drawing/2014/main" id="{BB04018D-6C5C-7D44-9D6D-320F65B87D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46725" y="4076700"/>
            <a:ext cx="409575" cy="5159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2">
            <a:extLst>
              <a:ext uri="{FF2B5EF4-FFF2-40B4-BE49-F238E27FC236}">
                <a16:creationId xmlns:a16="http://schemas.microsoft.com/office/drawing/2014/main" id="{10C0D9E9-7C15-3142-957E-E84294AAAB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41900" y="4079875"/>
            <a:ext cx="422275" cy="588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Oval 14">
            <a:extLst>
              <a:ext uri="{FF2B5EF4-FFF2-40B4-BE49-F238E27FC236}">
                <a16:creationId xmlns:a16="http://schemas.microsoft.com/office/drawing/2014/main" id="{EA460289-A92D-D544-8415-E20EDA03A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3200400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BA14FDCF-A458-5F45-B544-C3265061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505450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34" name="Line 9">
            <a:extLst>
              <a:ext uri="{FF2B5EF4-FFF2-40B4-BE49-F238E27FC236}">
                <a16:creationId xmlns:a16="http://schemas.microsoft.com/office/drawing/2014/main" id="{D5EB66C5-2D33-F94D-B643-729906E9DB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7875" y="4989513"/>
            <a:ext cx="257175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680BE853-8D3B-0E42-A4CC-5CA8EB390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0" y="5503863"/>
            <a:ext cx="384175" cy="38893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36" name="Line 17">
            <a:extLst>
              <a:ext uri="{FF2B5EF4-FFF2-40B4-BE49-F238E27FC236}">
                <a16:creationId xmlns:a16="http://schemas.microsoft.com/office/drawing/2014/main" id="{A30245B5-F456-0A46-BE5B-D8B996AD91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9038" y="4995863"/>
            <a:ext cx="22225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79CB706B-B7AE-A445-ABDF-B94203053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0700" y="459263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38" name="Line 9">
            <a:extLst>
              <a:ext uri="{FF2B5EF4-FFF2-40B4-BE49-F238E27FC236}">
                <a16:creationId xmlns:a16="http://schemas.microsoft.com/office/drawing/2014/main" id="{6C387CFD-DC9D-E64C-A5AD-84FF1E4517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9300" y="4070350"/>
            <a:ext cx="222250" cy="5222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Oval 16">
            <a:extLst>
              <a:ext uri="{FF2B5EF4-FFF2-40B4-BE49-F238E27FC236}">
                <a16:creationId xmlns:a16="http://schemas.microsoft.com/office/drawing/2014/main" id="{DAA2E26A-42EC-1643-9082-B3191385B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213" y="4583113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40" name="Line 17">
            <a:extLst>
              <a:ext uri="{FF2B5EF4-FFF2-40B4-BE49-F238E27FC236}">
                <a16:creationId xmlns:a16="http://schemas.microsoft.com/office/drawing/2014/main" id="{0C6A49A6-91C7-1B46-A006-99225C944DB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72363" y="4054475"/>
            <a:ext cx="236537" cy="5381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11">
            <a:extLst>
              <a:ext uri="{FF2B5EF4-FFF2-40B4-BE49-F238E27FC236}">
                <a16:creationId xmlns:a16="http://schemas.microsoft.com/office/drawing/2014/main" id="{6DEF40F6-A374-3746-8BFC-849703B7D1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53200" y="3449638"/>
            <a:ext cx="635000" cy="3175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12">
            <a:extLst>
              <a:ext uri="{FF2B5EF4-FFF2-40B4-BE49-F238E27FC236}">
                <a16:creationId xmlns:a16="http://schemas.microsoft.com/office/drawing/2014/main" id="{2AF92216-824F-4849-AB52-327C4F308B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61025" y="3487738"/>
            <a:ext cx="523875" cy="2841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Text Box 47">
            <a:extLst>
              <a:ext uri="{FF2B5EF4-FFF2-40B4-BE49-F238E27FC236}">
                <a16:creationId xmlns:a16="http://schemas.microsoft.com/office/drawing/2014/main" id="{1305F7DE-79EA-DC47-A461-8DDDD7895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609600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A heap</a:t>
            </a:r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D1296EE0-FE8A-C84D-AE19-2E23E1412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113" y="6096000"/>
            <a:ext cx="174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Not a heap</a:t>
            </a:r>
          </a:p>
        </p:txBody>
      </p:sp>
    </p:spTree>
    <p:extLst>
      <p:ext uri="{BB962C8B-B14F-4D97-AF65-F5344CB8AC3E}">
        <p14:creationId xmlns:p14="http://schemas.microsoft.com/office/powerpoint/2010/main" val="135546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F65B47-E41C-E84A-B2F4-29B6AA9A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0C2FDC-D197-1643-A9F6-F5A03D4DE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7650" y="3276600"/>
            <a:ext cx="882650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3×2 + 1</a:t>
            </a:r>
          </a:p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 </a:t>
            </a:r>
            <a:r>
              <a:rPr lang="en-US" altLang="en-US" sz="1600" b="1"/>
              <a:t>=</a:t>
            </a:r>
            <a:r>
              <a:rPr lang="en-US" altLang="en-US" sz="1600" b="1">
                <a:solidFill>
                  <a:srgbClr val="FF0000"/>
                </a:solidFill>
              </a:rPr>
              <a:t> 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C780B-97FC-CD4D-A7A1-20B009A97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2381250"/>
            <a:ext cx="882650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2×1 + 1</a:t>
            </a:r>
          </a:p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AE02D8-7175-8C40-9F9B-DC49A5484729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Heaps: Array implementation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684E143-F880-0A43-ACFC-D723B03A7DE4}"/>
              </a:ext>
            </a:extLst>
          </p:cNvPr>
          <p:cNvSpPr txBox="1">
            <a:spLocks/>
          </p:cNvSpPr>
          <p:nvPr/>
        </p:nvSpPr>
        <p:spPr>
          <a:xfrm>
            <a:off x="457200" y="914400"/>
            <a:ext cx="7391400" cy="120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/>
              <a:t>An important observation is that because a complete binary tree is so regular, it can be represented in an array and no pointers are necessary 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04E154BE-4EF4-4C46-934C-8C39DFD3F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638" y="2686050"/>
            <a:ext cx="382587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0809F9F8-8373-AA4A-8995-883236B7D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200" y="359568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76D02A25-6887-9D42-B2E4-A969703C1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4495800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A5BFEE38-58BC-1340-A730-82C41C535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713" y="3573463"/>
            <a:ext cx="384175" cy="38893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C9BEECBB-B031-B34B-8442-48DC1629C5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6600" y="3962400"/>
            <a:ext cx="182563" cy="525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25E24CA0-6171-ED4E-B767-DE2800231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8" y="2676525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12FD2A02-90E8-F342-9D26-33F890A961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4825" y="3057525"/>
            <a:ext cx="409575" cy="5159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66DE9351-765D-794E-A567-1F5D3E0915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0000" y="3060700"/>
            <a:ext cx="422275" cy="588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C35B9E-1260-4F4B-AC2D-BD02DB43D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1905000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6" name="Oval 7">
            <a:extLst>
              <a:ext uri="{FF2B5EF4-FFF2-40B4-BE49-F238E27FC236}">
                <a16:creationId xmlns:a16="http://schemas.microsoft.com/office/drawing/2014/main" id="{0E038956-F88B-4C4A-B120-8FC7905A7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50373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7" name="Line 9">
            <a:extLst>
              <a:ext uri="{FF2B5EF4-FFF2-40B4-BE49-F238E27FC236}">
                <a16:creationId xmlns:a16="http://schemas.microsoft.com/office/drawing/2014/main" id="{B2968E7C-0CC1-DF4A-A437-69B6094156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4850" y="3932238"/>
            <a:ext cx="3651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D94831F5-B42B-B24C-9A45-081C8E0C8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600" y="4502150"/>
            <a:ext cx="384175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6D15444A-81CF-F34C-BE6E-AD1D43EA16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37138" y="3976688"/>
            <a:ext cx="22225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7">
            <a:extLst>
              <a:ext uri="{FF2B5EF4-FFF2-40B4-BE49-F238E27FC236}">
                <a16:creationId xmlns:a16="http://schemas.microsoft.com/office/drawing/2014/main" id="{917E4A5E-AEB9-B246-BC34-4C09F7B41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00" y="357346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1" name="Line 9">
            <a:extLst>
              <a:ext uri="{FF2B5EF4-FFF2-40B4-BE49-F238E27FC236}">
                <a16:creationId xmlns:a16="http://schemas.microsoft.com/office/drawing/2014/main" id="{569D99F4-F83D-5F4F-8AC1-89818D172A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7900" y="3051175"/>
            <a:ext cx="222250" cy="5222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Oval 16">
            <a:extLst>
              <a:ext uri="{FF2B5EF4-FFF2-40B4-BE49-F238E27FC236}">
                <a16:creationId xmlns:a16="http://schemas.microsoft.com/office/drawing/2014/main" id="{096DA179-06B8-ED4D-917D-E6A5A3735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0813" y="3563938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2ABB8DD6-609A-1840-AE34-2C257854FF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00963" y="3035300"/>
            <a:ext cx="236537" cy="5381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1">
            <a:extLst>
              <a:ext uri="{FF2B5EF4-FFF2-40B4-BE49-F238E27FC236}">
                <a16:creationId xmlns:a16="http://schemas.microsoft.com/office/drawing/2014/main" id="{1A8F1BC9-7692-F344-8FC4-DB8AFB1F6E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26250" y="2185988"/>
            <a:ext cx="635000" cy="5413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2">
            <a:extLst>
              <a:ext uri="{FF2B5EF4-FFF2-40B4-BE49-F238E27FC236}">
                <a16:creationId xmlns:a16="http://schemas.microsoft.com/office/drawing/2014/main" id="{5980CAD1-6531-D949-BD0C-2DA64A89BC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99125" y="2185988"/>
            <a:ext cx="777875" cy="5667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6" name="Group 164">
            <a:extLst>
              <a:ext uri="{FF2B5EF4-FFF2-40B4-BE49-F238E27FC236}">
                <a16:creationId xmlns:a16="http://schemas.microsoft.com/office/drawing/2014/main" id="{3671312F-DBFF-4340-AA48-6F83BA614432}"/>
              </a:ext>
            </a:extLst>
          </p:cNvPr>
          <p:cNvGraphicFramePr>
            <a:graphicFrameLocks/>
          </p:cNvGraphicFramePr>
          <p:nvPr/>
        </p:nvGraphicFramePr>
        <p:xfrm>
          <a:off x="685800" y="5842000"/>
          <a:ext cx="6934200" cy="787400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3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689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0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8" marB="45738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38" marB="45738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 Box 165">
            <a:extLst>
              <a:ext uri="{FF2B5EF4-FFF2-40B4-BE49-F238E27FC236}">
                <a16:creationId xmlns:a16="http://schemas.microsoft.com/office/drawing/2014/main" id="{3E30F9D6-1676-8647-B5B7-CC7C49B39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981200"/>
            <a:ext cx="4572000" cy="3429000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273050" indent="-2730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207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Char char=""/>
              <a:defRPr/>
            </a:pPr>
            <a:r>
              <a:rPr lang="en-US" sz="2000" dirty="0">
                <a:solidFill>
                  <a:srgbClr val="0000CC"/>
                </a:solidFill>
              </a:rPr>
              <a:t>Start from index 1</a:t>
            </a:r>
          </a:p>
          <a:p>
            <a:pPr algn="l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Char char=""/>
              <a:defRPr/>
            </a:pPr>
            <a:r>
              <a:rPr lang="en-US" sz="2000" dirty="0">
                <a:solidFill>
                  <a:srgbClr val="0000CC"/>
                </a:solidFill>
              </a:rPr>
              <a:t>For any element in array position </a:t>
            </a:r>
            <a:r>
              <a:rPr lang="en-US" sz="2000" i="1" dirty="0">
                <a:solidFill>
                  <a:srgbClr val="0000CC"/>
                </a:solidFill>
              </a:rPr>
              <a:t>i</a:t>
            </a:r>
            <a:r>
              <a:rPr lang="en-US" sz="2000" dirty="0">
                <a:solidFill>
                  <a:srgbClr val="0000CC"/>
                </a:solidFill>
              </a:rPr>
              <a:t>, </a:t>
            </a:r>
          </a:p>
          <a:p>
            <a:pPr lvl="1" algn="l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Char char=""/>
              <a:defRPr/>
            </a:pPr>
            <a:r>
              <a:rPr lang="en-US" sz="2000" dirty="0">
                <a:solidFill>
                  <a:srgbClr val="0000CC"/>
                </a:solidFill>
              </a:rPr>
              <a:t>the left child is in position 2</a:t>
            </a:r>
            <a:r>
              <a:rPr lang="en-US" sz="2000" i="1" dirty="0">
                <a:solidFill>
                  <a:srgbClr val="0000CC"/>
                </a:solidFill>
              </a:rPr>
              <a:t>i</a:t>
            </a:r>
            <a:r>
              <a:rPr lang="en-US" sz="2000" dirty="0">
                <a:solidFill>
                  <a:srgbClr val="0000CC"/>
                </a:solidFill>
              </a:rPr>
              <a:t>, </a:t>
            </a:r>
          </a:p>
          <a:p>
            <a:pPr lvl="1" algn="l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Char char=""/>
              <a:defRPr/>
            </a:pPr>
            <a:r>
              <a:rPr lang="en-US" sz="2000" dirty="0">
                <a:solidFill>
                  <a:srgbClr val="0000CC"/>
                </a:solidFill>
              </a:rPr>
              <a:t>the right child is in the cell after the left child (2i + 1), and </a:t>
            </a:r>
          </a:p>
          <a:p>
            <a:pPr lvl="1" algn="l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Char char=""/>
              <a:defRPr/>
            </a:pPr>
            <a:r>
              <a:rPr lang="en-US" sz="2000" dirty="0">
                <a:solidFill>
                  <a:srgbClr val="0000CC"/>
                </a:solidFill>
              </a:rPr>
              <a:t>the parent is in position  i/2 </a:t>
            </a:r>
          </a:p>
          <a:p>
            <a:pPr algn="l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Char char=""/>
              <a:defRPr/>
            </a:pPr>
            <a:r>
              <a:rPr lang="en-US" sz="2000" dirty="0"/>
              <a:t>Any problem?</a:t>
            </a:r>
          </a:p>
          <a:p>
            <a:pPr lvl="1" algn="l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Char char=""/>
              <a:defRPr/>
            </a:pPr>
            <a:r>
              <a:rPr lang="en-US" sz="2000" dirty="0"/>
              <a:t> an estimate of the maximum   </a:t>
            </a:r>
          </a:p>
          <a:p>
            <a:pPr marL="292100" lvl="1" indent="0" algn="l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sz="2000" dirty="0"/>
              <a:t>     heap size is required in       </a:t>
            </a:r>
          </a:p>
          <a:p>
            <a:pPr marL="292100" lvl="1" indent="0" algn="l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sz="2000" dirty="0"/>
              <a:t>     advance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B6344D-300F-E64B-9D35-FCCC90BF3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1450" y="1600200"/>
            <a:ext cx="298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FCF545-F2FF-7841-A4FF-3C43E675C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366963"/>
            <a:ext cx="8826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2×1 =</a:t>
            </a:r>
            <a:r>
              <a:rPr lang="en-US" altLang="en-US" sz="1600" b="1">
                <a:solidFill>
                  <a:srgbClr val="FF0000"/>
                </a:solidFill>
              </a:rPr>
              <a:t>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F83D6E-AA05-194F-B645-954A4CF8F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276600"/>
            <a:ext cx="939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2×2  = </a:t>
            </a:r>
            <a:r>
              <a:rPr lang="en-US" altLang="en-US" sz="16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F8DAA0-E553-414A-BB58-2A223B535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050" y="3219450"/>
            <a:ext cx="882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2×2 + 1</a:t>
            </a:r>
          </a:p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 </a:t>
            </a:r>
            <a:r>
              <a:rPr lang="en-US" altLang="en-US" sz="1600" b="1"/>
              <a:t>=</a:t>
            </a:r>
            <a:r>
              <a:rPr lang="en-US" altLang="en-US" sz="1600" b="1">
                <a:solidFill>
                  <a:srgbClr val="FF0000"/>
                </a:solidFill>
              </a:rPr>
              <a:t> 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2BC4C7-67A7-B441-97C9-E95A5050F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3257550"/>
            <a:ext cx="7889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 b="1"/>
              <a:t>    3×2</a:t>
            </a:r>
          </a:p>
          <a:p>
            <a:pPr algn="l" eaLnBrk="1" hangingPunct="1"/>
            <a:r>
              <a:rPr lang="en-US" altLang="en-US" sz="1600" b="1"/>
              <a:t>= </a:t>
            </a:r>
            <a:r>
              <a:rPr lang="en-US" altLang="en-US" sz="16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930967-7D1F-2F46-982B-BF13BBCBF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6700" y="4972050"/>
            <a:ext cx="647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4×2  </a:t>
            </a:r>
          </a:p>
          <a:p>
            <a:pPr eaLnBrk="1" hangingPunct="1"/>
            <a:r>
              <a:rPr lang="en-US" altLang="en-US" sz="1600" b="1"/>
              <a:t>= </a:t>
            </a:r>
            <a:r>
              <a:rPr lang="en-US" altLang="en-US" sz="16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05A13E-0863-824B-AF64-47021791A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953000"/>
            <a:ext cx="882650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4×2 + 1</a:t>
            </a:r>
          </a:p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 </a:t>
            </a:r>
            <a:r>
              <a:rPr lang="en-US" altLang="en-US" sz="1600" b="1"/>
              <a:t>=</a:t>
            </a:r>
            <a:r>
              <a:rPr lang="en-US" altLang="en-US" sz="1600" b="1">
                <a:solidFill>
                  <a:srgbClr val="FF0000"/>
                </a:solidFill>
              </a:rPr>
              <a:t> 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4054B7-509A-C047-92A6-39267B64F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700" y="4673600"/>
            <a:ext cx="647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5×2  </a:t>
            </a:r>
          </a:p>
          <a:p>
            <a:pPr eaLnBrk="1" hangingPunct="1"/>
            <a:r>
              <a:rPr lang="en-US" altLang="en-US" sz="1600" b="1"/>
              <a:t>= </a:t>
            </a:r>
            <a:r>
              <a:rPr lang="en-US" altLang="en-US" sz="1600" b="1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361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8" grpId="0"/>
      <p:bldP spid="29" grpId="0"/>
      <p:bldP spid="30" grpId="0"/>
      <p:bldP spid="31" grpId="0"/>
      <p:bldP spid="32" grpId="0"/>
      <p:bldP spid="33" grpId="0"/>
      <p:bldP spid="34" grpId="0" animBg="1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7DAAD7-7248-2940-9950-434B2763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3605B4-6A50-A548-AF05-10FBACC4EE2C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 -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3E8DD-02AD-B046-9E16-872E25E3A9D8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1743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Insert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87278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86D824-5DAD-AA4A-8FBD-BD8ADB4F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C0F0A8B-B000-4D45-9022-FC3006ABAF0B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i="1"/>
              <a:t>Insert x into the heap</a:t>
            </a:r>
          </a:p>
          <a:p>
            <a:pPr lvl="1"/>
            <a:r>
              <a:rPr lang="en-US" altLang="en-US" sz="2100" i="1"/>
              <a:t>Create a hole in the next available location</a:t>
            </a:r>
          </a:p>
          <a:p>
            <a:pPr lvl="2"/>
            <a:r>
              <a:rPr lang="en-US" altLang="en-US" sz="1800" i="1"/>
              <a:t>since otherwise the tree will not be complete</a:t>
            </a:r>
            <a:r>
              <a:rPr lang="en-US" altLang="en-US" sz="1800"/>
              <a:t> </a:t>
            </a:r>
          </a:p>
          <a:p>
            <a:pPr lvl="1"/>
            <a:r>
              <a:rPr lang="en-US" altLang="en-US" sz="2100" i="1"/>
              <a:t>If x</a:t>
            </a:r>
            <a:r>
              <a:rPr lang="en-US" altLang="en-US" sz="2100"/>
              <a:t> can be placed in the hole without violating heap order, then </a:t>
            </a:r>
          </a:p>
          <a:p>
            <a:pPr lvl="2"/>
            <a:r>
              <a:rPr lang="en-US" altLang="en-US" sz="1800"/>
              <a:t>we do so and are done </a:t>
            </a:r>
          </a:p>
          <a:p>
            <a:pPr lvl="1"/>
            <a:r>
              <a:rPr lang="en-US" altLang="en-US" sz="2100"/>
              <a:t>Else </a:t>
            </a:r>
          </a:p>
          <a:p>
            <a:pPr lvl="2"/>
            <a:r>
              <a:rPr lang="en-US" altLang="en-US" sz="1500"/>
              <a:t>bubble the hole up</a:t>
            </a:r>
          </a:p>
          <a:p>
            <a:pPr lvl="3"/>
            <a:r>
              <a:rPr lang="en-US" altLang="en-US"/>
              <a:t>by sliding the element that is in the hole's parent node into the hole</a:t>
            </a:r>
          </a:p>
          <a:p>
            <a:pPr lvl="1"/>
            <a:r>
              <a:rPr lang="en-US" altLang="en-US" sz="2100"/>
              <a:t>Continue this process until </a:t>
            </a:r>
            <a:r>
              <a:rPr lang="en-US" altLang="en-US" sz="2100" i="1"/>
              <a:t>x</a:t>
            </a:r>
            <a:r>
              <a:rPr lang="en-US" altLang="en-US" sz="2100"/>
              <a:t> can be placed in the hole </a:t>
            </a:r>
          </a:p>
          <a:p>
            <a:pPr lvl="1"/>
            <a:r>
              <a:rPr lang="en-US" altLang="en-US" sz="2100"/>
              <a:t>This general strategy is known as a </a:t>
            </a:r>
            <a:r>
              <a:rPr lang="en-US" altLang="en-US" sz="2100" i="1"/>
              <a:t>percolate up;</a:t>
            </a:r>
          </a:p>
          <a:p>
            <a:pPr lvl="2"/>
            <a:r>
              <a:rPr lang="en-US" altLang="en-US" sz="1800"/>
              <a:t>the new element is percolated up the heap until the correct location is found </a:t>
            </a:r>
          </a:p>
          <a:p>
            <a:pPr lvl="1"/>
            <a:endParaRPr lang="en-US" altLang="en-US" sz="210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889914-3FE6-7743-8D8E-5133D739A87A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 – insert operation</a:t>
            </a:r>
          </a:p>
        </p:txBody>
      </p:sp>
    </p:spTree>
    <p:extLst>
      <p:ext uri="{BB962C8B-B14F-4D97-AF65-F5344CB8AC3E}">
        <p14:creationId xmlns:p14="http://schemas.microsoft.com/office/powerpoint/2010/main" val="410996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B8DD04-691E-E84C-B000-52661DF8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7328742-0776-FD49-ADB3-A505F7FFF351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 – insert  14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5D6F7035-78BC-7549-B2EC-546AD7187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9870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DB067B67-0C10-DA47-BDE4-FDD6E9B24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34004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24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1BCF79C6-7682-874D-8A77-F5CB5DC38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470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F08DFEF3-0B48-F24A-91E4-EB4172A8C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3734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827ABCAF-1F3F-8D46-A6EF-3AF9C626D5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3150" y="38449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1682B01C-6769-1C4F-8ABB-9B6F80A9B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875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9AEE2322-2CF4-A547-9C4F-3CDBE0EAD2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24225" y="27479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030AD919-F607-E545-8B95-EBA0FE72D5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27527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A30F16A0-AD95-7049-AD28-40C84AAF0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6002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9F9BF362-809A-4E4A-9A36-F73BBD635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799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C1EE0F4D-C252-DC4C-B618-63E1B0E8E8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0425" y="38544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4D5E307C-E449-904C-A44F-03310F636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4783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9658E797-4888-C048-8641-9FECD707CC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38623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029A54A3-7290-2041-9637-F481F209C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34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32DCD417-31B8-1940-928E-3AF065695E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7300" y="2741613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152C4C48-DD36-BE42-8397-0C26B0BAD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362325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C5DE5961-4FCA-064B-B695-FD0B5C4A82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38" y="2720975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ED2A4330-C115-4F45-B79E-F0B6DBD993A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850" y="1989138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D6B18F85-5653-3D43-A20E-DBCA304C48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2035175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8758A285-60E4-4645-A6C2-DD37E25D2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5" y="44719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424EE8C1-8AD2-F24F-8345-9346F279F0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8438" y="38163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5" name="Group 27">
            <a:extLst>
              <a:ext uri="{FF2B5EF4-FFF2-40B4-BE49-F238E27FC236}">
                <a16:creationId xmlns:a16="http://schemas.microsoft.com/office/drawing/2014/main" id="{16078678-875D-3944-A957-5D48829BDA67}"/>
              </a:ext>
            </a:extLst>
          </p:cNvPr>
          <p:cNvGraphicFramePr>
            <a:graphicFrameLocks/>
          </p:cNvGraphicFramePr>
          <p:nvPr/>
        </p:nvGraphicFramePr>
        <p:xfrm>
          <a:off x="457200" y="5715000"/>
          <a:ext cx="7239000" cy="741363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99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3D8252-5F35-0E4F-ABA8-82CADD0C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31D355-260F-2E48-8176-21FE5DC1EA84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 – insert  14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619F6C74-B3EA-3F41-A486-D7CE6A2F6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9870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8A7ADD59-B94D-F442-A44D-36DC6BB47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34004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24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798C54BA-40F1-6C47-89B8-CBBF986D4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470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A9F5072F-6A63-4143-8519-4A1AC4FC0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3734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66442839-9E21-F64C-95DF-F37C421160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3150" y="38449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F2F17903-0898-5744-9CEE-F4F5162E7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875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7DA6BA65-4BD1-5949-9B3B-1EDED0674C6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24225" y="27479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66C17B66-F8A0-A948-B3D3-391023CBB4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27527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405EA6E4-3EAB-7B4B-90D7-4A81215AA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6002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7A596777-ABAE-F645-831C-DFF663FA2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799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3BED26BE-B979-B64D-976B-68F474AEBA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0425" y="38544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4D231F68-6938-A845-BA66-41FB4EB8F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4783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66777C2A-E4B1-FA4B-ACA8-96429A2F341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38623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B5597EDA-2C1F-534D-AD54-331266748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34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C0AAEA07-924E-0D45-A020-EC06E2DC33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7300" y="2741613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E99BC5BE-641A-8B40-A0D8-7B607622E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362325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4B8E1F06-53AA-DD45-B0E3-23A5203376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38" y="2720975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AD8A5078-6F21-2F41-903B-6AE88988D8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850" y="1989138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923DFE0A-7B42-AE4F-9AE5-3E499B8EF3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2035175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7910E9DC-FFBE-B74A-8D9D-9E246EB63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5" y="44719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AF3D7D16-5AB5-B846-ADA2-5372ABFB70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8438" y="38163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5" name="Group 87">
            <a:extLst>
              <a:ext uri="{FF2B5EF4-FFF2-40B4-BE49-F238E27FC236}">
                <a16:creationId xmlns:a16="http://schemas.microsoft.com/office/drawing/2014/main" id="{D6219531-18B6-4342-AFB5-ADB155D4E72E}"/>
              </a:ext>
            </a:extLst>
          </p:cNvPr>
          <p:cNvGraphicFramePr>
            <a:graphicFrameLocks/>
          </p:cNvGraphicFramePr>
          <p:nvPr/>
        </p:nvGraphicFramePr>
        <p:xfrm>
          <a:off x="457200" y="5715000"/>
          <a:ext cx="7239000" cy="731838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6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40" marB="4574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20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07C5EE-AE6A-5D45-8BC4-A724B28D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467262-ABD1-2144-9C1B-839438077A64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 – insert  14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F0D02795-AF11-A143-B3BF-CDB31CD7E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9870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9605A164-9A27-5E4F-A9D0-00E86C9CB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34004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24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52E07F5D-0397-5D48-8CFE-D2F1A338F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470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39BE659F-9312-504A-8B42-141C8933B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3734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58DC42F4-7603-4C43-BADD-1EEDAF98DB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3150" y="38449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5E731C4F-BB68-1E46-84F2-7FE55E1FA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875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5D413B5F-D7D6-7E4A-B5D9-E2E938B4DC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24225" y="27479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27FFB4EF-B722-1845-8168-75DC0B48B8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27527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EB465D93-5CD3-4C43-8F4A-EED6FC781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6002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66C4DA7C-D257-C240-8BC0-95A9730E1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799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FC117238-2871-EA41-8BEE-6B582456AD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0425" y="38544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D816BC44-F5A1-A544-A13E-E9BAA72BD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4783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65CE5225-18D6-6F4D-B248-7247AD70D3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38623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5A3735F9-5B1B-1B4B-A06C-8D4D9A01A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34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D8FDDC20-B1D1-FC4A-B6D5-75830B6AD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7300" y="2741613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7D7CDF57-38CE-8C40-AC7F-3483497D9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362325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60B37A0F-3D96-5342-940C-3812589AA8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38" y="2720975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4A03C603-4B26-3D46-9573-85207D424F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850" y="1989138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D8203CBF-C722-064A-BB41-DE9A600E5C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2035175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8156507F-53AF-0541-BC58-D918E0326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5" y="44719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6B809374-E3BB-0C4D-B74E-13927D2825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8438" y="38163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5" name="Group 88">
            <a:extLst>
              <a:ext uri="{FF2B5EF4-FFF2-40B4-BE49-F238E27FC236}">
                <a16:creationId xmlns:a16="http://schemas.microsoft.com/office/drawing/2014/main" id="{B8415583-5346-C94A-A9EB-F6D320E82C8E}"/>
              </a:ext>
            </a:extLst>
          </p:cNvPr>
          <p:cNvGraphicFramePr>
            <a:graphicFrameLocks/>
          </p:cNvGraphicFramePr>
          <p:nvPr/>
        </p:nvGraphicFramePr>
        <p:xfrm>
          <a:off x="457200" y="5715000"/>
          <a:ext cx="7239000" cy="741363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0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84C55B-395E-5D49-8FD9-DD965759B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EDB79-24D9-B34B-90CA-8873E79CCE80}"/>
              </a:ext>
            </a:extLst>
          </p:cNvPr>
          <p:cNvSpPr txBox="1">
            <a:spLocks/>
          </p:cNvSpPr>
          <p:nvPr/>
        </p:nvSpPr>
        <p:spPr bwMode="auto">
          <a:xfrm>
            <a:off x="384175" y="161132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Heaps – insert  14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8813985E-2CEE-6F46-B7F0-E4BEADB9C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9870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36B9923E-0972-AE40-AC66-5902D592E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34004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24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AA51B023-49E8-DD4A-A776-9A8FA95A4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470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E7970CB1-20C6-F942-A002-05E58C97F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3734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CE816C7C-BD2C-0A42-AB24-ADFAF77967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3150" y="38449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4F9B8932-8B40-D041-8182-B1D95BB8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875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0E3551-D605-C446-AAB0-A4B6C580295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24225" y="27479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6F4D02C4-EB17-1446-8854-7605FAE1EA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27527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63D79F14-39E0-7446-B2C4-4ED391A9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6002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EFA3B8E5-32AF-6F45-9A36-9792C7797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799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2CC929B2-3BD0-B747-90F5-92DB0BCDE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0425" y="38544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77061D03-1A5B-134E-AC41-B0E1E54B6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4783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11ED8D7F-2408-DF49-90AB-335A5163D4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38623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71392FFE-5C09-914D-AC52-FF09D70B3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34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144B6E9E-B920-9A48-8ED8-20471CC8F7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7300" y="2741613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187BF43A-5354-DE40-AF65-171EC1A84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362325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40FE6E62-0053-7743-AD3B-AAD60FB1A4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38" y="2720975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DB5C9DDB-1E5A-8348-B733-BC30084AD38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850" y="1989138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6D341223-EB46-684F-A54D-B54D8F1D0E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2035175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E2593756-86A3-DD49-8DBE-9C4585AA5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5" y="44719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1010DCC2-F5D8-AD40-B54D-C2AB0E313B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8438" y="38163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5" name="Group 88">
            <a:extLst>
              <a:ext uri="{FF2B5EF4-FFF2-40B4-BE49-F238E27FC236}">
                <a16:creationId xmlns:a16="http://schemas.microsoft.com/office/drawing/2014/main" id="{8FCDD03B-B775-1D47-93CE-86A48ACDFA22}"/>
              </a:ext>
            </a:extLst>
          </p:cNvPr>
          <p:cNvGraphicFramePr>
            <a:graphicFrameLocks/>
          </p:cNvGraphicFramePr>
          <p:nvPr/>
        </p:nvGraphicFramePr>
        <p:xfrm>
          <a:off x="457200" y="5715000"/>
          <a:ext cx="7239000" cy="731838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6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40" marB="4574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8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C07587-2838-AF4D-BC7E-D0070A9E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F5DBA1-8C1B-B048-BE4F-2D8137CA0FB4}"/>
              </a:ext>
            </a:extLst>
          </p:cNvPr>
          <p:cNvSpPr txBox="1">
            <a:spLocks/>
          </p:cNvSpPr>
          <p:nvPr/>
        </p:nvSpPr>
        <p:spPr>
          <a:xfrm>
            <a:off x="457200" y="1447800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200" i="1"/>
              <a:t>Analogous to</a:t>
            </a:r>
            <a:r>
              <a:rPr lang="en-US" altLang="en-US" sz="2200"/>
              <a:t> insertions. </a:t>
            </a:r>
          </a:p>
          <a:p>
            <a:pPr>
              <a:lnSpc>
                <a:spcPct val="80000"/>
              </a:lnSpc>
            </a:pPr>
            <a:r>
              <a:rPr lang="en-US" altLang="en-US" sz="2200"/>
              <a:t>When the minimum is removed, a hole is created at the root.</a:t>
            </a:r>
          </a:p>
          <a:p>
            <a:pPr>
              <a:lnSpc>
                <a:spcPct val="80000"/>
              </a:lnSpc>
            </a:pPr>
            <a:r>
              <a:rPr lang="en-US" altLang="en-US" sz="2200"/>
              <a:t>Since the heap now becomes one smaller, it follows that the last element </a:t>
            </a:r>
            <a:r>
              <a:rPr lang="en-US" altLang="en-US" sz="2200" b="1" i="1">
                <a:solidFill>
                  <a:srgbClr val="0000CC"/>
                </a:solidFill>
              </a:rPr>
              <a:t>x</a:t>
            </a:r>
            <a:r>
              <a:rPr lang="en-US" altLang="en-US" sz="2200"/>
              <a:t> in the heap must move somewhere in the heap</a:t>
            </a:r>
          </a:p>
          <a:p>
            <a:pPr>
              <a:lnSpc>
                <a:spcPct val="80000"/>
              </a:lnSpc>
            </a:pPr>
            <a:r>
              <a:rPr lang="en-US" altLang="en-US" sz="2200"/>
              <a:t> If </a:t>
            </a:r>
            <a:r>
              <a:rPr lang="en-US" altLang="en-US" sz="2200" b="1" i="1">
                <a:solidFill>
                  <a:srgbClr val="0000CC"/>
                </a:solidFill>
              </a:rPr>
              <a:t>x</a:t>
            </a:r>
            <a:r>
              <a:rPr lang="en-US" altLang="en-US" sz="2200"/>
              <a:t> can be placed in the hole (which is unlikely) then </a:t>
            </a:r>
          </a:p>
          <a:p>
            <a:pPr lvl="1">
              <a:lnSpc>
                <a:spcPct val="80000"/>
              </a:lnSpc>
            </a:pPr>
            <a:r>
              <a:rPr lang="en-US" altLang="en-US" sz="2100"/>
              <a:t>we are done </a:t>
            </a:r>
          </a:p>
          <a:p>
            <a:pPr>
              <a:lnSpc>
                <a:spcPct val="80000"/>
              </a:lnSpc>
            </a:pPr>
            <a:r>
              <a:rPr lang="en-US" altLang="en-US" sz="2200"/>
              <a:t>Else </a:t>
            </a:r>
          </a:p>
          <a:p>
            <a:pPr lvl="1">
              <a:lnSpc>
                <a:spcPct val="80000"/>
              </a:lnSpc>
            </a:pPr>
            <a:r>
              <a:rPr lang="en-US" altLang="en-US" sz="2100"/>
              <a:t>push the hole down one level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by slidimg the smaller of the hole's children into the hole</a:t>
            </a:r>
          </a:p>
          <a:p>
            <a:pPr>
              <a:lnSpc>
                <a:spcPct val="80000"/>
              </a:lnSpc>
            </a:pPr>
            <a:r>
              <a:rPr lang="en-US" altLang="en-US" sz="2200"/>
              <a:t>Repeat this step until </a:t>
            </a:r>
            <a:r>
              <a:rPr lang="en-US" altLang="en-US" sz="2200" b="1" i="1">
                <a:solidFill>
                  <a:srgbClr val="0000CC"/>
                </a:solidFill>
              </a:rPr>
              <a:t>x</a:t>
            </a:r>
            <a:r>
              <a:rPr lang="en-US" altLang="en-US" sz="2200"/>
              <a:t> can be placed in the hole</a:t>
            </a:r>
          </a:p>
          <a:p>
            <a:pPr>
              <a:lnSpc>
                <a:spcPct val="80000"/>
              </a:lnSpc>
            </a:pPr>
            <a:r>
              <a:rPr lang="en-US" altLang="en-US" sz="2200" b="1"/>
              <a:t>The result is</a:t>
            </a:r>
            <a:r>
              <a:rPr lang="en-US" altLang="en-US" sz="2200"/>
              <a:t>: place </a:t>
            </a:r>
            <a:r>
              <a:rPr lang="en-US" altLang="en-US" sz="2200" b="1" i="1">
                <a:solidFill>
                  <a:srgbClr val="0000CC"/>
                </a:solidFill>
              </a:rPr>
              <a:t>x</a:t>
            </a:r>
            <a:r>
              <a:rPr lang="en-US" altLang="en-US" sz="2200"/>
              <a:t> in its correct spot along a path from the root containing </a:t>
            </a:r>
            <a:r>
              <a:rPr lang="en-US" altLang="en-US" sz="2200" i="1"/>
              <a:t>minimum</a:t>
            </a:r>
            <a:r>
              <a:rPr lang="en-US" altLang="en-US" sz="2200"/>
              <a:t> children</a:t>
            </a:r>
          </a:p>
          <a:p>
            <a:pPr lvl="1">
              <a:lnSpc>
                <a:spcPct val="80000"/>
              </a:lnSpc>
            </a:pPr>
            <a:r>
              <a:rPr lang="en-US" altLang="en-US" sz="2100"/>
              <a:t>This general strategy is known as a </a:t>
            </a:r>
            <a:r>
              <a:rPr lang="en-US" altLang="en-US" sz="2100" i="1"/>
              <a:t>percolate down;</a:t>
            </a:r>
            <a:endParaRPr lang="en-US" altLang="en-US" sz="2100"/>
          </a:p>
          <a:p>
            <a:pPr>
              <a:lnSpc>
                <a:spcPct val="80000"/>
              </a:lnSpc>
            </a:pPr>
            <a:endParaRPr lang="en-US" altLang="en-US" sz="2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38D583-2FDD-6C4F-A2F2-4A0E4A9CB382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 – delete_min Operation</a:t>
            </a:r>
          </a:p>
        </p:txBody>
      </p:sp>
    </p:spTree>
    <p:extLst>
      <p:ext uri="{BB962C8B-B14F-4D97-AF65-F5344CB8AC3E}">
        <p14:creationId xmlns:p14="http://schemas.microsoft.com/office/powerpoint/2010/main" val="48001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D6610-791D-0644-85E5-8B15CAC5D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E0CA5-86D4-C24F-825E-A9FC7C3D7560}"/>
              </a:ext>
            </a:extLst>
          </p:cNvPr>
          <p:cNvSpPr txBox="1">
            <a:spLocks/>
          </p:cNvSpPr>
          <p:nvPr/>
        </p:nvSpPr>
        <p:spPr bwMode="auto">
          <a:xfrm>
            <a:off x="102198" y="77788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Heaps – delete_min : 13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5AB05A86-06F5-2646-93F8-229590324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5323" y="2055813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67367713-EE9A-9343-962E-9FEF84E51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161" y="31575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6B699295-A0E3-984C-B27F-B41A0AB97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848" y="42275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93C591BE-FF64-FB47-A6DE-88727F386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2436" y="3130551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6FE7869-194B-6E46-9304-B0DBA64CBE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8148" y="3602038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A1C9A8F1-6AB9-3E47-8AB0-0DDFA321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948" y="2044701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831D8E10-97ED-B042-9CB4-57F71C781A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69223" y="2505076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F6D6DEA-20F2-1A4F-9486-8B9D5A3DBA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0573" y="2509838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3679BC1B-AFAC-7546-B056-C06386676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673" y="1357313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1DD641CF-1828-C844-AEFD-DB5D3AF17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498" y="42370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AB1BE1EA-40E0-4546-AA4B-C6B5A6A1FC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5423" y="3611563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2AE7E8DB-FA1D-9642-9440-77546BC1C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823" y="4235451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89940BB2-FFA0-704C-9928-E288FE306F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598" y="3619501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F95D1D7F-D2E3-5240-B4B9-F9D65CD41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136" y="3130551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C7DF8B46-8388-6A46-8D46-25C4D0B944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2298" y="2498726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BB63025D-83D3-2946-ACDF-E8482530A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748" y="3119438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49B1996B-458A-4247-A475-63AD9B6D7C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77436" y="2478088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A3E70F89-68A9-764E-828B-1ED6DF7C50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32848" y="1746251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83745984-9AA0-824C-8B2C-88C2D73AD8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12098" y="1792288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CB0318E2-B4F9-3942-95FB-D31956D3D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923" y="4229101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3383BC79-6A63-F84C-BA7A-63BF4B97BAB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53436" y="35734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5" name="Group 87">
            <a:extLst>
              <a:ext uri="{FF2B5EF4-FFF2-40B4-BE49-F238E27FC236}">
                <a16:creationId xmlns:a16="http://schemas.microsoft.com/office/drawing/2014/main" id="{2C174108-9C35-0142-B89D-94560C5FA7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6964031"/>
              </p:ext>
            </p:extLst>
          </p:nvPr>
        </p:nvGraphicFramePr>
        <p:xfrm>
          <a:off x="102198" y="5624513"/>
          <a:ext cx="7239000" cy="731838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6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40" marB="4574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49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7F5639-83A9-EC4D-9529-72223323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6B22E3-D098-8B4A-B8F9-8E4C7A476C2F}"/>
              </a:ext>
            </a:extLst>
          </p:cNvPr>
          <p:cNvSpPr txBox="1">
            <a:spLocks/>
          </p:cNvSpPr>
          <p:nvPr/>
        </p:nvSpPr>
        <p:spPr bwMode="auto">
          <a:xfrm>
            <a:off x="380690" y="14287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Heaps – </a:t>
            </a:r>
            <a:r>
              <a:rPr lang="en-US" altLang="en-US" dirty="0" err="1"/>
              <a:t>delete_min</a:t>
            </a:r>
            <a:r>
              <a:rPr lang="en-US" altLang="en-US" dirty="0"/>
              <a:t> : 13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E08F9371-D5BC-6A41-8355-D9F674268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9870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2B807868-FBD0-EF44-97CF-35A101538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34004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04BC740A-5122-2D4F-B1C7-5F9D1AAE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470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AA613122-F788-C540-8008-03E97A427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3734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016F7CEB-E009-4640-A436-2E38425E4E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3150" y="38449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F4EF3042-6EAC-4646-9039-2933E05BB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875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22C11647-0920-C544-ABC2-D4F9ABA681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24225" y="27479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1B37A756-58F8-654E-A471-B33E7C8A60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27527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2A7C4FE4-FE26-0D48-8B75-8CB50053E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6002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66C16153-84CB-3541-9A3F-7CCB82F59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799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5F469FEE-4D43-7B46-B520-7BA9D6FDF1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0425" y="38544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219E63D8-0D9D-A547-9F2E-3A12D6788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4783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514EF369-9EC6-E044-9AF4-D8BC16C954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38623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E86C3801-3980-7B43-B72A-C5DDD88A8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34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0FFA5A51-AFF2-1840-8B91-2137194233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7300" y="2741613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FED55EEB-C76A-514A-9DB0-C8E30C612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362325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D6F30D28-152A-3D4F-90A9-639D5C5D30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38" y="2720975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A4F6E258-2534-D94E-BB67-A9C32C44B7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850" y="1989138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94EEF914-12AE-6542-BADE-32298C2BF7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2035175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CC60A775-32DA-A64D-99D2-81EA01843F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8438" y="38163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111A9749-BCF6-4A49-BE5F-D5BD6A0C7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45450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31</a:t>
            </a:r>
          </a:p>
        </p:txBody>
      </p:sp>
      <p:graphicFrame>
        <p:nvGraphicFramePr>
          <p:cNvPr id="25" name="Group 88">
            <a:extLst>
              <a:ext uri="{FF2B5EF4-FFF2-40B4-BE49-F238E27FC236}">
                <a16:creationId xmlns:a16="http://schemas.microsoft.com/office/drawing/2014/main" id="{8E7B0342-96BC-B04F-9E9C-C4BC6C07B74F}"/>
              </a:ext>
            </a:extLst>
          </p:cNvPr>
          <p:cNvGraphicFramePr>
            <a:graphicFrameLocks/>
          </p:cNvGraphicFramePr>
          <p:nvPr/>
        </p:nvGraphicFramePr>
        <p:xfrm>
          <a:off x="457200" y="5872163"/>
          <a:ext cx="7239000" cy="731837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6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40" marB="4574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53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3D5B01-77FC-3546-AA73-67F3141C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4B2182-5CAB-EA43-9F2C-4BA3833A4C08}"/>
              </a:ext>
            </a:extLst>
          </p:cNvPr>
          <p:cNvSpPr txBox="1">
            <a:spLocks/>
          </p:cNvSpPr>
          <p:nvPr/>
        </p:nvSpPr>
        <p:spPr bwMode="auto">
          <a:xfrm>
            <a:off x="246856" y="3175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Heaps – </a:t>
            </a:r>
            <a:r>
              <a:rPr lang="en-US" altLang="en-US" dirty="0" err="1"/>
              <a:t>delete_min</a:t>
            </a:r>
            <a:r>
              <a:rPr lang="en-US" altLang="en-US" dirty="0"/>
              <a:t> : 13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74F20C31-1AC6-C84B-82AA-E16C92790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9870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EC6D0F4D-D1C5-4349-B436-EA909B332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34004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5DCF9359-37B0-AF4A-91C1-65946E63D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470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D7A2485B-99F3-0B4C-B021-A94D0EAA1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3734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796DAAA-69A7-424A-A61A-D2DEC70F64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3150" y="38449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1FA65151-602D-304F-8ABA-E15C50E51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875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5239B3A-E881-2B4B-99D9-FF69B45220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24225" y="27479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2552D0A6-3D83-A942-9F8D-DB72CB6B3C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27527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BFAABB97-10E5-8A42-9C9A-715B1EC8A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6002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6A2AB5D2-8581-6542-A019-8D68EA35D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799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E74338BA-B805-AA4F-AA54-9118387941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0425" y="38544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DF9D6BAF-2CD9-594B-A917-CCCE0824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4783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446BA984-3FDB-B146-94B3-8D1D715F60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38623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00D81627-CBFB-1048-B986-7FBC3B971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34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27302549-6460-7C45-8D66-182C27C47F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7300" y="2741613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9395AD6A-D1D4-D44A-90C3-A8D14AF58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362325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F03E1509-40E9-0845-B51B-2F2B6691B6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38" y="2720975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05C626E8-B3C9-B44D-B898-3BB19630F56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850" y="1989138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700A443E-D0D0-C542-A2CA-A13C5E3D44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2035175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DCD0F981-7C4E-4743-B184-578364D682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8438" y="38163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2A8C32DA-7F3D-4940-8F1D-2D99489A4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45450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31</a:t>
            </a:r>
          </a:p>
        </p:txBody>
      </p:sp>
      <p:graphicFrame>
        <p:nvGraphicFramePr>
          <p:cNvPr id="25" name="Group 150">
            <a:extLst>
              <a:ext uri="{FF2B5EF4-FFF2-40B4-BE49-F238E27FC236}">
                <a16:creationId xmlns:a16="http://schemas.microsoft.com/office/drawing/2014/main" id="{5153ADD9-A0D8-EC4C-A6D6-52E31A32A5C3}"/>
              </a:ext>
            </a:extLst>
          </p:cNvPr>
          <p:cNvGraphicFramePr>
            <a:graphicFrameLocks/>
          </p:cNvGraphicFramePr>
          <p:nvPr/>
        </p:nvGraphicFramePr>
        <p:xfrm>
          <a:off x="457200" y="5867400"/>
          <a:ext cx="7239000" cy="731838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6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40" marB="4574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857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271806-51BD-A649-A29A-346379AB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0F11FB-E077-6043-A678-E193CB7C5931}"/>
              </a:ext>
            </a:extLst>
          </p:cNvPr>
          <p:cNvSpPr txBox="1">
            <a:spLocks/>
          </p:cNvSpPr>
          <p:nvPr/>
        </p:nvSpPr>
        <p:spPr bwMode="auto">
          <a:xfrm>
            <a:off x="214313" y="9842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Heaps – </a:t>
            </a:r>
            <a:r>
              <a:rPr lang="en-US" altLang="en-US" dirty="0" err="1"/>
              <a:t>delete_min</a:t>
            </a:r>
            <a:r>
              <a:rPr lang="en-US" altLang="en-US" dirty="0"/>
              <a:t> : 13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D731FDA4-08ED-7944-BA46-E292F7799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9870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7A53B88D-139F-FC45-AE01-8B9ACD14F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34004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B7EC59C0-B568-0749-A0BC-8C7993B8B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470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D7B6CF1F-603B-3D41-B460-63994AE3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3734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D7759D9B-B509-1A4A-9E67-54A1CCA1A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3150" y="38449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AB8CEA9F-AB4C-1541-982B-8B34703B7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875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5C96A0F1-DCE1-D44A-9243-A18AFCB4DB5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24225" y="27479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4BD60794-77C2-9549-BAC6-359EDD30AA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27527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10AF4339-CA3A-2E48-B314-85C203E9B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6002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552E1B92-88EF-B144-936C-A26A31584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799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CBFA53DF-6201-5343-BAD3-E2CAFABF25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0425" y="38544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8E025418-FEA3-6445-9C19-CAA1EC584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4783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B66F6988-87CB-A14C-AB63-E4D8F33425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38623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AB8F2B2C-FFD0-694F-8D76-D7D41C2AF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34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19901D14-FAA6-5441-9F72-6D6BB5B3BE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7300" y="2741613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DE2533E6-0EE9-6D47-9AC4-EEFA43B19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362325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A6DD2E74-06E4-1049-8B9F-AC6E198290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38" y="2720975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BD2DB6D9-6C07-7B46-9CA4-2E73B9E72E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850" y="1989138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F26572B0-17A5-C847-A623-F59E68A325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2035175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1BB689D7-789E-5447-A13E-96076F9F7C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8438" y="38163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BF485B34-4307-D54B-84F2-C9777955D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45450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31</a:t>
            </a:r>
          </a:p>
        </p:txBody>
      </p:sp>
      <p:graphicFrame>
        <p:nvGraphicFramePr>
          <p:cNvPr id="25" name="Group 89">
            <a:extLst>
              <a:ext uri="{FF2B5EF4-FFF2-40B4-BE49-F238E27FC236}">
                <a16:creationId xmlns:a16="http://schemas.microsoft.com/office/drawing/2014/main" id="{7F4CC0E3-C6C1-BE4C-ACCF-52F82EF71DD4}"/>
              </a:ext>
            </a:extLst>
          </p:cNvPr>
          <p:cNvGraphicFramePr>
            <a:graphicFrameLocks/>
          </p:cNvGraphicFramePr>
          <p:nvPr/>
        </p:nvGraphicFramePr>
        <p:xfrm>
          <a:off x="457200" y="5867400"/>
          <a:ext cx="7239000" cy="731838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6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40" marB="4574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90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41214D-D4DB-AD42-BF93-817EFF2D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C9746-7065-744E-A3FB-30DA467858DC}"/>
              </a:ext>
            </a:extLst>
          </p:cNvPr>
          <p:cNvSpPr txBox="1">
            <a:spLocks/>
          </p:cNvSpPr>
          <p:nvPr/>
        </p:nvSpPr>
        <p:spPr bwMode="auto">
          <a:xfrm>
            <a:off x="457200" y="9842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Heaps – </a:t>
            </a:r>
            <a:r>
              <a:rPr lang="en-US" altLang="en-US" dirty="0" err="1"/>
              <a:t>delete_min</a:t>
            </a:r>
            <a:r>
              <a:rPr lang="en-US" altLang="en-US" dirty="0"/>
              <a:t> : 13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008225C0-C28B-5D41-B17B-0601EB725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9870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A9FCD520-A1E9-474A-9193-6D3FFE5CC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34004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8EDEC729-1728-2846-8DD6-1071E2C9A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470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F494A482-EC64-C740-9736-BA826EA2C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3734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5A1F46-690F-0A4D-B625-BFC27E60E2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3150" y="38449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18E9BA59-0B26-4041-8208-41D0C2331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875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2C072245-BF84-FC45-B332-703B433F622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24225" y="27479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6261E337-7802-BF43-B820-4F72477EBE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27527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0F0A8AB7-5F4C-4C43-9992-CAA4432FD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6002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BF07E7C1-23AA-494C-B4F2-C9EB2C8E0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799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3E758C42-67A8-CE48-A21E-53C8E8686C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0425" y="38544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7E8A5C21-A4EB-004A-9194-9E8B85B26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4783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D34D034A-5CBB-F842-A429-C305CB22D8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38623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A44E3966-5456-094B-AF6B-75C8E24A9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34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13630841-2F03-4240-84F0-45CC6F312F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7300" y="2741613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1E206E08-FC51-774D-A430-08ADEBE12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362325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1019172F-1822-0748-A587-90D95337E7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38" y="2720975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F3BC8CAA-C617-F144-B862-45633D6447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850" y="1989138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D5D4095B-97C9-9443-B0A5-0FE9B4CB95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2035175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E00013AF-A84F-9247-8E0E-68FBABA040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8438" y="38163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1EE6B284-B92C-3C45-80CA-D544890D3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45450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31</a:t>
            </a:r>
          </a:p>
        </p:txBody>
      </p:sp>
      <p:graphicFrame>
        <p:nvGraphicFramePr>
          <p:cNvPr id="25" name="Group 88">
            <a:extLst>
              <a:ext uri="{FF2B5EF4-FFF2-40B4-BE49-F238E27FC236}">
                <a16:creationId xmlns:a16="http://schemas.microsoft.com/office/drawing/2014/main" id="{DC34BA38-69EE-504B-AAC6-3371936643BC}"/>
              </a:ext>
            </a:extLst>
          </p:cNvPr>
          <p:cNvGraphicFramePr>
            <a:graphicFrameLocks/>
          </p:cNvGraphicFramePr>
          <p:nvPr/>
        </p:nvGraphicFramePr>
        <p:xfrm>
          <a:off x="457200" y="5867400"/>
          <a:ext cx="7239000" cy="731838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6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40" marB="4574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07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DC53B2-BD09-704E-83D6-2F5737D0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375C21-EF95-544E-B2D1-2CE1E4B2A01B}"/>
              </a:ext>
            </a:extLst>
          </p:cNvPr>
          <p:cNvSpPr txBox="1">
            <a:spLocks/>
          </p:cNvSpPr>
          <p:nvPr/>
        </p:nvSpPr>
        <p:spPr bwMode="auto">
          <a:xfrm>
            <a:off x="246856" y="141288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Heaps – </a:t>
            </a:r>
            <a:r>
              <a:rPr lang="en-US" altLang="en-US" dirty="0" err="1"/>
              <a:t>delete_min</a:t>
            </a:r>
            <a:r>
              <a:rPr lang="en-US" altLang="en-US" dirty="0"/>
              <a:t> : 13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BC53618B-6BEB-4146-9FC9-3063BD7B6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229870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78E649CA-FABA-EA4F-81E3-5B0A73ECC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34004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79F14CF2-D5AA-A944-B084-C8DC3FC1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470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D4A054F4-A4F5-3745-8000-ED2C40E1D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3734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203E5A04-5FAA-8542-9BC0-9E7ACF6BDA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3150" y="38449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7195426A-B8D5-6542-A6C8-BC4A26C9F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875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72E8D5BB-0BC4-4247-8593-53A21DD55C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24225" y="27479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1D38903A-5C11-E74B-B813-EABA54A54A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27527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DC40A774-2B84-634A-B150-CD678E227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6002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DDA59B5A-C756-2B47-A72F-3FDFCE2F2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799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65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DBCA0B1C-B016-6842-9361-5163745067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0425" y="38544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AF74505F-FA3F-8244-AF67-D81AC523F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4783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B76FE5C1-1877-BF42-96F6-5CC102F0A1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38623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F725FFC0-D85F-D14C-A7F7-02E09FF56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34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A1212A33-2B5E-394D-AEB1-64CF0C96AD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7300" y="2741613"/>
            <a:ext cx="277813" cy="6318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FABD9144-0BDB-9B44-9DF2-E5910A970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362325"/>
            <a:ext cx="476250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05636EA8-891B-C340-9C1A-8DB9C86D39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38" y="2720975"/>
            <a:ext cx="295275" cy="652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1C6B9138-0C8F-D245-9AC3-69BFC017605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850" y="1989138"/>
            <a:ext cx="790575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EE6F54FB-E6E9-664D-BE9C-74E151C779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2035175"/>
            <a:ext cx="652463" cy="344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3" name="Group 88">
            <a:extLst>
              <a:ext uri="{FF2B5EF4-FFF2-40B4-BE49-F238E27FC236}">
                <a16:creationId xmlns:a16="http://schemas.microsoft.com/office/drawing/2014/main" id="{49C9F0F0-C7EF-924E-960B-11ED3EE7B715}"/>
              </a:ext>
            </a:extLst>
          </p:cNvPr>
          <p:cNvGraphicFramePr>
            <a:graphicFrameLocks/>
          </p:cNvGraphicFramePr>
          <p:nvPr/>
        </p:nvGraphicFramePr>
        <p:xfrm>
          <a:off x="457200" y="5867400"/>
          <a:ext cx="7239000" cy="731838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6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68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40" marB="4574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T="45740" marB="4574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73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5C9031-949B-5C4D-A6BD-42FA5A8A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2EDFF5-5C3F-1C4F-8368-F6FCFE84E07F}"/>
              </a:ext>
            </a:extLst>
          </p:cNvPr>
          <p:cNvSpPr txBox="1">
            <a:spLocks/>
          </p:cNvSpPr>
          <p:nvPr/>
        </p:nvSpPr>
        <p:spPr bwMode="auto">
          <a:xfrm>
            <a:off x="242047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Heap Operations: Build Heap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DCEF4A-E3B7-FF47-9A23-0FF8C6A5903B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The general algorithm is to place the </a:t>
            </a:r>
            <a:r>
              <a:rPr lang="en-US" altLang="en-US" i="1"/>
              <a:t>n</a:t>
            </a:r>
            <a:r>
              <a:rPr lang="en-US" altLang="en-US"/>
              <a:t> keys into the tree in any order, maintaining the structure property.</a:t>
            </a:r>
          </a:p>
          <a:p>
            <a:r>
              <a:rPr lang="en-US" altLang="en-US"/>
              <a:t>Then, if </a:t>
            </a:r>
            <a:r>
              <a:rPr lang="en-US" altLang="en-US" i="1"/>
              <a:t>percolate_down</a:t>
            </a:r>
            <a:r>
              <a:rPr lang="en-US" altLang="en-US"/>
              <a:t>(</a:t>
            </a:r>
            <a:r>
              <a:rPr lang="en-US" altLang="en-US" i="1"/>
              <a:t>i</a:t>
            </a:r>
            <a:r>
              <a:rPr lang="en-US" altLang="en-US"/>
              <a:t>) percolates down from node </a:t>
            </a:r>
            <a:r>
              <a:rPr lang="en-US" altLang="en-US" i="1"/>
              <a:t>i</a:t>
            </a:r>
            <a:r>
              <a:rPr lang="en-US" altLang="en-US"/>
              <a:t>, perform the following algorithm to create a heap-ordered tree </a:t>
            </a:r>
          </a:p>
          <a:p>
            <a:pPr lvl="3">
              <a:buFont typeface="Wingdings 2" pitchFamily="2" charset="2"/>
              <a:buNone/>
            </a:pPr>
            <a:r>
              <a:rPr lang="en-US" altLang="en-US" sz="3200">
                <a:solidFill>
                  <a:srgbClr val="0000CC"/>
                </a:solidFill>
              </a:rPr>
              <a:t>for(</a:t>
            </a:r>
            <a:r>
              <a:rPr lang="en-US" altLang="en-US" sz="3200" i="1">
                <a:solidFill>
                  <a:srgbClr val="0000CC"/>
                </a:solidFill>
              </a:rPr>
              <a:t>i </a:t>
            </a:r>
            <a:r>
              <a:rPr lang="en-US" altLang="en-US" sz="3200">
                <a:solidFill>
                  <a:srgbClr val="0000CC"/>
                </a:solidFill>
              </a:rPr>
              <a:t>= </a:t>
            </a:r>
            <a:r>
              <a:rPr lang="en-US" altLang="en-US" sz="3200" i="1">
                <a:solidFill>
                  <a:srgbClr val="0000CC"/>
                </a:solidFill>
              </a:rPr>
              <a:t>n </a:t>
            </a:r>
            <a:r>
              <a:rPr lang="en-US" altLang="en-US" sz="3200">
                <a:solidFill>
                  <a:srgbClr val="0000CC"/>
                </a:solidFill>
              </a:rPr>
              <a:t>/ 2; </a:t>
            </a:r>
            <a:r>
              <a:rPr lang="en-US" altLang="en-US" sz="3200" i="1">
                <a:solidFill>
                  <a:srgbClr val="0000CC"/>
                </a:solidFill>
              </a:rPr>
              <a:t>i </a:t>
            </a:r>
            <a:r>
              <a:rPr lang="en-US" altLang="en-US" sz="3200" b="1">
                <a:solidFill>
                  <a:srgbClr val="0000CC"/>
                </a:solidFill>
              </a:rPr>
              <a:t>&gt; </a:t>
            </a:r>
            <a:r>
              <a:rPr lang="en-US" altLang="en-US" sz="3200">
                <a:solidFill>
                  <a:srgbClr val="0000CC"/>
                </a:solidFill>
              </a:rPr>
              <a:t>0; </a:t>
            </a:r>
            <a:r>
              <a:rPr lang="en-US" altLang="en-US" sz="3200" i="1">
                <a:solidFill>
                  <a:srgbClr val="0000CC"/>
                </a:solidFill>
              </a:rPr>
              <a:t>i</a:t>
            </a:r>
            <a:r>
              <a:rPr lang="en-US" altLang="en-US" sz="3200">
                <a:solidFill>
                  <a:srgbClr val="0000CC"/>
                </a:solidFill>
              </a:rPr>
              <a:t>-- ) </a:t>
            </a:r>
          </a:p>
          <a:p>
            <a:pPr lvl="3">
              <a:buFont typeface="Wingdings 2" pitchFamily="2" charset="2"/>
              <a:buNone/>
            </a:pPr>
            <a:r>
              <a:rPr lang="en-US" altLang="en-US" sz="3200">
                <a:solidFill>
                  <a:srgbClr val="0000CC"/>
                </a:solidFill>
              </a:rPr>
              <a:t>	percolate_down( </a:t>
            </a:r>
            <a:r>
              <a:rPr lang="en-US" altLang="en-US" sz="3200" i="1">
                <a:solidFill>
                  <a:srgbClr val="0000CC"/>
                </a:solidFill>
              </a:rPr>
              <a:t>i</a:t>
            </a:r>
            <a:r>
              <a:rPr lang="en-US" altLang="en-US" sz="3200">
                <a:solidFill>
                  <a:srgbClr val="0000CC"/>
                </a:solidFill>
              </a:rPr>
              <a:t> );</a:t>
            </a:r>
            <a:endParaRPr lang="en-US" altLang="en-US" sz="3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00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1DBA3E-D835-6949-A0E4-18A018B4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ABDBE1-C56B-A948-A52E-E683724EBE83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Build Heap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A3E3F3AE-3B88-FF46-A49B-736FB089E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CA4D11B0-E289-5549-A822-B7E7A397C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817A299D-6304-BF46-895F-4E07B664F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23EB8C45-FCF5-9747-9C43-2DCBA09F5C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1FC13312-DB39-BF4D-A712-7F6D29A51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B9C83FA0-84E2-EA45-89B1-1240ADAD50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B36EBC41-A46D-8B40-B480-065A24B39B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6A1868B3-EB58-D44E-8416-EE2B30C9E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2A65977B-44BB-9C40-919A-7B53532BD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F8B5253-4845-1149-B97C-E80FF31231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9BB0FE62-7BA6-994A-8B70-2F55C15FE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81A038AA-6F46-054A-8D42-022B0F7A6B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C7ADEC7C-F004-8A4A-9050-4409DE12BF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ACC72CDB-3FDC-1D46-8937-04E6923996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A9CE7EC4-B719-BC4E-90E2-6BB414422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0A5F71F4-C2ED-3949-AC92-B924869386A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097DBDE6-4F70-3F46-B259-19CF3E3CE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9F7655EE-05F3-9446-9CF4-50AF6B39C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C360EF12-53B2-D847-A4B8-BC0D33C01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4DFFA30B-145D-1C44-BB72-5F94E3B3F9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6E5CC742-0CA8-2642-86DA-9936AA910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343C8057-30EA-3F44-BBB4-20EAE727C1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FD4D4E8E-F421-4645-8116-F8D83A2C48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5619E890-B5A9-7240-9A18-74DC35585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4FFB95F0-7DEF-CE4B-B027-92CA491B01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E8137E3C-4E5A-BC48-8511-22DACC546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DEB4C3F9-04C1-1648-80FA-CC20C448CA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018B8E68-BB0C-E544-AF09-345BF8D69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C304428D-755B-C047-B351-44B2F36CB24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9">
            <a:extLst>
              <a:ext uri="{FF2B5EF4-FFF2-40B4-BE49-F238E27FC236}">
                <a16:creationId xmlns:a16="http://schemas.microsoft.com/office/drawing/2014/main" id="{BEE69866-C36D-6748-8D2A-B58FC13C1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5678488"/>
            <a:ext cx="339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Initial (unordered) Heap</a:t>
            </a:r>
          </a:p>
        </p:txBody>
      </p:sp>
    </p:spTree>
    <p:extLst>
      <p:ext uri="{BB962C8B-B14F-4D97-AF65-F5344CB8AC3E}">
        <p14:creationId xmlns:p14="http://schemas.microsoft.com/office/powerpoint/2010/main" val="239323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E69D6-3332-D44F-B500-F3F9B72D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1A6AF5-CABE-5443-8E90-E6FA207B26B5}"/>
              </a:ext>
            </a:extLst>
          </p:cNvPr>
          <p:cNvSpPr txBox="1">
            <a:spLocks/>
          </p:cNvSpPr>
          <p:nvPr/>
        </p:nvSpPr>
        <p:spPr bwMode="auto">
          <a:xfrm>
            <a:off x="334169" y="54769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Build Heap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DA848DD4-FED7-FA40-BCCD-446063B36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CF601EDC-F230-1C46-B336-21284E8F0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73D9CD1A-A480-0048-BC05-CA49BA725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B0981815-DC84-C04C-A3BA-24424AF857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7F2A2BB7-BA6F-5644-B08F-A3E6C3C2D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9B8EFC42-CD36-E54C-A93B-10ACF0252B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04D9C8B3-FAC8-E54B-A415-2C7560C5F9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6F4F8B19-0E01-4446-B2AE-646C97D47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D09D7545-D149-8A42-A2D0-7BF977C7B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795E2745-E98A-F64E-B842-36696D13CC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888A4A15-8042-864C-B0E6-F59593BBB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F16FDCBB-BFC0-934B-A3F5-CE81FE707A3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648D1169-3A34-5F45-9D0B-3F27B212A8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0C3C143A-0970-A246-A4FF-5CE1884AA4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945A5FC6-447D-BE4A-B4AB-08791E966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F21B72C9-4FC7-6143-A11F-3437FA42F9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F3BDAD2A-9FB6-5D4A-A068-FF1AF2FB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C71A2AB5-6543-A740-A799-B2231A23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C0FD7DBD-A7B2-8046-88E0-8548CDDAD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9E874D67-2A33-B046-88F9-C23EC6354F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235C2B83-6A3F-DA4E-9909-D4294C7E8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4F8A13B0-160C-3D4D-9E8D-CD2BD771E6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BC61D59F-AC57-B14F-A77A-E742248F6D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D7EF1D37-C6F9-2E48-9F5E-45537177D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E74CB5EE-3381-BE41-A205-0A0C60B034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2C1C4D12-8F1A-1147-8C45-0F126D8E8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73980697-2305-8C49-B1CE-E8CCDC17CC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85CFF034-448B-4941-92E0-D39F0083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38DC3869-ECD9-574D-B84D-389177FA4D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36BA74DF-79EB-184E-9DCB-6039EDB95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5678488"/>
            <a:ext cx="422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Heap after percolate_down(7)</a:t>
            </a:r>
          </a:p>
        </p:txBody>
      </p:sp>
    </p:spTree>
    <p:extLst>
      <p:ext uri="{BB962C8B-B14F-4D97-AF65-F5344CB8AC3E}">
        <p14:creationId xmlns:p14="http://schemas.microsoft.com/office/powerpoint/2010/main" val="412875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FD716E-33FC-AD41-B109-1B339E0B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E9C5B-74D3-BD4D-8126-4B5A49449598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Build Heap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651D4D0C-FFB3-DD4F-93C5-625AC69A5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4A5C84A8-EE8B-C24A-95B6-9110B5C08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122179E9-0630-D147-8A55-40A2B65AE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74C05FC6-87A4-B241-8B86-9FAE78E9E0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B9AEEC0C-4D89-174C-821F-98BC9F3B4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02084A1E-41F3-FB4C-A688-B21A21473A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3D385DF6-322A-F542-AD0C-98137FE1B7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57102FB9-4B2A-E54B-8E9E-355779BD7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7E30A5D7-2802-8D4A-85ED-2E58FC9AC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2A9D498F-A23A-804E-B9C5-608F3C955E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7900A5E0-F3B0-674F-B9DA-032D6A529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5A5062C0-9D09-4041-89C8-4FD3E86223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6825D7E4-93A1-2E40-9ED7-6E0A821583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7FEB1539-03CD-C54D-AD19-022F6FD17A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374A7BF2-5E7C-F94B-B799-94A2B639D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8390B821-6DDE-1640-B7A1-1641E3DA1A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C094DF7A-4080-E048-B555-357E9B34F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C2D9FDFD-6D20-0040-B36D-D900FA2FA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19D14CAA-58ED-2349-B80A-3988B5699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3FD98348-8CB2-774F-BAAB-26B5A14037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67A07430-7149-364A-B812-65730C9C1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DFCDDB9A-7505-554E-B6C6-9A6E764DCBB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3013EC63-0BBC-9441-B401-B228E0BAB2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E5AA8C34-674B-754C-A62F-A4DBA32A3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86C9AD33-AD5D-D540-AD12-E482E3BB2B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5C75A2C1-1BBE-E34E-BF8B-42FA8355B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52CD9559-31BE-3346-BAED-C9B7D0A9F4A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8A9BAAD0-EC1B-0541-9DC3-91B0C9B4C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21404227-1C27-F94C-B487-F61930BD3F9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24A597A8-354A-4442-B834-6FB8462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5678488"/>
            <a:ext cx="422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Heap after percolate_down(6)</a:t>
            </a:r>
          </a:p>
        </p:txBody>
      </p:sp>
      <p:sp>
        <p:nvSpPr>
          <p:cNvPr id="34" name="Oval 6">
            <a:extLst>
              <a:ext uri="{FF2B5EF4-FFF2-40B4-BE49-F238E27FC236}">
                <a16:creationId xmlns:a16="http://schemas.microsoft.com/office/drawing/2014/main" id="{ED4382AA-ED21-7645-8D53-416773467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5" name="Oval 6">
            <a:extLst>
              <a:ext uri="{FF2B5EF4-FFF2-40B4-BE49-F238E27FC236}">
                <a16:creationId xmlns:a16="http://schemas.microsoft.com/office/drawing/2014/main" id="{218006AC-FE87-E948-9AB4-9EDEB88D4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4874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 -3.7037E-7 L -0.05121 0.1588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9" y="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B0973E-DB10-B046-A3A4-132DBB0A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D1F69F-E973-A44F-8637-32ED576ED114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Build Heap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4F4BDE55-BCD1-B947-BA60-7C63F84E2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A4876787-E86C-4D44-9748-565DD962A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43F4FA49-6EB8-0343-85F3-525325E05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6696CDB1-062B-9B43-A8D4-23643558F0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585E5F34-BCA3-1B40-A142-929FBA9CF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F85A1E44-AA34-2348-AF5C-982FBBA622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1C1F6E90-421C-1740-82DF-7282BB7157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FCA4DFEC-B3C7-BC49-9AB4-AB96D88E0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D69E64CE-F88C-FC41-B281-63795A2F3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58A64835-85B4-0A42-93B7-E11FF4E538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EC5974C1-8E59-1549-A144-621D304F5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DA1FD50B-F31F-834E-A1E6-EBDFA56152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A2192F7B-FCF3-DE4A-8063-EE0A536A79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507B7013-F817-C042-BCE6-B02D819AD3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9C2C0EE2-8D92-5D4E-9809-07212C60A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7783DB6B-58ED-434C-AFFA-CCC395034E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47CDE203-AC73-3548-A81E-826675667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8327EE0B-E1DC-6D4B-AEBC-EDAB0E1B5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B660758A-7FF8-9147-AEA9-A229F2286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5CAFC53E-732A-5045-9E88-FB01A976C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547FDEC0-B0BD-F84B-94FC-27E7402F4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580213C8-C915-3744-B03F-BDE89D7492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16461523-EFAE-FD43-9D4E-9D4AB93B86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E92D3268-D1F7-8544-A374-1FA6A6FE2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408EA2CC-8CC4-0E40-8108-4AE7F2D02A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B8D4CF46-5BEA-5840-8A49-30E56E748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59EF369A-4667-2A4F-85EA-48C55054D0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5D652984-93F7-8748-9579-6D98577F3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744381A1-E6EE-E14B-B15C-BD9055ECF9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35399645-F889-1545-A912-1F059DC70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5678488"/>
            <a:ext cx="422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Heap after percolate_down(6)</a:t>
            </a:r>
          </a:p>
        </p:txBody>
      </p:sp>
    </p:spTree>
    <p:extLst>
      <p:ext uri="{BB962C8B-B14F-4D97-AF65-F5344CB8AC3E}">
        <p14:creationId xmlns:p14="http://schemas.microsoft.com/office/powerpoint/2010/main" val="12066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31687F-2C5B-DF4F-A5CB-8FF6523C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C0AFB2-1011-0043-95F8-882A7F0E4E30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Build Heap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CA6B69E6-05BE-F34E-998C-9CF34A979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28EAD610-0588-FB43-9825-8A0CCAC24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22F4672D-B2BB-F548-9175-45E63005A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26DB257B-1780-D04E-9F2B-E2502B70B9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DBF0499B-E1DD-7F47-8665-05D1A0B7C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3915F71E-53C0-D341-9864-C0A46858A9A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3BBCBB3D-AE6A-E149-AA84-5CD3602766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942A9FDE-57A2-894B-BBCF-BF601DA6C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5C4F6D34-56AA-AA4C-A997-F768A755A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793448C5-7354-3347-9E2D-331D55E4FC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5ED14DA7-49D9-2741-A94F-68788D613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24EE15DB-79E1-5840-8984-4D9408727E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AF066B05-5334-AB43-B953-913CE8990B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5F600EE5-D834-6C4E-9A5B-7F73A52876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349866C8-9E5A-A245-BA60-1E0767526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3D6767B5-F84B-284D-9CA5-FA3D4D3878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1018F347-BE07-5B4C-92A6-0E8B6006E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510D5137-FEB0-D64E-85C7-65E87F19E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7453E93E-5B9A-6D48-8061-05C6ECCDC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849586B8-5926-9F4E-8440-5E06420124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34E41970-12E7-CE41-BED2-D1FAFAC8A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2E1842FE-A55F-7E45-9D37-3B4A5CACF7A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585DDDD2-97F2-FC45-93E8-F3AF0F30CC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3475D651-1EA4-444B-8F55-BA432A2B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2CD35A5B-2D91-2D44-8872-77CC875F16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2AF6A145-7840-0B4F-A6CD-AFBEB6752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6DB5AFC9-1A2B-4E40-8F84-55152C8E16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10508685-36C8-1241-8470-858D6AA68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57CBE69B-BA7F-B444-A894-E16E9D9B63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D8342748-23BD-FF41-9522-315E3BCFC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5678488"/>
            <a:ext cx="422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Heap after percolate_down(5)</a:t>
            </a:r>
          </a:p>
        </p:txBody>
      </p:sp>
    </p:spTree>
    <p:extLst>
      <p:ext uri="{BB962C8B-B14F-4D97-AF65-F5344CB8AC3E}">
        <p14:creationId xmlns:p14="http://schemas.microsoft.com/office/powerpoint/2010/main" val="279879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7AE59C-F68A-8A49-AE0A-6DB2CC98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366AE5-EB2B-1143-A6AA-6337A2B1827E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Build Heap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D0B166DA-46EB-F744-A577-933C10AFC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31BEF104-A2BF-4249-BC3A-FF9A157DB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1CD55A33-F38A-1346-AF25-36CB735A2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6C4ABBD8-0E29-D54D-8DEF-AAC4600448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DA4BF1D7-0E05-C44D-9652-B202A1BF8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0529E0CA-B53E-DA41-98E1-8E2746619C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705C63FB-7809-3345-B852-6EB962EFEE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3ED24B61-44E4-A744-8726-5F994E9A1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CB82B23B-8AC4-684D-8D08-6C7A1D810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9C92A531-6FBA-9749-A131-4FC950D466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2EFA203D-ADAA-684F-88E8-728406B72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D0F12B59-26AC-8745-82F7-501F5B4E24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12F24B11-667F-1C4C-B4FD-29E3C0218A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EFD2FB6B-7B7E-3F40-A185-B6A5504335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EEB2B2FC-DE02-7C47-BDC8-BE10EEC5C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B4DE8DA4-335F-0D45-B89D-591FAF3987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01DA7D66-03EA-A346-BAF2-53AD5C99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BEE26EBF-77C2-414A-8245-2806ECFDC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6AE0C973-E22F-8142-BE73-3F9328177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190B41C7-7174-B842-AFF5-1DA226C18F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02340809-66F8-6945-9E74-50626223E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015C8C17-45DB-3F48-8F07-26842CF2D6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69BF1F7A-3B5E-D74B-8498-BFA5775DF5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B311EA46-D2AC-CB4A-AA0D-B13875FF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EB92A85A-1EBE-014A-B39C-0B2D12574A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A1AAFEC4-B6EE-0441-B0B2-2BC3F7E21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24E0CE86-61F6-ED47-B630-A32A7AA6C4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BD560632-BC90-5048-B086-F7938DBB1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E59487BE-469B-7E49-B445-A9665DF03E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953983A4-9778-DB4B-BFF8-DBD6671FA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5678488"/>
            <a:ext cx="422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Heap after percolate_down(4)</a:t>
            </a:r>
          </a:p>
        </p:txBody>
      </p:sp>
    </p:spTree>
    <p:extLst>
      <p:ext uri="{BB962C8B-B14F-4D97-AF65-F5344CB8AC3E}">
        <p14:creationId xmlns:p14="http://schemas.microsoft.com/office/powerpoint/2010/main" val="329079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B72B49-70F6-A441-ADBC-164EF0D8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42C4D-2C64-FF48-8080-88694C7CED78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Build Heap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02CECBF8-8F28-094B-A367-FF52C1592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9FDBC531-968D-734C-AE52-897D8E321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48934A44-35E9-5148-BEEA-C88ED928A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0CA266DD-2969-EE4B-ACF4-C76CBB94F3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528E0FFF-1FA7-CE41-8A4F-AC7FEAC4C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A658131A-31AA-3C43-A720-9540FAEEB5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26BC47E8-317F-E040-887E-E7452C96FD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6A27F818-57F0-5E41-8F70-4874678CD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7D4C1319-5029-444C-A612-0AC82570B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81697EC4-D990-8E4C-88BB-8864359E1D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84F3C3FC-623E-9C43-B2F3-FDE4EA860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938BEF8B-9A06-1248-8FEA-9E0C920F130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F0642C99-1157-064B-88E4-7045DD7744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2F5C7C30-E4A1-574D-8415-53646FC9DA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007BB549-37B8-6B4B-AA30-A4FC32574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6581F80E-6F4F-9B41-A70B-7B30FDD178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DD70E2D9-A2D6-A24F-A364-04C598E6F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AA858B08-3A71-9941-A912-3C9666DA5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DD0B944E-5375-004D-9ADD-FC43A94DF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1EFC2427-06FF-5E40-A121-40754DA967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2A79AFD3-CF10-7A4E-9E6C-31DEF4505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02687C90-3769-8142-939A-893A3B7C56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DE9359B5-DDA1-9344-A0EF-25607C1B2B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79A20C36-3222-2A4B-87E1-BB5898A2D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FEB78A28-8860-E048-9B94-77B1EBD7FD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09DEDE04-C4E3-A04E-B7E1-3194862FD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3ECC6748-38D0-8243-88F7-5054FC61B3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AA7227D5-6723-0344-BEA2-6EEF8F8ED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0BFEAB80-8211-574E-87C9-0ECE8579C6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B258B064-F27B-A943-B6A8-5C65850CD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5678488"/>
            <a:ext cx="422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Heap after percolate_down(3)</a:t>
            </a:r>
          </a:p>
        </p:txBody>
      </p:sp>
    </p:spTree>
    <p:extLst>
      <p:ext uri="{BB962C8B-B14F-4D97-AF65-F5344CB8AC3E}">
        <p14:creationId xmlns:p14="http://schemas.microsoft.com/office/powerpoint/2010/main" val="392283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03D41-5C65-794E-82B3-7D923DB1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AB9A5A-CB07-2F47-A973-AEC5E4DBAE67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Build Heap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0C858866-1752-1D45-8870-4980C1C34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177192E0-E38A-5646-B178-AD9D5B9D7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450C9679-CD79-4B4C-8A27-D3D10B868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6BBFE59B-1906-5C40-9245-6C50572716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5CAB08F5-815A-5845-871E-B0CDAEF14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CA85BD39-BEEB-9446-A21C-67B283F4F5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F79C23B2-9F6A-7A49-9038-E01648C95F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F115663F-AAFA-DB41-AF5D-3B6D662B1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721E9719-D0DA-4B45-8700-569D4C777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09045EB9-E166-CA41-A204-488543395B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DDE1BA96-B0A2-7B4C-A531-18C3A395D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BE876B43-2954-1E46-B1F4-16A497480F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9CA6F258-4478-C447-A241-F755C78013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87833A6A-7DC3-5540-B5DE-58C2ED6B7F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2912EDF0-5CFD-104E-BBA9-DDFF46DF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B6181C24-6321-8E49-8F0A-C1988E26E2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C7E054B6-53AC-9042-BA81-5AEB822C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8745D51E-26C0-1E42-80AC-5B1A7E3B5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152F15A9-0B71-FB48-90CB-0B6F4AB5C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8E734D8C-E41A-E346-9332-0FE06B50A7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ABA5CD8E-8E66-DF4E-B9FD-ABF17A2F1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036ED911-A749-2448-8EEE-F69A4928CB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F1470B30-3DB0-C445-805D-1575715262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D649ACD3-EEC0-1244-916A-4EF9025E3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300F90D1-4736-0646-80D3-C6D7EC948C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7520ADEE-78EF-9542-A591-B25CF176A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1B697E92-F516-CE4F-BF67-1B29DF861F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79490725-588C-8F4E-95C1-5C13EA8E3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00F7E131-A02C-C44C-A086-51F8E6A5D9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1422A277-FB4A-DD4C-B549-3A64D6CBA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5678488"/>
            <a:ext cx="422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Heap after percolate_down(2)</a:t>
            </a:r>
          </a:p>
        </p:txBody>
      </p:sp>
    </p:spTree>
    <p:extLst>
      <p:ext uri="{BB962C8B-B14F-4D97-AF65-F5344CB8AC3E}">
        <p14:creationId xmlns:p14="http://schemas.microsoft.com/office/powerpoint/2010/main" val="249762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869AE9-D1A1-814D-8375-4541244B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504279-209B-A141-976C-3AC8EC5F1A38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Build Heap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0D8256D1-8BEB-F747-B6B8-B4ADEE032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17F8230B-1FDC-454C-9AF5-2D7A2AEDA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B397B02E-889D-BA46-8EC4-075A11A8B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5F3D54E3-C627-EE48-AD5E-271F7268EC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B2B3FD00-5FBF-1A4D-8346-CB795AD5D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9DACE7F8-3C02-5F4A-953A-69528370CE1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4AF5A5CB-10EE-D64D-BA82-A2D7AA6738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88C1EE54-DD9B-7346-9B3B-1B71311FE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5FDBA37A-3F08-CD43-A2EF-0EA7AD297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00082C85-7C61-FA42-8486-DFDFA28EB6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E700B406-5799-2C4D-94EC-61C8E708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86B92296-BEA4-E644-AE78-1005885ED9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48B42D05-2B51-5C45-A3FC-DF06766CAC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1F49E1E7-B042-904D-AC11-2FDF305727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108B2525-1F62-C745-8997-5C0947EED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EDAAA752-20F8-C44E-9AF3-60DF9959AD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C1191661-5343-D84D-B3AF-1A82C4857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4800D2CB-9795-A443-9D19-B0AE2C46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68A5C2E6-1CA8-954D-BE48-C46C7CE8D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3941E82E-A68B-E04D-9BE5-06FAC5A603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4C1851CD-2189-8E4E-8D27-C0D2DA3CF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D7F9D724-D674-FD44-9762-85E4A3CB2D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AB4849F1-CF7C-C54E-987B-12E2842FE5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C936E805-8853-7A4B-B3D6-8D3FE936D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E9D4719F-FFC3-194D-85A2-F58CC00E49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D7D80F74-BF4D-ED49-8BDC-4CD1AD3D2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8C8324F3-29C2-3C4E-B39B-6E99DB6232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02DAA8BD-711C-AA40-9FC2-FCE5177A5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1B911C6B-FB9B-D346-B41A-F57EEF3BE8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06D2C4FB-9E82-7A49-91C1-677517339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5678488"/>
            <a:ext cx="422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Heap after percolate_down(1)</a:t>
            </a:r>
          </a:p>
        </p:txBody>
      </p:sp>
    </p:spTree>
    <p:extLst>
      <p:ext uri="{BB962C8B-B14F-4D97-AF65-F5344CB8AC3E}">
        <p14:creationId xmlns:p14="http://schemas.microsoft.com/office/powerpoint/2010/main" val="99458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E78589-7835-D240-B036-2A399C7A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EB3F1D-355D-384E-B412-9AD7C5B2DB28}"/>
              </a:ext>
            </a:extLst>
          </p:cNvPr>
          <p:cNvSpPr txBox="1">
            <a:spLocks/>
          </p:cNvSpPr>
          <p:nvPr/>
        </p:nvSpPr>
        <p:spPr bwMode="auto">
          <a:xfrm>
            <a:off x="457200" y="201612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/>
              <a:t>Heap Operations: Decrease Key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2860CB-AD72-A14A-B940-4D99C898DBE9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The </a:t>
            </a:r>
            <a:r>
              <a:rPr lang="en-US" altLang="en-US" b="1" i="1">
                <a:solidFill>
                  <a:srgbClr val="0000CC"/>
                </a:solidFill>
              </a:rPr>
              <a:t>decrease_key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x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del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H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r>
              <a:rPr lang="en-US" altLang="en-US"/>
              <a:t> operation lowers the value of the key at position </a:t>
            </a:r>
            <a:r>
              <a:rPr lang="en-US" altLang="en-US" b="1" i="1">
                <a:solidFill>
                  <a:srgbClr val="0000CC"/>
                </a:solidFill>
              </a:rPr>
              <a:t>x</a:t>
            </a:r>
            <a:r>
              <a:rPr lang="en-US" altLang="en-US"/>
              <a:t> by a positive amount  </a:t>
            </a:r>
            <a:r>
              <a:rPr lang="en-US" altLang="en-US" b="1" i="1">
                <a:solidFill>
                  <a:srgbClr val="0000CC"/>
                </a:solidFill>
              </a:rPr>
              <a:t>del</a:t>
            </a:r>
            <a:r>
              <a:rPr lang="en-US" altLang="en-US"/>
              <a:t>. </a:t>
            </a:r>
          </a:p>
          <a:p>
            <a:r>
              <a:rPr lang="en-US" altLang="en-US"/>
              <a:t>Since this might violate the heap order, it must be fixed by a </a:t>
            </a:r>
            <a:r>
              <a:rPr lang="en-US" altLang="en-US" b="1" i="1">
                <a:solidFill>
                  <a:srgbClr val="0000CC"/>
                </a:solidFill>
              </a:rPr>
              <a:t>percolate up</a:t>
            </a:r>
            <a:r>
              <a:rPr lang="en-US" altLang="en-US" i="1"/>
              <a:t>.</a:t>
            </a:r>
            <a:r>
              <a:rPr lang="en-US" altLang="en-US"/>
              <a:t> </a:t>
            </a:r>
          </a:p>
          <a:p>
            <a:r>
              <a:rPr lang="en-US" altLang="en-US"/>
              <a:t>This operation could be useful to system administrators:</a:t>
            </a:r>
          </a:p>
          <a:p>
            <a:pPr lvl="1"/>
            <a:r>
              <a:rPr lang="en-US" altLang="en-US"/>
              <a:t>they can make their programs run with highest priority</a:t>
            </a:r>
          </a:p>
        </p:txBody>
      </p:sp>
    </p:spTree>
    <p:extLst>
      <p:ext uri="{BB962C8B-B14F-4D97-AF65-F5344CB8AC3E}">
        <p14:creationId xmlns:p14="http://schemas.microsoft.com/office/powerpoint/2010/main" val="107654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58551D-4860-8D47-8DD3-92D174249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8E41F1-6C45-A04C-9EAF-770C2CD00439}"/>
              </a:ext>
            </a:extLst>
          </p:cNvPr>
          <p:cNvSpPr txBox="1">
            <a:spLocks/>
          </p:cNvSpPr>
          <p:nvPr/>
        </p:nvSpPr>
        <p:spPr bwMode="auto">
          <a:xfrm>
            <a:off x="189570" y="201612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Heap Operations: Increase Key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AF488-FE33-0D4D-A5B2-6720CD376BA0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The </a:t>
            </a:r>
            <a:r>
              <a:rPr lang="en-US" altLang="en-US" b="1" i="1">
                <a:solidFill>
                  <a:srgbClr val="0000CC"/>
                </a:solidFill>
              </a:rPr>
              <a:t>increase_key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x</a:t>
            </a:r>
            <a:r>
              <a:rPr lang="en-US" altLang="en-US" b="1">
                <a:solidFill>
                  <a:srgbClr val="0000CC"/>
                </a:solidFill>
              </a:rPr>
              <a:t>, del </a:t>
            </a:r>
            <a:r>
              <a:rPr lang="en-US" altLang="en-US" b="1" i="1">
                <a:solidFill>
                  <a:srgbClr val="0000CC"/>
                </a:solidFill>
              </a:rPr>
              <a:t>, H)</a:t>
            </a:r>
            <a:r>
              <a:rPr lang="en-US" altLang="en-US" i="1"/>
              <a:t> operation increases the value of the key at position </a:t>
            </a:r>
            <a:r>
              <a:rPr lang="en-US" altLang="en-US" b="1" i="1">
                <a:solidFill>
                  <a:srgbClr val="0000CC"/>
                </a:solidFill>
              </a:rPr>
              <a:t>x</a:t>
            </a:r>
            <a:r>
              <a:rPr lang="en-US" altLang="en-US" i="1"/>
              <a:t> by a positive amount  </a:t>
            </a:r>
            <a:r>
              <a:rPr lang="en-US" altLang="en-US" b="1" i="1">
                <a:solidFill>
                  <a:srgbClr val="0000CC"/>
                </a:solidFill>
              </a:rPr>
              <a:t>del</a:t>
            </a:r>
            <a:r>
              <a:rPr lang="en-US" altLang="en-US" i="1"/>
              <a:t>.</a:t>
            </a:r>
          </a:p>
          <a:p>
            <a:r>
              <a:rPr lang="en-US" altLang="en-US" i="1"/>
              <a:t>This is done with a </a:t>
            </a:r>
            <a:r>
              <a:rPr lang="en-US" altLang="en-US" b="1" i="1">
                <a:solidFill>
                  <a:srgbClr val="0000CC"/>
                </a:solidFill>
              </a:rPr>
              <a:t>percolate down</a:t>
            </a:r>
            <a:r>
              <a:rPr lang="en-US" altLang="en-US" i="1"/>
              <a:t>. </a:t>
            </a:r>
          </a:p>
          <a:p>
            <a:r>
              <a:rPr lang="en-US" altLang="en-US" i="1"/>
              <a:t>Many schedulers automatically drop the priority of a process that is consuming excessive CPU time.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864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5C5EE0-C050-774C-9F3A-05879C90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D0FFAE-DE83-A044-A496-63275C37FA7A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5438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 Operations: Decrease Key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9047A681-16BA-8748-B0E2-399D3FDBC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808030D7-F543-BC49-8809-D5E2E51D5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DAAF09BA-5249-B347-99B1-6D19781E8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2EFF3170-181F-1748-83E1-8C5F3899F9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97FCDEA6-8B75-5648-BCB9-ABD57CA42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8B5B8391-5779-2744-9CB7-11C25098B3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F86E5DF6-5417-FC4B-B9BF-0A3CC89401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76A60A0F-1648-6E45-8BB7-0DC8B09E6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2CDB6237-8350-6B45-B0FE-0D5427BAC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9980FADB-6AD8-364D-870E-16DD0844ED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193C985F-1B60-FF4F-AB6D-715BFD552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834352F1-A517-044A-9174-66417430FE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67399CCD-59BA-034A-93B3-43284FB972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B58081EF-F798-0A47-A771-8B9E6D1A67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4D4BE905-E602-EA4F-AE61-0FD99EDBF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829C5494-4AD4-9A44-8F56-8CEDD85EBF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52596380-A85C-9F48-B129-445314620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37AD99DF-A8E4-3943-A9EB-31E099CC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44BD96CA-09AC-CD4D-8275-7F990081D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2E86D7B6-0087-6A47-AB7A-358E783522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FA54F25D-6301-5D46-BC08-F953F778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E5FD6177-7152-284F-8939-F987F4A70E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58E6F505-ACFA-2842-A444-021F7A52EA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C6240369-D981-CF4E-B20F-13C90EAC6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45143E12-5212-3647-AC8B-AAD2AADA4F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A21CB0E9-DC12-E844-A726-057803251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F23ADF37-CFDA-F84B-92FC-25D55395F2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0255FE7D-8152-E34E-B8BE-2288821D5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807F7A76-8242-504B-B2C6-593C21E0E9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4810BF43-0877-B240-AA89-59DC57685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5715000"/>
            <a:ext cx="3489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decrease_key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6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15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H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209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2D42F-1226-C34A-82B0-A8E48BF0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76B12-E6D3-EB43-A9A1-8511D3C8986D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5438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 Operations: Decrease Key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9C3FB9C0-F812-CB43-A407-658086068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ED35444D-DCAC-E14B-96A9-68964513B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F60D2DBA-4231-6E4C-9363-25C103790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1726D0BC-84D8-A440-84BF-9D723932DD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3A6BABF9-30A2-6346-BEF6-8D0C23552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85520C68-F882-F747-B9E7-191F82A7E5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35D1801B-0E02-D944-A0C0-BB73476BC0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E59D3A43-1AC6-E440-9FEF-9C548DD2D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BA589B6B-223C-364A-AA65-76C5E735D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1D5DC3FF-B67D-1C4E-8A8B-8F61A35B10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C2C4CA65-8693-5D4A-A732-1A0B6379E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0E1BA617-F03A-0E41-ABC4-03D401DC13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ED762171-61BD-2D45-A78A-0C02FF7B45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267EE8DD-A909-934C-9A04-3C400BA188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86A8D985-0511-B548-9A72-A0540AFA8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F9449603-96DE-014C-B7C3-9AAF6725AD0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83CF15AE-F559-264D-BCFC-D4AAAD4A8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CAEEDACC-B91A-4D40-BA94-C9E5E427B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905507C0-2A75-AB4F-A675-D603E64F8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ABD26439-E9B2-AA48-89A4-AAF1342AF5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04E9FED9-E9DC-694A-AB2D-7E972EBD4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F55ECFD6-E240-F545-8AD0-D4F2A66B30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C19C0633-3ED0-A44C-BEF4-B1E5F1CB20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1BF6E01D-4272-1A4D-9EA8-A772AB857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0DB3F9DD-E9CC-034A-871C-64F546A575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F28219C5-C27F-594D-8CCD-523DBD0F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5672C6BE-33AF-034A-95F6-CE434FA6BC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3907B7B1-1409-AD44-B73A-7F1ACA423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4C1F2E49-7BBA-8A44-872B-F0BE207D54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76965233-6521-774F-8151-F77FEDFF8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5715000"/>
            <a:ext cx="3489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decrease_key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6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15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H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endParaRPr lang="en-US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AC90F-9939-434C-95FA-3F0B4B8AE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6173787"/>
            <a:ext cx="4341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CC"/>
                </a:solidFill>
              </a:rPr>
              <a:t>Heap before </a:t>
            </a:r>
            <a:r>
              <a:rPr lang="en-US" altLang="en-US" b="1" dirty="0" err="1">
                <a:solidFill>
                  <a:srgbClr val="0000CC"/>
                </a:solidFill>
              </a:rPr>
              <a:t>percolate_up</a:t>
            </a:r>
            <a:r>
              <a:rPr lang="en-US" altLang="en-US" b="1" dirty="0">
                <a:solidFill>
                  <a:srgbClr val="0000CC"/>
                </a:solidFill>
              </a:rPr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99949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2A2321-9740-4040-A60C-55A2D86D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58743-AF44-2847-9779-0CEF315D7CDD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5438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 Operations: Decrease Key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71E405A9-9050-CA4C-A30C-72FA149F9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E51B61D4-428F-BC45-BC2A-C8FA4E6BA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A0DB0D26-C381-3141-A7F4-7E32DC60F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01E337CB-D71D-414C-9D97-F6CF664920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80F5C06E-41FE-784D-8839-800520A76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38E938C7-99D3-9A4B-9AC3-E9A459201F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DED071A7-2EAC-314F-B7EA-CCADE2B219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93A6C30E-61D2-0441-9C5F-4659F0FB8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ACCE6276-C671-8B40-A7FB-A19E1976A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E82EFA0-7C5D-724A-9710-68ECCB527A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0DE035D9-987B-9F43-8C1F-51CF5F214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20E8D80F-CBBA-0A49-A109-A7C1B05F05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84028D02-1C97-A346-8FAA-428B47A0B8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2CCD02ED-1D71-C540-A6B4-D017EC6A95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74EFADAB-ABBC-1946-940C-6A68D1BBB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457DC981-A783-4D47-B342-19C3B90DC2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C7D575BC-CA3D-3E45-A9A9-8B4812D74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ECEEC051-B774-DD45-AC63-028381B8A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727B759C-489E-0846-993B-8DA50C064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8E21928A-B8F9-6445-A609-509A45297E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CA024FEF-BAEA-3043-9243-CA9464B90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3F7FEB6E-211B-D341-AF55-9A094D28E9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25C9A781-8996-1246-A407-29AE175E85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B6552D4B-4C31-FB48-8CF6-FFFCCD7A1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014EC0F8-1EFD-D54A-B379-FCECD67C00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CA47F7C1-89B2-AD40-9A39-68BF4F152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E964D29A-77A7-CA49-9382-DBAB83C723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84C43A2B-2BF4-2141-99BF-8CC0B9711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18047BB1-BF0F-4C48-917A-D42FD5D8DA9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2C275723-613B-7547-B054-74BAD813C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715000"/>
            <a:ext cx="4068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Heap after percolate_up(6)</a:t>
            </a:r>
          </a:p>
        </p:txBody>
      </p:sp>
    </p:spTree>
    <p:extLst>
      <p:ext uri="{BB962C8B-B14F-4D97-AF65-F5344CB8AC3E}">
        <p14:creationId xmlns:p14="http://schemas.microsoft.com/office/powerpoint/2010/main" val="331768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2A7115-A24D-B147-AEE3-4F88A7F0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807EA-9E26-2D47-BFFC-7BF58AB858D2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5438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 Operations: Increase Key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2FF34D74-8183-A44C-A072-DB6F2687D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027BD552-8E1C-9641-95F2-9DBA95BD5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30DF8AA2-C686-0146-BDED-7A27CBBAD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C9F97912-0803-7349-95A9-F44A96BFD9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DBB1BE4A-6D36-024A-A9D4-25719FFEC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253523FA-B3D8-8743-B8FB-0A80FCD982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9844F536-6751-EA45-BB4C-98F37F38E5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B03C52D4-7B08-7E45-A5F2-6351B051C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F298C1D7-9C7D-3E4C-859B-D9BA61714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1720F6D2-9695-4A47-952E-5D4F55A8B1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5F5EFEAC-AB11-154B-A7C9-974E59C84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34451F95-1536-D144-B40B-0B6E9DC396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19C0D8BC-8908-D942-AC9C-17BFCF7C9A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EE909263-52A5-4349-9C97-853A03DE56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322F0CF6-938A-404B-A5F6-5C0F2B408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A1E74FA6-3A42-3440-A7E4-8284E78035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D967CE70-D53E-3E49-9E45-8D1BCB93D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1" name="Oval 7">
            <a:extLst>
              <a:ext uri="{FF2B5EF4-FFF2-40B4-BE49-F238E27FC236}">
                <a16:creationId xmlns:a16="http://schemas.microsoft.com/office/drawing/2014/main" id="{8702608E-95B8-7D4D-B118-6D0E92289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1A10FAEB-CBC2-2848-A00D-976BC429C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63228AB6-DD3E-F845-9A9E-E5D92ACA5A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D771D025-FE93-304A-8BE8-70814538F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D47F0FB9-D2E7-4C4C-8F0E-C414979B2A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22C22BBF-92CB-C144-ABA8-B18B5EA374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7">
            <a:extLst>
              <a:ext uri="{FF2B5EF4-FFF2-40B4-BE49-F238E27FC236}">
                <a16:creationId xmlns:a16="http://schemas.microsoft.com/office/drawing/2014/main" id="{C58F809E-4B34-1446-8FFC-5C4809E9D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id="{57A4A747-1C91-3247-BBF0-CBB19C7EBF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id="{4B6BFF2F-D620-3B4E-ADA1-1E51DA926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36E3BF0F-25AA-D04A-BF7C-779EBBAB82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DF9223E3-628E-2C42-9445-FA36BBD7F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2" name="Line 17">
            <a:extLst>
              <a:ext uri="{FF2B5EF4-FFF2-40B4-BE49-F238E27FC236}">
                <a16:creationId xmlns:a16="http://schemas.microsoft.com/office/drawing/2014/main" id="{632A5B45-215A-1344-80A6-FB827EE05D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C039D6F2-A92E-EE41-9919-DAB500B51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5715000"/>
            <a:ext cx="340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Increase_key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3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35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H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34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A1A91C-0490-5E49-9B8D-21B7B453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EEBD0-0320-2D47-9F85-4BE1F9FDF154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5438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 Operations: Increase Key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2DE11C41-6742-494E-AA49-0AA616EC8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5808B1AE-759F-A844-A5A5-305E7AAD9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BAECD7B6-F365-7D44-A81D-749E32B8F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42100178-2D23-6449-BEDE-264F62ECA0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FEB4AC53-BA35-1E41-B78A-0978CCD7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E812E55E-4CBA-5D41-9BBE-C84AEF314C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B3F3F08F-C54C-4247-BEB6-84EAAE8156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35D5AAFD-4565-B948-8D07-BF1F3A5E1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FDC5DAB4-9C6F-6D44-B51A-7134AC36B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C2299E62-1DB8-F54F-BAD7-9CC30DE4BB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DE145344-7CFA-FC4E-8526-675EF7890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DB951FBC-D7C0-454A-BFAD-AC903318A7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34A30C0D-EF4D-434F-9AB9-A13B097AA4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74530499-1295-264B-8E6B-1D143E8F9A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98D015A0-6FBE-B846-BC18-F845DBD20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AF6289FE-A0D8-F84A-B0A7-7D48008D0A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7">
            <a:extLst>
              <a:ext uri="{FF2B5EF4-FFF2-40B4-BE49-F238E27FC236}">
                <a16:creationId xmlns:a16="http://schemas.microsoft.com/office/drawing/2014/main" id="{05581F4D-8A2A-834F-8B7C-61C34D590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1" name="Oval 8">
            <a:extLst>
              <a:ext uri="{FF2B5EF4-FFF2-40B4-BE49-F238E27FC236}">
                <a16:creationId xmlns:a16="http://schemas.microsoft.com/office/drawing/2014/main" id="{546A6AE3-7258-A448-B445-EB4C76457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206F3B2B-D380-A946-89D8-CE891BFF3E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03A57CF7-B72C-5041-9C69-1E02E8ABB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75</a:t>
            </a:r>
          </a:p>
        </p:txBody>
      </p:sp>
      <p:sp>
        <p:nvSpPr>
          <p:cNvPr id="24" name="Line 11">
            <a:extLst>
              <a:ext uri="{FF2B5EF4-FFF2-40B4-BE49-F238E27FC236}">
                <a16:creationId xmlns:a16="http://schemas.microsoft.com/office/drawing/2014/main" id="{61F09849-98E8-B441-98E2-CA89E006B9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2">
            <a:extLst>
              <a:ext uri="{FF2B5EF4-FFF2-40B4-BE49-F238E27FC236}">
                <a16:creationId xmlns:a16="http://schemas.microsoft.com/office/drawing/2014/main" id="{F4B76F2A-5915-EB4E-84B7-980F614F5A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7">
            <a:extLst>
              <a:ext uri="{FF2B5EF4-FFF2-40B4-BE49-F238E27FC236}">
                <a16:creationId xmlns:a16="http://schemas.microsoft.com/office/drawing/2014/main" id="{84CEE96C-2E38-B44E-85C8-ACF583CDF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7" name="Line 9">
            <a:extLst>
              <a:ext uri="{FF2B5EF4-FFF2-40B4-BE49-F238E27FC236}">
                <a16:creationId xmlns:a16="http://schemas.microsoft.com/office/drawing/2014/main" id="{99832F96-2D43-ED41-94A9-7FCD3FD6F9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Oval 16">
            <a:extLst>
              <a:ext uri="{FF2B5EF4-FFF2-40B4-BE49-F238E27FC236}">
                <a16:creationId xmlns:a16="http://schemas.microsoft.com/office/drawing/2014/main" id="{DA89F0F3-C159-F44D-B156-42DFFD177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29" name="Line 17">
            <a:extLst>
              <a:ext uri="{FF2B5EF4-FFF2-40B4-BE49-F238E27FC236}">
                <a16:creationId xmlns:a16="http://schemas.microsoft.com/office/drawing/2014/main" id="{D9302E75-9DD4-9D40-B647-CBCB1F6710E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Oval 16">
            <a:extLst>
              <a:ext uri="{FF2B5EF4-FFF2-40B4-BE49-F238E27FC236}">
                <a16:creationId xmlns:a16="http://schemas.microsoft.com/office/drawing/2014/main" id="{5E70177F-A214-9F43-BF37-C7886FCD2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1" name="Line 17">
            <a:extLst>
              <a:ext uri="{FF2B5EF4-FFF2-40B4-BE49-F238E27FC236}">
                <a16:creationId xmlns:a16="http://schemas.microsoft.com/office/drawing/2014/main" id="{27CC118C-0F4E-7E40-9275-C1749F4816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D486B707-5038-5D49-A253-5CA0827D6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5715000"/>
            <a:ext cx="340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Increase_key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3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35</a:t>
            </a:r>
            <a:r>
              <a:rPr lang="en-US" altLang="en-US" b="1">
                <a:solidFill>
                  <a:srgbClr val="0000CC"/>
                </a:solidFill>
              </a:rPr>
              <a:t>, </a:t>
            </a:r>
            <a:r>
              <a:rPr lang="en-US" altLang="en-US" b="1" i="1">
                <a:solidFill>
                  <a:srgbClr val="0000CC"/>
                </a:solidFill>
              </a:rPr>
              <a:t>H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endParaRPr lang="en-US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9C619B-27D7-A847-B1B0-15FF02FE8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6288087"/>
            <a:ext cx="4767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CC"/>
                </a:solidFill>
              </a:rPr>
              <a:t>Heap before </a:t>
            </a:r>
            <a:r>
              <a:rPr lang="en-US" altLang="en-US" b="1" dirty="0" err="1">
                <a:solidFill>
                  <a:srgbClr val="0000CC"/>
                </a:solidFill>
              </a:rPr>
              <a:t>percolate_down</a:t>
            </a:r>
            <a:r>
              <a:rPr lang="en-US" altLang="en-US" b="1" dirty="0">
                <a:solidFill>
                  <a:srgbClr val="0000CC"/>
                </a:solidFill>
              </a:rPr>
              <a:t>(3)</a:t>
            </a:r>
          </a:p>
        </p:txBody>
      </p:sp>
      <p:sp>
        <p:nvSpPr>
          <p:cNvPr id="34" name="Oval 6">
            <a:extLst>
              <a:ext uri="{FF2B5EF4-FFF2-40B4-BE49-F238E27FC236}">
                <a16:creationId xmlns:a16="http://schemas.microsoft.com/office/drawing/2014/main" id="{BF1007CC-E62F-6E4A-A3C2-C4274411E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65457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16F14F-528C-B045-A695-271533C8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7B21F0-7D74-7A4D-9AC6-DA60897847BB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5438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 Operations: Increase Key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B1321E87-4BB8-0247-8497-79A267031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54B10C2B-2A1F-4F40-9EDB-7E2733BEC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EE586CA0-6198-714A-ACE1-C0FF55235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3FF924C2-26B9-8341-B853-93B8C8D6E6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F5F244A9-B286-9E4B-A195-8B58B586B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E26D0E0F-1765-A142-BDF5-64FADB14F7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AA7DF9A1-031B-8848-8E1F-64E5557FC9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46AEC4E4-946C-E447-B7D5-23AB0E5DA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0A7EAA48-9E83-CF43-A0C3-5B134157B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4B458E90-DC77-1F45-8B84-A1E1CE2A88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CA5AB5DB-F722-DB41-A307-A7AE888F6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A371433A-4628-954D-98CF-0F7C648895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7BE8E4B3-99E3-0A4C-9C2C-689536C7A7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9C175487-A57E-7540-AC7F-D43E92E232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7C43C216-C5A8-4E4B-8803-18A302668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1F71134E-1699-3C4D-BCB7-1303A9114A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7">
            <a:extLst>
              <a:ext uri="{FF2B5EF4-FFF2-40B4-BE49-F238E27FC236}">
                <a16:creationId xmlns:a16="http://schemas.microsoft.com/office/drawing/2014/main" id="{3C844E91-7E71-A44B-989E-00651F2E5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1" name="Oval 8">
            <a:extLst>
              <a:ext uri="{FF2B5EF4-FFF2-40B4-BE49-F238E27FC236}">
                <a16:creationId xmlns:a16="http://schemas.microsoft.com/office/drawing/2014/main" id="{F7E98605-680B-3545-849A-74D9C204E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CC326E22-B33B-6447-992A-D100AF0C47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22F72780-7948-6E45-AC4B-64716244C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4" name="Line 11">
            <a:extLst>
              <a:ext uri="{FF2B5EF4-FFF2-40B4-BE49-F238E27FC236}">
                <a16:creationId xmlns:a16="http://schemas.microsoft.com/office/drawing/2014/main" id="{374AB06F-6149-1842-9754-6C70789E36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2">
            <a:extLst>
              <a:ext uri="{FF2B5EF4-FFF2-40B4-BE49-F238E27FC236}">
                <a16:creationId xmlns:a16="http://schemas.microsoft.com/office/drawing/2014/main" id="{97F1E248-B6D1-F944-8491-3F822F7C37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7">
            <a:extLst>
              <a:ext uri="{FF2B5EF4-FFF2-40B4-BE49-F238E27FC236}">
                <a16:creationId xmlns:a16="http://schemas.microsoft.com/office/drawing/2014/main" id="{BC3BC2EE-71B5-6749-ADD7-E0B6FDEF9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70</a:t>
            </a:r>
          </a:p>
        </p:txBody>
      </p:sp>
      <p:sp>
        <p:nvSpPr>
          <p:cNvPr id="27" name="Line 9">
            <a:extLst>
              <a:ext uri="{FF2B5EF4-FFF2-40B4-BE49-F238E27FC236}">
                <a16:creationId xmlns:a16="http://schemas.microsoft.com/office/drawing/2014/main" id="{E25058A2-49DE-A54A-BAA2-D6EF951FE3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Oval 16">
            <a:extLst>
              <a:ext uri="{FF2B5EF4-FFF2-40B4-BE49-F238E27FC236}">
                <a16:creationId xmlns:a16="http://schemas.microsoft.com/office/drawing/2014/main" id="{C5B8E10A-ECFF-5E4C-99F3-C244F01FF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29" name="Line 17">
            <a:extLst>
              <a:ext uri="{FF2B5EF4-FFF2-40B4-BE49-F238E27FC236}">
                <a16:creationId xmlns:a16="http://schemas.microsoft.com/office/drawing/2014/main" id="{241CCF9A-4850-1C4F-9535-630A3FDB67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Oval 16">
            <a:extLst>
              <a:ext uri="{FF2B5EF4-FFF2-40B4-BE49-F238E27FC236}">
                <a16:creationId xmlns:a16="http://schemas.microsoft.com/office/drawing/2014/main" id="{32C45C8D-CCFA-714E-A3FF-581C2678A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1" name="Line 17">
            <a:extLst>
              <a:ext uri="{FF2B5EF4-FFF2-40B4-BE49-F238E27FC236}">
                <a16:creationId xmlns:a16="http://schemas.microsoft.com/office/drawing/2014/main" id="{9E8A00E5-AF1F-9B44-93F0-D3FC4E9826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438A9F75-8720-F44F-9082-D38723BDA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715000"/>
            <a:ext cx="425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percolate_down(3) </a:t>
            </a:r>
            <a:r>
              <a:rPr lang="en-US" altLang="en-US">
                <a:solidFill>
                  <a:srgbClr val="0000CC"/>
                </a:solidFill>
              </a:rPr>
              <a:t>in action</a:t>
            </a:r>
          </a:p>
        </p:txBody>
      </p:sp>
      <p:sp>
        <p:nvSpPr>
          <p:cNvPr id="33" name="Oval 6">
            <a:extLst>
              <a:ext uri="{FF2B5EF4-FFF2-40B4-BE49-F238E27FC236}">
                <a16:creationId xmlns:a16="http://schemas.microsoft.com/office/drawing/2014/main" id="{72535EFE-566A-A94D-8EB2-E5744CB07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41232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0292F6-987E-8146-A1B6-7352AF08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193F5-FE18-1A40-91DA-9E246A289B65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5438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Heap Operations: Increase Key</a:t>
            </a:r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4CED1E60-4847-204F-9487-7E6E4089A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3933825"/>
            <a:ext cx="477837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281B1447-50BD-2043-B108-D25A8674C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03800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90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C36430FE-45EC-E841-BCFB-03EE19A2E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906838"/>
            <a:ext cx="47783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72359C56-6933-9D4B-BA70-A21206468E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4378325"/>
            <a:ext cx="227013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BC7E7BC5-6CAB-7E40-8506-3974FFA92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820988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2D6E00FF-F20D-1F45-A70A-246BB68D5B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1925" y="3281363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F81226DC-C633-5B49-AFFF-9FCF3C95F2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3286125"/>
            <a:ext cx="525463" cy="712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73846E6D-1B1A-F647-B0DB-F3558C986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76400"/>
            <a:ext cx="479425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507B68E2-EFE5-584F-B07D-9D64FD837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13325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5965FB5F-7B23-4443-8F69-DA13E5D88B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8125" y="4387850"/>
            <a:ext cx="320675" cy="6365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338B20A9-9FA4-9A4B-AEFA-659C3703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5011738"/>
            <a:ext cx="477838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150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81A6AA72-9CED-1141-87AF-F4199FE0C0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9300" y="4395788"/>
            <a:ext cx="277813" cy="6461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6A7E28CF-F792-EB4B-B838-30323B2FC0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057400"/>
            <a:ext cx="1247775" cy="765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3CD8C17F-97D3-6C4C-8BB9-91D61E2496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057400"/>
            <a:ext cx="1066800" cy="801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21F7A386-E8E6-B642-9F13-2B12DE354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005388"/>
            <a:ext cx="47942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80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EDFE45BB-271E-8447-909E-33B420C60C4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6138" y="4349750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7">
            <a:extLst>
              <a:ext uri="{FF2B5EF4-FFF2-40B4-BE49-F238E27FC236}">
                <a16:creationId xmlns:a16="http://schemas.microsoft.com/office/drawing/2014/main" id="{EF90FD32-760A-D04C-84B1-775B5CE5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5002213"/>
            <a:ext cx="47783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140</a:t>
            </a:r>
          </a:p>
        </p:txBody>
      </p:sp>
      <p:sp>
        <p:nvSpPr>
          <p:cNvPr id="21" name="Oval 8">
            <a:extLst>
              <a:ext uri="{FF2B5EF4-FFF2-40B4-BE49-F238E27FC236}">
                <a16:creationId xmlns:a16="http://schemas.microsoft.com/office/drawing/2014/main" id="{908B4548-A3D2-9D42-BF33-174201ABD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3905250"/>
            <a:ext cx="47783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7461FE18-290D-CF4E-8093-CF3F8954D7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4376738"/>
            <a:ext cx="227013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929806EB-29EB-304E-89D1-8AD6E06B5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2819400"/>
            <a:ext cx="477838" cy="473075"/>
          </a:xfrm>
          <a:prstGeom prst="ellipse">
            <a:avLst/>
          </a:prstGeom>
          <a:solidFill>
            <a:srgbClr val="E4C5C2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4" name="Line 11">
            <a:extLst>
              <a:ext uri="{FF2B5EF4-FFF2-40B4-BE49-F238E27FC236}">
                <a16:creationId xmlns:a16="http://schemas.microsoft.com/office/drawing/2014/main" id="{6AD695EC-02AB-6849-A186-35554F76AC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0075" y="3279775"/>
            <a:ext cx="509588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2">
            <a:extLst>
              <a:ext uri="{FF2B5EF4-FFF2-40B4-BE49-F238E27FC236}">
                <a16:creationId xmlns:a16="http://schemas.microsoft.com/office/drawing/2014/main" id="{B8D6B4F5-211F-2041-87BB-E0A5057A1B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5" y="3284538"/>
            <a:ext cx="525463" cy="7127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7">
            <a:extLst>
              <a:ext uri="{FF2B5EF4-FFF2-40B4-BE49-F238E27FC236}">
                <a16:creationId xmlns:a16="http://schemas.microsoft.com/office/drawing/2014/main" id="{929268DF-2855-6D48-84D6-86F841953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5011738"/>
            <a:ext cx="477838" cy="473075"/>
          </a:xfrm>
          <a:prstGeom prst="ellipse">
            <a:avLst/>
          </a:prstGeom>
          <a:solidFill>
            <a:srgbClr val="E4C5C2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75</a:t>
            </a:r>
          </a:p>
        </p:txBody>
      </p:sp>
      <p:sp>
        <p:nvSpPr>
          <p:cNvPr id="27" name="Line 9">
            <a:extLst>
              <a:ext uri="{FF2B5EF4-FFF2-40B4-BE49-F238E27FC236}">
                <a16:creationId xmlns:a16="http://schemas.microsoft.com/office/drawing/2014/main" id="{EB81707C-99F1-6C41-99AB-B0F821A015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6275" y="4386263"/>
            <a:ext cx="320675" cy="636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Oval 16">
            <a:extLst>
              <a:ext uri="{FF2B5EF4-FFF2-40B4-BE49-F238E27FC236}">
                <a16:creationId xmlns:a16="http://schemas.microsoft.com/office/drawing/2014/main" id="{4AB34627-D68D-0E40-885D-0A49B74D0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675" y="5010150"/>
            <a:ext cx="47783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120</a:t>
            </a:r>
          </a:p>
        </p:txBody>
      </p:sp>
      <p:sp>
        <p:nvSpPr>
          <p:cNvPr id="29" name="Line 17">
            <a:extLst>
              <a:ext uri="{FF2B5EF4-FFF2-40B4-BE49-F238E27FC236}">
                <a16:creationId xmlns:a16="http://schemas.microsoft.com/office/drawing/2014/main" id="{D7679574-969F-064F-877D-6260988DC8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7450" y="4394200"/>
            <a:ext cx="277813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Oval 16">
            <a:extLst>
              <a:ext uri="{FF2B5EF4-FFF2-40B4-BE49-F238E27FC236}">
                <a16:creationId xmlns:a16="http://schemas.microsoft.com/office/drawing/2014/main" id="{A8BA13B2-83A6-5540-8A1C-EE729B45B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5003800"/>
            <a:ext cx="47942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31" name="Line 17">
            <a:extLst>
              <a:ext uri="{FF2B5EF4-FFF2-40B4-BE49-F238E27FC236}">
                <a16:creationId xmlns:a16="http://schemas.microsoft.com/office/drawing/2014/main" id="{E18F776A-47F9-C44B-B41A-B5AD282A90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4288" y="4348163"/>
            <a:ext cx="3460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E14B8255-D5B7-6E49-B598-23E6FA12F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715000"/>
            <a:ext cx="4579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Heap after percolate_down(3)</a:t>
            </a:r>
            <a:endParaRPr lang="en-US" altLang="en-US">
              <a:solidFill>
                <a:srgbClr val="0000CC"/>
              </a:solidFill>
            </a:endParaRPr>
          </a:p>
        </p:txBody>
      </p:sp>
      <p:sp>
        <p:nvSpPr>
          <p:cNvPr id="33" name="Oval 6">
            <a:extLst>
              <a:ext uri="{FF2B5EF4-FFF2-40B4-BE49-F238E27FC236}">
                <a16:creationId xmlns:a16="http://schemas.microsoft.com/office/drawing/2014/main" id="{84B5EE26-5124-FE4C-9385-10263FFD1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3932238"/>
            <a:ext cx="477837" cy="473075"/>
          </a:xfrm>
          <a:prstGeom prst="ellipse">
            <a:avLst/>
          </a:prstGeom>
          <a:solidFill>
            <a:srgbClr val="E4C5C2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41773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42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46087</TotalTime>
  <Words>2012</Words>
  <Application>Microsoft Macintosh PowerPoint</Application>
  <PresentationFormat>A4 Paper (210x297 mm)</PresentationFormat>
  <Paragraphs>924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Adobe Gothic Std B</vt:lpstr>
      <vt:lpstr>等线</vt:lpstr>
      <vt:lpstr>等线</vt:lpstr>
      <vt:lpstr>等线 Light</vt:lpstr>
      <vt:lpstr>SimSun</vt:lpstr>
      <vt:lpstr>Arial</vt:lpstr>
      <vt:lpstr>Calibri</vt:lpstr>
      <vt:lpstr>Times New Roman</vt:lpstr>
      <vt:lpstr>Trebuchet MS</vt:lpstr>
      <vt:lpstr>Wingdings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886</cp:revision>
  <cp:lastPrinted>2025-03-21T05:26:40Z</cp:lastPrinted>
  <dcterms:created xsi:type="dcterms:W3CDTF">2018-07-17T04:46:00Z</dcterms:created>
  <dcterms:modified xsi:type="dcterms:W3CDTF">2025-12-22T06:22:17Z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